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1" r:id="rId3"/>
    <p:sldId id="282" r:id="rId4"/>
    <p:sldId id="283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  <p:sldId id="298" r:id="rId19"/>
    <p:sldId id="299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C7C5"/>
    <a:srgbClr val="6B6ED9"/>
    <a:srgbClr val="D0ACD9"/>
    <a:srgbClr val="D1B2D9"/>
    <a:srgbClr val="6D4CD9"/>
    <a:srgbClr val="0C886A"/>
    <a:srgbClr val="576271"/>
    <a:srgbClr val="106778"/>
    <a:srgbClr val="31597F"/>
    <a:srgbClr val="2F7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929F9F4-4A8F-4326-A1B4-22849713DDAB}" styleName="深色样式 1 - 强调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6" autoAdjust="0"/>
    <p:restoredTop sz="85371" autoAdjust="0"/>
  </p:normalViewPr>
  <p:slideViewPr>
    <p:cSldViewPr snapToGrid="0" showGuides="1">
      <p:cViewPr varScale="1">
        <p:scale>
          <a:sx n="111" d="100"/>
          <a:sy n="111" d="100"/>
        </p:scale>
        <p:origin x="2491" y="82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4352" y="7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2E338-737C-4C2D-9DB3-AD5A98C8FA53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198D7-57E4-48F7-9E4B-1EF67AFE64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13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PC</a:t>
            </a:r>
            <a:r>
              <a:rPr kumimoji="1" lang="zh-CN" altLang="en-US" dirty="0"/>
              <a:t> </a:t>
            </a:r>
            <a:r>
              <a:rPr kumimoji="1" lang="en-US" altLang="zh-CN" dirty="0"/>
              <a:t>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mind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mavarl</a:t>
            </a:r>
            <a:r>
              <a:rPr kumimoji="1" lang="zh-CN" altLang="en-US" dirty="0"/>
              <a:t> </a:t>
            </a:r>
            <a:r>
              <a:rPr kumimoji="1" lang="en-US" altLang="zh-CN" dirty="0"/>
              <a:t>super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hero</a:t>
            </a:r>
            <a:r>
              <a:rPr kumimoji="1" lang="zh-CN" altLang="en-US" dirty="0"/>
              <a:t> </a:t>
            </a:r>
            <a:r>
              <a:rPr kumimoji="1" lang="en-US" altLang="zh-CN" dirty="0"/>
              <a:t>vision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424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9176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694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321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303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909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680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539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291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780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584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0182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186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531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0747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025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198D7-57E4-48F7-9E4B-1EF67AFE647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809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29FB4-6B33-4A4C-B4E4-4CD11564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42242-CDFE-407B-91AB-D578A246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BD3A0-F76C-4A9E-B820-AC54FCA2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40FA0D-F2CD-403D-8A66-36A81CC4C839}"/>
              </a:ext>
            </a:extLst>
          </p:cNvPr>
          <p:cNvSpPr/>
          <p:nvPr userDrawn="1"/>
        </p:nvSpPr>
        <p:spPr>
          <a:xfrm>
            <a:off x="316871" y="289711"/>
            <a:ext cx="11579382" cy="6264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279EF67-3C11-47AB-A3B7-7B25261EE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47296"/>
          <a:stretch>
            <a:fillRect/>
          </a:stretch>
        </p:blipFill>
        <p:spPr>
          <a:xfrm>
            <a:off x="8949493" y="727072"/>
            <a:ext cx="2939989" cy="54746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4217E98-1B13-4583-B260-F711060618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47296"/>
          <a:stretch>
            <a:fillRect/>
          </a:stretch>
        </p:blipFill>
        <p:spPr>
          <a:xfrm flipH="1">
            <a:off x="302518" y="727072"/>
            <a:ext cx="2939989" cy="5474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84899"/>
      </p:ext>
    </p:extLst>
  </p:cSld>
  <p:clrMapOvr>
    <a:masterClrMapping/>
  </p:clrMapOvr>
  <p:transition spd="slow" advClick="0" advTm="3000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29FB4-6B33-4A4C-B4E4-4CD11564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42242-CDFE-407B-91AB-D578A246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BD3A0-F76C-4A9E-B820-AC54FCA2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40FA0D-F2CD-403D-8A66-36A81CC4C839}"/>
              </a:ext>
            </a:extLst>
          </p:cNvPr>
          <p:cNvSpPr/>
          <p:nvPr userDrawn="1"/>
        </p:nvSpPr>
        <p:spPr>
          <a:xfrm>
            <a:off x="316871" y="289711"/>
            <a:ext cx="11579382" cy="6264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A380CD-061A-46F1-BBE3-A49FA9DA4C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33513" y="359986"/>
            <a:ext cx="1541616" cy="5768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2B4CA0-3740-484A-AC3B-4809F4A224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-1" t="1" r="19505" b="45156"/>
          <a:stretch>
            <a:fillRect/>
          </a:stretch>
        </p:blipFill>
        <p:spPr>
          <a:xfrm>
            <a:off x="7405974" y="3552234"/>
            <a:ext cx="4490280" cy="300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443200"/>
      </p:ext>
    </p:extLst>
  </p:cSld>
  <p:clrMapOvr>
    <a:masterClrMapping/>
  </p:clrMapOvr>
  <p:transition spd="slow" advClick="0" advTm="3000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629FB4-6B33-4A4C-B4E4-4CD11564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42242-CDFE-407B-91AB-D578A246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BD3A0-F76C-4A9E-B820-AC54FCA21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40FA0D-F2CD-403D-8A66-36A81CC4C839}"/>
              </a:ext>
            </a:extLst>
          </p:cNvPr>
          <p:cNvSpPr/>
          <p:nvPr userDrawn="1"/>
        </p:nvSpPr>
        <p:spPr>
          <a:xfrm>
            <a:off x="316871" y="289711"/>
            <a:ext cx="11579382" cy="62649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A380CD-061A-46F1-BBE3-A49FA9DA4C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33513" y="359986"/>
            <a:ext cx="1541616" cy="5768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2B4CA0-3740-484A-AC3B-4809F4A224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2634" t="1" r="-694" b="34713"/>
          <a:stretch>
            <a:fillRect/>
          </a:stretch>
        </p:blipFill>
        <p:spPr>
          <a:xfrm>
            <a:off x="316870" y="3177192"/>
            <a:ext cx="4114799" cy="337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75404"/>
      </p:ext>
    </p:extLst>
  </p:cSld>
  <p:clrMapOvr>
    <a:masterClrMapping/>
  </p:clrMapOvr>
  <p:transition spd="slow" advClick="0" advTm="3000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D95E9-569D-4587-B35B-D855FC2B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BCCCC6-A151-4D39-A65B-5E8EA6142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AD83DF-4917-4E44-B4C7-4C582A14C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77753D-0915-481C-B168-139E8313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B42767-8D39-46E1-BECB-D0125C7F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402258"/>
      </p:ext>
    </p:extLst>
  </p:cSld>
  <p:clrMapOvr>
    <a:masterClrMapping/>
  </p:clrMapOvr>
  <p:transition spd="slow" advClick="0" advTm="3000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721CF-6B2F-497D-9E13-CD64E56D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9459DE-3A75-44F6-A69C-99FC0AE86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38B03C-5777-41EC-8312-90CB5792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E48E79-3E22-44D3-A933-5BB6EC04F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B3BD72-6A83-4515-AC23-35A1A2F81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6984075"/>
      </p:ext>
    </p:extLst>
  </p:cSld>
  <p:clrMapOvr>
    <a:masterClrMapping/>
  </p:clrMapOvr>
  <p:transition spd="slow" advClick="0" advTm="3000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613517-51D7-41D2-807F-D5C4000E6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89E502-A12A-432D-9469-5E4049F83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682C21-3212-4560-BFAA-6111354FB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369414-0C3C-41CD-A256-E8A2D0F2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4E817E-36C9-4BB2-9CFF-0201771C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094540-8793-44BB-8C7F-294DC9BE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992961"/>
      </p:ext>
    </p:extLst>
  </p:cSld>
  <p:clrMapOvr>
    <a:masterClrMapping/>
  </p:clrMapOvr>
  <p:transition spd="slow" advClick="0" advTm="3000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99BA8-2500-48D2-9E1F-D4F4359A0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47C996-9B6B-42F6-A0A7-D4ABBE17A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CD1895-30DA-4A66-945E-AEB822C66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5758DC-DD2F-42D0-B342-66EC7BC24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701B0ED-69CC-4C09-BE22-58FBE1769A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98408D-A3A6-4341-B860-83B595389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02221E-4B38-49E1-8D8C-275A00E2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8D6144-C297-4103-9BA7-251E7DF87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4499496"/>
      </p:ext>
    </p:extLst>
  </p:cSld>
  <p:clrMapOvr>
    <a:masterClrMapping/>
  </p:clrMapOvr>
  <p:transition spd="slow" advClick="0" advTm="3000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EE8548-92A4-4FE0-90D0-4011CC8B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BB7081-0E91-47EE-AED7-354F54D58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9C43A0-19ED-4A5A-8358-3875A4FDF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623BA1-6E87-4C48-8824-FE51B9695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766957"/>
      </p:ext>
    </p:extLst>
  </p:cSld>
  <p:clrMapOvr>
    <a:masterClrMapping/>
  </p:clrMapOvr>
  <p:transition spd="slow" advClick="0" advTm="3000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116D1E0-9648-43E4-A064-0BE8B3C1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2E63C25-0254-4D86-88A7-E0CEAD93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409FA2-ED11-4EF2-B1ED-247E8FAC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320263"/>
      </p:ext>
    </p:extLst>
  </p:cSld>
  <p:clrMapOvr>
    <a:masterClrMapping/>
  </p:clrMapOvr>
  <p:transition spd="slow" advClick="0" advTm="3000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BD16C-0AA7-40BE-A65D-4391DD25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34B639-DA3A-4577-9190-C864B0AEC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5F05B8-D6C7-4B91-B1FB-0E5BEE873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0B3968-DA5D-4448-BD63-8B3499DC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A44716-A07F-4640-9EE1-A1D8B6996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CC6BB2-ED07-4B97-B6E7-EE6CD5E1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773293"/>
      </p:ext>
    </p:extLst>
  </p:cSld>
  <p:clrMapOvr>
    <a:masterClrMapping/>
  </p:clrMapOvr>
  <p:transition spd="slow" advClick="0" advTm="3000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1E45C-2E71-4D05-A7F8-F35164F5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35C6C4-2023-406E-A736-AA55A7CEA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1A8997-BC5A-48D6-9E23-C7A0721832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E6131D-D4C5-4445-896A-AB55875C4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8A2057-D5EF-402F-80AE-46A72EFB5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EA84B9-37CE-4B11-92AC-2CA500D7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692094"/>
      </p:ext>
    </p:extLst>
  </p:cSld>
  <p:clrMapOvr>
    <a:masterClrMapping/>
  </p:clrMapOvr>
  <p:transition spd="slow" advClick="0" advTm="3000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8D04C-0C74-4369-AAD3-4EAFEEDD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42B6F5-B481-46F7-B61E-2A3565A64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8AB71A-B1FF-4574-B2DA-0C116EBE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698BCD-D1F2-4925-B8D0-8FB1ABB6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29DA09-1581-4878-B5F8-7CF065D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027909"/>
      </p:ext>
    </p:extLst>
  </p:cSld>
  <p:clrMapOvr>
    <a:masterClrMapping/>
  </p:clrMapOvr>
  <p:transition spd="slow" advClick="0" advTm="3000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83804D-2D75-4271-8051-1C33080B2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1DE36A-D0A3-4320-8CD1-37B7B7209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934080-1AEF-4FE3-BE4E-F48BEED5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6083D8-1208-4C73-8C18-55010CD0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9A80B6-D521-4468-B679-36FBF2855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97241"/>
      </p:ext>
    </p:extLst>
  </p:cSld>
  <p:clrMapOvr>
    <a:masterClrMapping/>
  </p:clrMapOvr>
  <p:transition spd="slow" advClick="0" advTm="3000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B8F331-B0ED-4EE2-96F7-EE272B20D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E4C595-119F-40BF-A9B7-3C65F4113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092C92-41A5-45A4-A324-DCE810C5F1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38BC5-6867-479C-BF5B-03208C4C5277}" type="datetimeFigureOut">
              <a:rPr lang="zh-CN" altLang="en-US" smtClean="0"/>
              <a:t>2025/10/20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40EA19-D7E8-4291-AD8A-2743E7066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5DBD46-7624-4A18-9649-492A64A4E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55C41-0F9D-4697-9AE9-E9B3A6ABBF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787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ransition spd="slow" advClick="0" advTm="3000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224878-C13A-40F4-AE81-80A17F13DE3E}"/>
              </a:ext>
            </a:extLst>
          </p:cNvPr>
          <p:cNvSpPr txBox="1"/>
          <p:nvPr/>
        </p:nvSpPr>
        <p:spPr>
          <a:xfrm>
            <a:off x="715699" y="2379199"/>
            <a:ext cx="10048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200" dirty="0">
                <a:solidFill>
                  <a:schemeClr val="accent3"/>
                </a:solidFill>
              </a:rPr>
              <a:t>计算机系统概论</a:t>
            </a:r>
            <a:r>
              <a:rPr lang="en-US" altLang="zh-CN" sz="4000" b="1" spc="200" dirty="0">
                <a:solidFill>
                  <a:schemeClr val="accent3"/>
                </a:solidFill>
              </a:rPr>
              <a:t>-</a:t>
            </a:r>
            <a:r>
              <a:rPr lang="zh-CN" altLang="en-US" sz="4000" b="1" spc="200" dirty="0">
                <a:solidFill>
                  <a:schemeClr val="accent3"/>
                </a:solidFill>
              </a:rPr>
              <a:t>实验工具讲解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C83E1A-48F1-4AD6-A6B5-D725B238B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5393" y="3629415"/>
            <a:ext cx="1848822" cy="69178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EDB4631-C4A3-40B6-BFA8-F5A2F8B0840A}"/>
              </a:ext>
            </a:extLst>
          </p:cNvPr>
          <p:cNvSpPr/>
          <p:nvPr/>
        </p:nvSpPr>
        <p:spPr>
          <a:xfrm flipV="1">
            <a:off x="1683909" y="3249923"/>
            <a:ext cx="8111790" cy="808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1810AC-1AD5-31DA-5BB8-ABACEB6C1032}"/>
              </a:ext>
            </a:extLst>
          </p:cNvPr>
          <p:cNvSpPr txBox="1"/>
          <p:nvPr/>
        </p:nvSpPr>
        <p:spPr>
          <a:xfrm>
            <a:off x="7635170" y="5107259"/>
            <a:ext cx="36423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2000" b="1"/>
              <a:t>张廷基</a:t>
            </a:r>
            <a:endParaRPr kumimoji="1" lang="en-US" altLang="zh-CN" sz="2000" b="1"/>
          </a:p>
          <a:p>
            <a:pPr algn="ctr"/>
            <a:r>
              <a:rPr kumimoji="1" lang="en-US" altLang="zh-CN" sz="2000" b="1"/>
              <a:t>ztj22@mails.tsinghua.edu.cn</a:t>
            </a:r>
            <a:endParaRPr kumimoji="1" lang="en-US" altLang="zh-CN" sz="2000" b="1" dirty="0"/>
          </a:p>
          <a:p>
            <a:pPr algn="ctr"/>
            <a:r>
              <a:rPr kumimoji="1" lang="en-US" altLang="zh-CN" sz="2000" b="1"/>
              <a:t>2025.10</a:t>
            </a:r>
            <a:endParaRPr kumimoji="1"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70151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accent3"/>
                </a:solidFill>
              </a:rPr>
              <a:t>实验环境准备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16F8BCAA-0B4F-CA3B-7349-4AC673B149CA}"/>
              </a:ext>
            </a:extLst>
          </p:cNvPr>
          <p:cNvSpPr txBox="1"/>
          <p:nvPr/>
        </p:nvSpPr>
        <p:spPr>
          <a:xfrm>
            <a:off x="662189" y="1648285"/>
            <a:ext cx="9161482" cy="722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solidFill>
                  <a:schemeClr val="accent3"/>
                </a:solidFill>
              </a:rPr>
              <a:t>【1】</a:t>
            </a:r>
            <a:r>
              <a:rPr kumimoji="1" lang="zh-CN" altLang="en-US" sz="2400" b="1" dirty="0">
                <a:solidFill>
                  <a:schemeClr val="accent3"/>
                </a:solidFill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X86_64</a:t>
            </a:r>
            <a:r>
              <a:rPr kumimoji="1" lang="zh-CN" altLang="en-US" sz="2400">
                <a:latin typeface="Consolas" panose="020B0609020204030204" pitchFamily="49" charset="0"/>
                <a:cs typeface="Consolas" panose="020B0609020204030204" pitchFamily="49" charset="0"/>
              </a:rPr>
              <a:t>架构 </a:t>
            </a:r>
            <a:r>
              <a:rPr kumimoji="1" lang="en-US" altLang="zh-CN" sz="240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kumimoji="1" lang="zh-CN" altLang="en-US" sz="24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Linux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操作系统（会为大家提供账号）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3D6EA6A-3E1D-BA1D-A35C-26E7A6775E61}"/>
              </a:ext>
            </a:extLst>
          </p:cNvPr>
          <p:cNvSpPr txBox="1"/>
          <p:nvPr/>
        </p:nvSpPr>
        <p:spPr>
          <a:xfrm>
            <a:off x="662189" y="2688845"/>
            <a:ext cx="877355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solidFill>
                  <a:schemeClr val="accent3"/>
                </a:solidFill>
              </a:rPr>
              <a:t>【2】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安装 </a:t>
            </a:r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objdump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err="1">
                <a:latin typeface="Consolas" panose="020B0609020204030204" pitchFamily="49" charset="0"/>
                <a:cs typeface="Consolas" panose="020B0609020204030204" pitchFamily="49" charset="0"/>
              </a:rPr>
              <a:t>gdb</a:t>
            </a:r>
            <a:r>
              <a:rPr kumimoji="1" lang="zh-CN" altLang="en-US" sz="2400">
                <a:latin typeface="Consolas" panose="020B0609020204030204" pitchFamily="49" charset="0"/>
                <a:cs typeface="Consolas" panose="020B0609020204030204" pitchFamily="49" charset="0"/>
              </a:rPr>
              <a:t>工具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zh-CN" altLang="en-US" sz="2200">
                <a:latin typeface="Consolas" panose="020B0609020204030204" pitchFamily="49" charset="0"/>
                <a:cs typeface="Consolas" panose="020B0609020204030204" pitchFamily="49" charset="0"/>
              </a:rPr>
              <a:t>以</a:t>
            </a:r>
            <a:r>
              <a:rPr kumimoji="1" lang="en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Ubuntu</a:t>
            </a:r>
            <a:r>
              <a:rPr kumimoji="1" lang="zh-CN" altLang="en" sz="2200" dirty="0">
                <a:latin typeface="Consolas" panose="020B0609020204030204" pitchFamily="49" charset="0"/>
                <a:cs typeface="Consolas" panose="020B0609020204030204" pitchFamily="49" charset="0"/>
              </a:rPr>
              <a:t>为例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sudo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apt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gdb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" altLang="zh-CN" sz="2200" err="1">
                <a:latin typeface="Consolas" panose="020B0609020204030204" pitchFamily="49" charset="0"/>
                <a:cs typeface="Consolas" panose="020B0609020204030204" pitchFamily="49" charset="0"/>
              </a:rPr>
              <a:t>binutils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kumimoji="1" lang="zh-CN" altLang="en-US" sz="2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7C38D0-7DAF-72B8-07AF-9A4549D79817}"/>
              </a:ext>
            </a:extLst>
          </p:cNvPr>
          <p:cNvSpPr txBox="1"/>
          <p:nvPr/>
        </p:nvSpPr>
        <p:spPr>
          <a:xfrm>
            <a:off x="662189" y="3755094"/>
            <a:ext cx="9555821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solidFill>
                  <a:schemeClr val="accent3"/>
                </a:solidFill>
              </a:rPr>
              <a:t>【3】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检验某个工具是否安装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zh-CN" sz="220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which</a:t>
            </a:r>
            <a:r>
              <a:rPr kumimoji="1" lang="zh-CN" altLang="en-US" sz="2200">
                <a:latin typeface="Consolas" panose="020B0609020204030204" pitchFamily="49" charset="0"/>
                <a:cs typeface="Consolas" panose="020B0609020204030204" pitchFamily="49" charset="0"/>
              </a:rPr>
              <a:t> 命令 ： 在 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zh-CN" altLang="en-US" sz="2200">
                <a:latin typeface="Consolas" panose="020B0609020204030204" pitchFamily="49" charset="0"/>
                <a:cs typeface="Consolas" panose="020B0609020204030204" pitchFamily="49" charset="0"/>
              </a:rPr>
              <a:t> 环境变量 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kumimoji="1" lang="zh-CN" altLang="en-US" sz="2200">
                <a:latin typeface="Consolas" panose="020B0609020204030204" pitchFamily="49" charset="0"/>
                <a:cs typeface="Consolas" panose="020B0609020204030204" pitchFamily="49" charset="0"/>
              </a:rPr>
              <a:t> 中搜索 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zh-CN" altLang="en-US" sz="2200">
                <a:latin typeface="Consolas" panose="020B0609020204030204" pitchFamily="49" charset="0"/>
                <a:cs typeface="Consolas" panose="020B0609020204030204" pitchFamily="49" charset="0"/>
              </a:rPr>
              <a:t> 可执行文件 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kumimoji="1" lang="zh-CN" altLang="en-US" sz="22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en-US" altLang="zh-CN" sz="22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kumimoji="1" lang="en-US" altLang="zh-CN" sz="220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whereis</a:t>
            </a:r>
            <a:r>
              <a:rPr kumimoji="1" lang="zh-CN" altLang="en-US" sz="2200">
                <a:latin typeface="Consolas" panose="020B0609020204030204" pitchFamily="49" charset="0"/>
                <a:cs typeface="Consolas" panose="020B0609020204030204" pitchFamily="49" charset="0"/>
              </a:rPr>
              <a:t> 命令：在 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zh-CN" altLang="en-US" sz="2200">
                <a:latin typeface="Consolas" panose="020B0609020204030204" pitchFamily="49" charset="0"/>
                <a:cs typeface="Consolas" panose="020B0609020204030204" pitchFamily="49" charset="0"/>
              </a:rPr>
              <a:t> 环境变量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kumimoji="1" lang="zh-CN" altLang="en-US" sz="2200">
                <a:latin typeface="Consolas" panose="020B0609020204030204" pitchFamily="49" charset="0"/>
                <a:cs typeface="Consolas" panose="020B0609020204030204" pitchFamily="49" charset="0"/>
              </a:rPr>
              <a:t>系统目录 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kumimoji="1" lang="zh-CN" altLang="en-US" sz="2200">
                <a:latin typeface="Consolas" panose="020B0609020204030204" pitchFamily="49" charset="0"/>
                <a:cs typeface="Consolas" panose="020B0609020204030204" pitchFamily="49" charset="0"/>
              </a:rPr>
              <a:t> 中搜索 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zh-CN" altLang="en-US" sz="2200">
                <a:latin typeface="Consolas" panose="020B0609020204030204" pitchFamily="49" charset="0"/>
                <a:cs typeface="Consolas" panose="020B0609020204030204" pitchFamily="49" charset="0"/>
              </a:rPr>
              <a:t>所有文件</a:t>
            </a:r>
            <a:r>
              <a:rPr kumimoji="1" lang="en-US" altLang="zh-CN" sz="220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kumimoji="1" lang="zh-CN" altLang="en-US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E4AE929-653D-D576-7BC2-C15C8C69D0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443"/>
          <a:stretch>
            <a:fillRect/>
          </a:stretch>
        </p:blipFill>
        <p:spPr>
          <a:xfrm>
            <a:off x="9571669" y="1805034"/>
            <a:ext cx="2179452" cy="113363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8DACBBC-92AB-6128-D966-7DE0AE519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794" y="5159897"/>
            <a:ext cx="9878804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30248"/>
      </p:ext>
    </p:extLst>
  </p:cSld>
  <p:clrMapOvr>
    <a:masterClrMapping/>
  </p:clrMapOvr>
  <p:transition spd="slow" advClick="0" advTm="3000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7641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>
                <a:solidFill>
                  <a:schemeClr val="accent3"/>
                </a:solidFill>
              </a:rPr>
              <a:t>gcc: c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/</a:t>
            </a:r>
            <a:r>
              <a:rPr kumimoji="1" lang="en-US" altLang="zh-CN" sz="3200" b="1" dirty="0" err="1">
                <a:solidFill>
                  <a:schemeClr val="accent3"/>
                </a:solidFill>
              </a:rPr>
              <a:t>c++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代码 编译流程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DB5B7ED-F41B-8B3B-2268-FDA9CAEE2769}"/>
              </a:ext>
            </a:extLst>
          </p:cNvPr>
          <p:cNvSpPr txBox="1"/>
          <p:nvPr/>
        </p:nvSpPr>
        <p:spPr>
          <a:xfrm>
            <a:off x="662189" y="1336187"/>
            <a:ext cx="7907222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从 </a:t>
            </a:r>
            <a:r>
              <a:rPr kumimoji="1" lang="en-US" altLang="zh-CN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[.c/.</a:t>
            </a:r>
            <a:r>
              <a:rPr kumimoji="1"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cpp</a:t>
            </a:r>
            <a:r>
              <a:rPr kumimoji="1" lang="zh-CN" alt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文件 </a:t>
            </a:r>
            <a:r>
              <a:rPr kumimoji="1"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kumimoji="1" lang="zh-CN" alt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可执行文件</a:t>
            </a:r>
            <a:r>
              <a:rPr kumimoji="1" lang="en-US" altLang="zh-CN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kumimoji="1" lang="zh-CN" alt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的处理过程：</a:t>
            </a:r>
            <a:endParaRPr kumimoji="1" lang="en-US" altLang="zh-CN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lnSpc>
                <a:spcPts val="3260"/>
              </a:lnSpc>
              <a:buAutoNum type="arabicPeriod"/>
            </a:pP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预处理（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Preprocess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）：处理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和 </a:t>
            </a:r>
            <a:r>
              <a:rPr kumimoji="1"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#define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lnSpc>
                <a:spcPts val="3260"/>
              </a:lnSpc>
              <a:buAutoNum type="arabicPeriod"/>
            </a:pP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编译（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compile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）     ：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代码   </a:t>
            </a:r>
            <a:r>
              <a:rPr kumimoji="1"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kumimoji="1" lang="zh-CN" alt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汇编代码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lnSpc>
                <a:spcPts val="3260"/>
              </a:lnSpc>
              <a:buAutoNum type="arabicPeriod"/>
            </a:pP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汇编（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Assemble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）    ：汇编代码 </a:t>
            </a:r>
            <a:r>
              <a:rPr kumimoji="1"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对象文件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>
              <a:lnSpc>
                <a:spcPts val="3260"/>
              </a:lnSpc>
              <a:buAutoNum type="arabicPeriod"/>
            </a:pP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链接（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）        ：对象文件 </a:t>
            </a:r>
            <a:r>
              <a:rPr kumimoji="1"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标准库 </a:t>
            </a:r>
            <a:r>
              <a:rPr kumimoji="1" lang="en-US" altLang="zh-CN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可执行文件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16EE211-9677-B3A1-FB24-077C81625300}"/>
              </a:ext>
            </a:extLst>
          </p:cNvPr>
          <p:cNvSpPr txBox="1"/>
          <p:nvPr/>
        </p:nvSpPr>
        <p:spPr>
          <a:xfrm>
            <a:off x="8419472" y="1801799"/>
            <a:ext cx="1994457" cy="1508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约定后缀：</a:t>
            </a:r>
            <a:endParaRPr kumimoji="1" lang="en-US" altLang="zh-CN" sz="2000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.c/.</a:t>
            </a: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cpp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：源文件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：预处理文件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：汇编代码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：对象文件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6D221FB0-6673-3132-E967-31E3462E2FBA}"/>
              </a:ext>
            </a:extLst>
          </p:cNvPr>
          <p:cNvSpPr/>
          <p:nvPr/>
        </p:nvSpPr>
        <p:spPr>
          <a:xfrm>
            <a:off x="448655" y="4251297"/>
            <a:ext cx="1175657" cy="60040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.c/.</a:t>
            </a:r>
            <a:r>
              <a:rPr kumimoji="1"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cpp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489A9E9A-0224-A6D0-A2E1-0D558080F746}"/>
              </a:ext>
            </a:extLst>
          </p:cNvPr>
          <p:cNvSpPr/>
          <p:nvPr/>
        </p:nvSpPr>
        <p:spPr>
          <a:xfrm>
            <a:off x="1811881" y="4251297"/>
            <a:ext cx="1175657" cy="600405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D4D70E1-E62B-1696-5A23-0226DADBC194}"/>
              </a:ext>
            </a:extLst>
          </p:cNvPr>
          <p:cNvSpPr/>
          <p:nvPr/>
        </p:nvSpPr>
        <p:spPr>
          <a:xfrm>
            <a:off x="4972260" y="4270553"/>
            <a:ext cx="1175657" cy="62299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DD5DED00-1261-EE32-9376-FBFE8B0023BF}"/>
              </a:ext>
            </a:extLst>
          </p:cNvPr>
          <p:cNvSpPr/>
          <p:nvPr/>
        </p:nvSpPr>
        <p:spPr>
          <a:xfrm>
            <a:off x="8472225" y="4351319"/>
            <a:ext cx="1175657" cy="62299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.o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A1946198-0A7E-B484-AAD9-8AE5C994666B}"/>
              </a:ext>
            </a:extLst>
          </p:cNvPr>
          <p:cNvSpPr/>
          <p:nvPr/>
        </p:nvSpPr>
        <p:spPr>
          <a:xfrm>
            <a:off x="9583978" y="3997562"/>
            <a:ext cx="646331" cy="30982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FA8A0CE-8463-CAF2-0AF8-CE550ACBBD53}"/>
              </a:ext>
            </a:extLst>
          </p:cNvPr>
          <p:cNvSpPr/>
          <p:nvPr/>
        </p:nvSpPr>
        <p:spPr>
          <a:xfrm>
            <a:off x="10117010" y="4335829"/>
            <a:ext cx="1175657" cy="62299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90F499-E4DE-E481-1390-3B93D63BAC67}"/>
              </a:ext>
            </a:extLst>
          </p:cNvPr>
          <p:cNvSpPr/>
          <p:nvPr/>
        </p:nvSpPr>
        <p:spPr>
          <a:xfrm>
            <a:off x="1626158" y="3877765"/>
            <a:ext cx="9043518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B6A2BA2-C026-D78A-C05B-47576C4D1C09}"/>
              </a:ext>
            </a:extLst>
          </p:cNvPr>
          <p:cNvSpPr txBox="1"/>
          <p:nvPr/>
        </p:nvSpPr>
        <p:spPr>
          <a:xfrm>
            <a:off x="1152041" y="50857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给人看的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AB1EB92-3C0A-E0AA-71DA-66108065461B}"/>
              </a:ext>
            </a:extLst>
          </p:cNvPr>
          <p:cNvSpPr txBox="1"/>
          <p:nvPr/>
        </p:nvSpPr>
        <p:spPr>
          <a:xfrm>
            <a:off x="9120591" y="515340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给机器看的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A36A18-BE47-643A-8E2E-4BFE2E73BEC2}"/>
              </a:ext>
            </a:extLst>
          </p:cNvPr>
          <p:cNvSpPr txBox="1"/>
          <p:nvPr/>
        </p:nvSpPr>
        <p:spPr>
          <a:xfrm>
            <a:off x="4884642" y="507411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半人半机器</a:t>
            </a:r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22230693-854C-257E-384C-ED2CD989C131}"/>
              </a:ext>
            </a:extLst>
          </p:cNvPr>
          <p:cNvSpPr/>
          <p:nvPr/>
        </p:nvSpPr>
        <p:spPr>
          <a:xfrm>
            <a:off x="3080265" y="4391132"/>
            <a:ext cx="1795060" cy="5024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010EE8-3377-D4E2-06CE-D08BD4186522}"/>
              </a:ext>
            </a:extLst>
          </p:cNvPr>
          <p:cNvSpPr txBox="1"/>
          <p:nvPr/>
        </p:nvSpPr>
        <p:spPr>
          <a:xfrm>
            <a:off x="3566037" y="41328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编译</a:t>
            </a:r>
          </a:p>
        </p:txBody>
      </p:sp>
      <p:sp>
        <p:nvSpPr>
          <p:cNvPr id="23" name="右箭头 22">
            <a:extLst>
              <a:ext uri="{FF2B5EF4-FFF2-40B4-BE49-F238E27FC236}">
                <a16:creationId xmlns:a16="http://schemas.microsoft.com/office/drawing/2014/main" id="{3B1AD194-4528-DA89-22C4-F9470351A7EE}"/>
              </a:ext>
            </a:extLst>
          </p:cNvPr>
          <p:cNvSpPr/>
          <p:nvPr/>
        </p:nvSpPr>
        <p:spPr>
          <a:xfrm>
            <a:off x="6240645" y="4391132"/>
            <a:ext cx="1987360" cy="5024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C11C913-87B5-B69F-D9C7-49C86E5B3FBE}"/>
              </a:ext>
            </a:extLst>
          </p:cNvPr>
          <p:cNvSpPr txBox="1"/>
          <p:nvPr/>
        </p:nvSpPr>
        <p:spPr>
          <a:xfrm>
            <a:off x="6846074" y="419033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汇编</a:t>
            </a:r>
          </a:p>
        </p:txBody>
      </p:sp>
      <p:sp>
        <p:nvSpPr>
          <p:cNvPr id="25" name="右箭头 24">
            <a:extLst>
              <a:ext uri="{FF2B5EF4-FFF2-40B4-BE49-F238E27FC236}">
                <a16:creationId xmlns:a16="http://schemas.microsoft.com/office/drawing/2014/main" id="{62F5BAC8-14A7-CF43-A9CA-0D0924CFD93E}"/>
              </a:ext>
            </a:extLst>
          </p:cNvPr>
          <p:cNvSpPr/>
          <p:nvPr/>
        </p:nvSpPr>
        <p:spPr>
          <a:xfrm>
            <a:off x="9790005" y="4471899"/>
            <a:ext cx="234278" cy="502419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E951079A-8B35-2A78-E62A-70C7F554C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041" y="5488091"/>
            <a:ext cx="1107996" cy="1124533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90206B4-E566-B3AD-DAFB-71ADF9CD19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429" y="5529623"/>
            <a:ext cx="1828254" cy="1205217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E7884C3-7085-3537-5F8E-DCAAFACE01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075" y="5557371"/>
            <a:ext cx="1705860" cy="105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25967"/>
      </p:ext>
    </p:extLst>
  </p:cSld>
  <p:clrMapOvr>
    <a:masterClrMapping/>
  </p:clrMapOvr>
  <p:transition spd="slow" advClick="0" advTm="3000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36920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 err="1">
                <a:solidFill>
                  <a:schemeClr val="accent3"/>
                </a:solidFill>
              </a:rPr>
              <a:t>gcc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/g++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工具使用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DB5B7ED-F41B-8B3B-2268-FDA9CAEE2769}"/>
              </a:ext>
            </a:extLst>
          </p:cNvPr>
          <p:cNvSpPr txBox="1"/>
          <p:nvPr/>
        </p:nvSpPr>
        <p:spPr>
          <a:xfrm>
            <a:off x="779388" y="1703754"/>
            <a:ext cx="8020144" cy="24829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从 </a:t>
            </a:r>
            <a:r>
              <a:rPr kumimoji="1" lang="en-US" altLang="zh-CN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[.c/.</a:t>
            </a:r>
            <a:r>
              <a:rPr kumimoji="1" lang="en-US" altLang="zh-CN" sz="24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cpp</a:t>
            </a: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文件 </a:t>
            </a:r>
            <a:r>
              <a:rPr kumimoji="1" lang="en-US" altLang="zh-CN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可执行文件</a:t>
            </a:r>
            <a:r>
              <a:rPr kumimoji="1" lang="en-US" altLang="zh-CN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的处理过程：</a:t>
            </a:r>
            <a:endParaRPr kumimoji="1" lang="en-US" altLang="zh-CN" sz="24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14400" lvl="1" indent="-457200">
              <a:lnSpc>
                <a:spcPts val="3260"/>
              </a:lnSpc>
              <a:buAutoNum type="arabicPeriod"/>
            </a:pP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预处理（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Preprocess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）：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-E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a.c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–o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kumimoji="1" lang="en-US" altLang="zh-CN" sz="200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（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展开）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14400" lvl="1" indent="-457200">
              <a:lnSpc>
                <a:spcPts val="3260"/>
              </a:lnSpc>
              <a:buAutoNum type="arabicPeriod"/>
            </a:pP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编译（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compile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）     ：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–S</a:t>
            </a:r>
            <a:r>
              <a:rPr kumimoji="1" lang="zh-CN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a.i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–o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kumimoji="1" lang="en-US" altLang="zh-CN" sz="200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（汇编代码）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14400" lvl="1" indent="-457200">
              <a:lnSpc>
                <a:spcPts val="3260"/>
              </a:lnSpc>
              <a:buAutoNum type="arabicPeriod"/>
            </a:pP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汇编（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Assemble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）    ：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–c</a:t>
            </a:r>
            <a:r>
              <a:rPr kumimoji="1" lang="zh-CN" alt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a.s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–o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kumimoji="1" lang="en-US" altLang="zh-CN" sz="200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（二进制）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14400" lvl="1" indent="-457200">
              <a:lnSpc>
                <a:spcPts val="3260"/>
              </a:lnSpc>
              <a:buAutoNum type="arabicPeriod"/>
            </a:pP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链接（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）        ：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a.</a:t>
            </a:r>
            <a:r>
              <a:rPr kumimoji="1" lang="en-US" altLang="zh-CN" sz="2000" err="1">
                <a:latin typeface="Consolas" panose="020B0609020204030204" pitchFamily="49" charset="0"/>
                <a:cs typeface="Consolas" panose="020B0609020204030204" pitchFamily="49" charset="0"/>
              </a:rPr>
              <a:t>o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–o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EF585B4-0313-ECC8-B087-ADD75791926E}"/>
              </a:ext>
            </a:extLst>
          </p:cNvPr>
          <p:cNvSpPr txBox="1"/>
          <p:nvPr/>
        </p:nvSpPr>
        <p:spPr>
          <a:xfrm>
            <a:off x="779388" y="4750583"/>
            <a:ext cx="9933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3"/>
                </a:solidFill>
              </a:rPr>
              <a:t>直接生成可</a:t>
            </a:r>
            <a:r>
              <a:rPr kumimoji="1" lang="zh-CN" altLang="en-US" sz="2400" b="1">
                <a:solidFill>
                  <a:schemeClr val="accent3"/>
                </a:solidFill>
              </a:rPr>
              <a:t>执行文件</a:t>
            </a:r>
            <a:r>
              <a:rPr kumimoji="1" lang="zh-CN" altLang="en-US" sz="2400" b="1" dirty="0">
                <a:solidFill>
                  <a:schemeClr val="accent3"/>
                </a:solidFill>
              </a:rPr>
              <a:t>：</a:t>
            </a:r>
            <a:r>
              <a:rPr kumimoji="1" lang="en-US" altLang="zh-CN" sz="2400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24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a.c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–o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  <a:p>
            <a:endParaRPr kumimoji="1" lang="en-US" altLang="zh-CN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>
                <a:latin typeface="Consolas" panose="020B0609020204030204" pitchFamily="49" charset="0"/>
                <a:cs typeface="Consolas" panose="020B0609020204030204" pitchFamily="49" charset="0"/>
              </a:rPr>
              <a:t>使用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–v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选项可以查看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【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每步骤具体</a:t>
            </a:r>
            <a:r>
              <a:rPr kumimoji="1" lang="zh-CN" altLang="en-US" sz="2400">
                <a:latin typeface="Consolas" panose="020B0609020204030204" pitchFamily="49" charset="0"/>
                <a:cs typeface="Consolas" panose="020B0609020204030204" pitchFamily="49" charset="0"/>
              </a:rPr>
              <a:t>命令</a:t>
            </a:r>
            <a:r>
              <a:rPr kumimoji="1" lang="en-US" altLang="zh-CN" sz="2400">
                <a:latin typeface="Consolas" panose="020B0609020204030204" pitchFamily="49" charset="0"/>
                <a:cs typeface="Consolas" panose="020B0609020204030204" pitchFamily="49" charset="0"/>
              </a:rPr>
              <a:t>】</a:t>
            </a:r>
            <a:r>
              <a:rPr kumimoji="1" lang="zh-CN" altLang="en-US" sz="2400">
                <a:latin typeface="Consolas" panose="020B0609020204030204" pitchFamily="49" charset="0"/>
                <a:cs typeface="Consolas" panose="020B0609020204030204" pitchFamily="49" charset="0"/>
              </a:rPr>
              <a:t>，如</a:t>
            </a:r>
            <a:r>
              <a:rPr kumimoji="1" lang="en-US" altLang="zh-CN" sz="2400">
                <a:latin typeface="Consolas" panose="020B0609020204030204" pitchFamily="49" charset="0"/>
                <a:cs typeface="Consolas" panose="020B0609020204030204" pitchFamily="49" charset="0"/>
              </a:rPr>
              <a:t>gcc –v a.c –o a</a:t>
            </a:r>
            <a:endParaRPr kumimoji="1" lang="zh-CN" alt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5DE54C-B670-60CF-C296-CDAF67B250B4}"/>
              </a:ext>
            </a:extLst>
          </p:cNvPr>
          <p:cNvSpPr txBox="1"/>
          <p:nvPr/>
        </p:nvSpPr>
        <p:spPr>
          <a:xfrm>
            <a:off x="9228839" y="2206473"/>
            <a:ext cx="1994457" cy="1508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约定后缀：</a:t>
            </a:r>
            <a:endParaRPr kumimoji="1" lang="en-US" altLang="zh-CN" sz="2000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.c/.</a:t>
            </a: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cpp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：源文件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zh-CN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：预处理文件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：汇编代码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：对象文件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558665"/>
      </p:ext>
    </p:extLst>
  </p:cSld>
  <p:clrMapOvr>
    <a:masterClrMapping/>
  </p:clrMapOvr>
  <p:transition spd="slow" advClick="0" advTm="3000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accent3"/>
                </a:solidFill>
              </a:rPr>
              <a:t>一个例子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DB5B7ED-F41B-8B3B-2268-FDA9CAEE2769}"/>
              </a:ext>
            </a:extLst>
          </p:cNvPr>
          <p:cNvSpPr txBox="1"/>
          <p:nvPr/>
        </p:nvSpPr>
        <p:spPr>
          <a:xfrm>
            <a:off x="779388" y="1369365"/>
            <a:ext cx="4166525" cy="72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编译： </a:t>
            </a:r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a.c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–o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a.s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02D8D8-5AFD-8F75-36E8-05AE0FD19D57}"/>
              </a:ext>
            </a:extLst>
          </p:cNvPr>
          <p:cNvSpPr txBox="1"/>
          <p:nvPr/>
        </p:nvSpPr>
        <p:spPr>
          <a:xfrm>
            <a:off x="2445081" y="4998998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a.c</a:t>
            </a:r>
            <a:endParaRPr kumimoji="1" lang="zh-CN" alt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4ECAE717-CA13-9271-6DFD-83013B3B5EB1}"/>
              </a:ext>
            </a:extLst>
          </p:cNvPr>
          <p:cNvSpPr/>
          <p:nvPr/>
        </p:nvSpPr>
        <p:spPr>
          <a:xfrm>
            <a:off x="5034225" y="3677697"/>
            <a:ext cx="1376624" cy="6732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64FD402-9CDF-8287-300D-F0113D2A788C}"/>
              </a:ext>
            </a:extLst>
          </p:cNvPr>
          <p:cNvSpPr txBox="1"/>
          <p:nvPr/>
        </p:nvSpPr>
        <p:spPr>
          <a:xfrm>
            <a:off x="4800349" y="3275111"/>
            <a:ext cx="18742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</a:t>
            </a:r>
            <a:r>
              <a:rPr kumimoji="1"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a.c</a:t>
            </a:r>
            <a:r>
              <a:rPr kumimoji="1"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–o</a:t>
            </a:r>
            <a:r>
              <a:rPr kumimoji="1"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a.s</a:t>
            </a:r>
            <a:endParaRPr kumimoji="1" lang="zh-CN" altLang="en-US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598D4-42C6-5A4C-2488-E47C4C52C586}"/>
              </a:ext>
            </a:extLst>
          </p:cNvPr>
          <p:cNvSpPr txBox="1"/>
          <p:nvPr/>
        </p:nvSpPr>
        <p:spPr>
          <a:xfrm>
            <a:off x="8970744" y="5049196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a.s</a:t>
            </a:r>
            <a:endParaRPr kumimoji="1" lang="zh-CN" altLang="en-US" sz="28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9BF48B8-6258-4511-0E96-8F511C58E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580" y="2542233"/>
            <a:ext cx="5145871" cy="250696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01BF206-51C5-4A87-795B-58235CA47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15" y="2542233"/>
            <a:ext cx="3657600" cy="23368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3AA0DB-1B1C-C1BC-37DA-0992296490AF}"/>
              </a:ext>
            </a:extLst>
          </p:cNvPr>
          <p:cNvSpPr txBox="1"/>
          <p:nvPr/>
        </p:nvSpPr>
        <p:spPr>
          <a:xfrm>
            <a:off x="5737464" y="5768990"/>
            <a:ext cx="6019597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b="1" dirty="0"/>
              <a:t>注：</a:t>
            </a:r>
            <a:r>
              <a:rPr kumimoji="1" lang="zh-CN" altLang="en-US" dirty="0"/>
              <a:t>汇编代码中以</a:t>
            </a:r>
            <a:r>
              <a:rPr kumimoji="1" lang="en-US" altLang="zh-CN" dirty="0"/>
              <a:t>”.”</a:t>
            </a:r>
            <a:r>
              <a:rPr kumimoji="1" lang="zh-CN" altLang="en-US" dirty="0"/>
              <a:t>开头的是伪指令，用来记录</a:t>
            </a:r>
            <a:r>
              <a:rPr kumimoji="1" lang="en-US" altLang="zh-CN" dirty="0"/>
              <a:t>Debug</a:t>
            </a:r>
          </a:p>
          <a:p>
            <a:r>
              <a:rPr kumimoji="1" lang="zh-CN" altLang="en-US" dirty="0"/>
              <a:t>信息，或者字段属性，我们目前重点关注指令</a:t>
            </a:r>
          </a:p>
        </p:txBody>
      </p:sp>
    </p:spTree>
    <p:extLst>
      <p:ext uri="{BB962C8B-B14F-4D97-AF65-F5344CB8AC3E}">
        <p14:creationId xmlns:p14="http://schemas.microsoft.com/office/powerpoint/2010/main" val="1788887800"/>
      </p:ext>
    </p:extLst>
  </p:cSld>
  <p:clrMapOvr>
    <a:masterClrMapping/>
  </p:clrMapOvr>
  <p:transition spd="slow" advClick="0" advTm="3000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accent3"/>
                </a:solidFill>
              </a:rPr>
              <a:t>一个例子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DB5B7ED-F41B-8B3B-2268-FDA9CAEE2769}"/>
              </a:ext>
            </a:extLst>
          </p:cNvPr>
          <p:cNvSpPr txBox="1"/>
          <p:nvPr/>
        </p:nvSpPr>
        <p:spPr>
          <a:xfrm>
            <a:off x="779388" y="1369365"/>
            <a:ext cx="4166525" cy="72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汇编： </a:t>
            </a:r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-c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a.s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–o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a.o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D6CFA77-F936-84F1-5598-3470E8D9E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712" y="2290684"/>
            <a:ext cx="3877605" cy="18890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60CFE94-6433-1CCB-D5B3-2F565CE6B54D}"/>
              </a:ext>
            </a:extLst>
          </p:cNvPr>
          <p:cNvSpPr txBox="1"/>
          <p:nvPr/>
        </p:nvSpPr>
        <p:spPr>
          <a:xfrm>
            <a:off x="2721936" y="4248539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a.s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575D9187-5148-408F-0957-00695A24A367}"/>
              </a:ext>
            </a:extLst>
          </p:cNvPr>
          <p:cNvSpPr/>
          <p:nvPr/>
        </p:nvSpPr>
        <p:spPr>
          <a:xfrm>
            <a:off x="5370270" y="3065266"/>
            <a:ext cx="2376261" cy="67323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2DCAF8-E173-CB93-15C9-44ACBBB7B8A8}"/>
              </a:ext>
            </a:extLst>
          </p:cNvPr>
          <p:cNvSpPr txBox="1"/>
          <p:nvPr/>
        </p:nvSpPr>
        <p:spPr>
          <a:xfrm>
            <a:off x="5557021" y="2822513"/>
            <a:ext cx="1628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-c</a:t>
            </a:r>
            <a:r>
              <a:rPr kumimoji="1"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a.s</a:t>
            </a:r>
            <a:r>
              <a:rPr kumimoji="1"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–o</a:t>
            </a:r>
            <a:r>
              <a:rPr kumimoji="1"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200" dirty="0" err="1">
                <a:latin typeface="Consolas" panose="020B0609020204030204" pitchFamily="49" charset="0"/>
                <a:cs typeface="Consolas" panose="020B0609020204030204" pitchFamily="49" charset="0"/>
              </a:rPr>
              <a:t>a.o</a:t>
            </a:r>
            <a:endParaRPr kumimoji="1"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AE3F9C-D3C9-382A-658D-3F07BF2D71CE}"/>
              </a:ext>
            </a:extLst>
          </p:cNvPr>
          <p:cNvSpPr txBox="1"/>
          <p:nvPr/>
        </p:nvSpPr>
        <p:spPr>
          <a:xfrm>
            <a:off x="8985949" y="422197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a.o</a:t>
            </a:r>
            <a:endParaRPr kumimoji="1" lang="zh-CN" alt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FDAAFF-DBBF-B425-6118-1EE4C4373FD2}"/>
              </a:ext>
            </a:extLst>
          </p:cNvPr>
          <p:cNvSpPr txBox="1"/>
          <p:nvPr/>
        </p:nvSpPr>
        <p:spPr>
          <a:xfrm>
            <a:off x="1407118" y="4817393"/>
            <a:ext cx="6404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可以使用 </a:t>
            </a:r>
            <a:r>
              <a:rPr kumimoji="1" lang="en-US" altLang="zh-CN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或者 </a:t>
            </a:r>
            <a:r>
              <a:rPr kumimoji="1" lang="en-US" altLang="zh-CN" sz="20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readelf</a:t>
            </a:r>
            <a:r>
              <a:rPr kumimoji="1" lang="zh-CN" altLang="en-US" sz="20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命令查看文件部分属性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BDC86D7-9FEE-98FB-E1D7-7F2D4A7BC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118" y="5267733"/>
            <a:ext cx="7327900" cy="4445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E0F327CF-B3FF-E515-9A95-17A18A4A9FDD}"/>
              </a:ext>
            </a:extLst>
          </p:cNvPr>
          <p:cNvSpPr txBox="1"/>
          <p:nvPr/>
        </p:nvSpPr>
        <p:spPr>
          <a:xfrm>
            <a:off x="9174147" y="5026970"/>
            <a:ext cx="2435026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感兴趣</a:t>
            </a:r>
            <a:r>
              <a:rPr kumimoji="1" lang="zh-CN" altLang="en-US"/>
              <a:t>同学可了解：</a:t>
            </a:r>
            <a:endParaRPr kumimoji="1" lang="en-US" altLang="zh-CN" dirty="0"/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1.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ELF</a:t>
            </a: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2.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readelf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命令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1B3E495-E616-DDA0-D129-6633AB18D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1669" y="2340914"/>
            <a:ext cx="2465760" cy="188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0552"/>
      </p:ext>
    </p:extLst>
  </p:cSld>
  <p:clrMapOvr>
    <a:masterClrMapping/>
  </p:clrMapOvr>
  <p:transition spd="slow" advClick="0" advTm="3000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solidFill>
                  <a:schemeClr val="accent3"/>
                </a:solidFill>
              </a:rPr>
              <a:t>一个例子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DB5B7ED-F41B-8B3B-2268-FDA9CAEE2769}"/>
              </a:ext>
            </a:extLst>
          </p:cNvPr>
          <p:cNvSpPr txBox="1"/>
          <p:nvPr/>
        </p:nvSpPr>
        <p:spPr>
          <a:xfrm>
            <a:off x="779388" y="1369365"/>
            <a:ext cx="3316934" cy="72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链接： </a:t>
            </a:r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a.o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–o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25E71E6-4415-2F46-3478-18D67ABFB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990" y="2689152"/>
            <a:ext cx="7708900" cy="889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9A48F4F-5075-52A4-5ADB-A4440E88FCFA}"/>
              </a:ext>
            </a:extLst>
          </p:cNvPr>
          <p:cNvSpPr txBox="1"/>
          <p:nvPr/>
        </p:nvSpPr>
        <p:spPr>
          <a:xfrm>
            <a:off x="3577214" y="4049765"/>
            <a:ext cx="42627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Relocatable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executable</a:t>
            </a:r>
            <a:endParaRPr kumimoji="1" lang="zh-CN" alt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211383"/>
      </p:ext>
    </p:extLst>
  </p:cSld>
  <p:clrMapOvr>
    <a:masterClrMapping/>
  </p:clrMapOvr>
  <p:transition spd="slow" advClick="0" advTm="3000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1802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 err="1">
                <a:solidFill>
                  <a:schemeClr val="accent3"/>
                </a:solidFill>
              </a:rPr>
              <a:t>gcc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总结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DB5B7ED-F41B-8B3B-2268-FDA9CAEE2769}"/>
              </a:ext>
            </a:extLst>
          </p:cNvPr>
          <p:cNvSpPr txBox="1"/>
          <p:nvPr/>
        </p:nvSpPr>
        <p:spPr>
          <a:xfrm>
            <a:off x="779388" y="1369365"/>
            <a:ext cx="2541080" cy="72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en-US" altLang="zh-CN" sz="2400" b="1" dirty="0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的常用选项：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782991-5721-3496-C8B2-733B91FA61D2}"/>
              </a:ext>
            </a:extLst>
          </p:cNvPr>
          <p:cNvSpPr txBox="1"/>
          <p:nvPr/>
        </p:nvSpPr>
        <p:spPr>
          <a:xfrm>
            <a:off x="1527349" y="2381459"/>
            <a:ext cx="4488729" cy="3370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[filename]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：指定输出文件名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-E		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：预处理（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-S		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：编译（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-c		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：汇编（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-v		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：输出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gcc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完整调用过程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-g		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：打开调试信息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-O{1,2,3,g,fast,s}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：优化选项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19FE0A-8347-AC2A-AE0A-E30A54F043DA}"/>
              </a:ext>
            </a:extLst>
          </p:cNvPr>
          <p:cNvSpPr txBox="1"/>
          <p:nvPr/>
        </p:nvSpPr>
        <p:spPr>
          <a:xfrm>
            <a:off x="662189" y="5382986"/>
            <a:ext cx="1117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（大写）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72107AE-E88C-A442-90C4-2983516BF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053" y="2701591"/>
            <a:ext cx="2005138" cy="180570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95AF839-FDBA-D422-1ADD-8ADFDABF1177}"/>
              </a:ext>
            </a:extLst>
          </p:cNvPr>
          <p:cNvSpPr/>
          <p:nvPr/>
        </p:nvSpPr>
        <p:spPr>
          <a:xfrm rot="5400000" flipV="1">
            <a:off x="3807693" y="3841655"/>
            <a:ext cx="4690745" cy="457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3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0E0971-E62D-C814-EE8A-F083E72FC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363" y="1484123"/>
            <a:ext cx="2004160" cy="2538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385BED6-D170-879C-1CD5-F705D0385C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2363" y="4410342"/>
            <a:ext cx="2004160" cy="179954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A490292-1826-1B80-9D8A-8F0DD87C516A}"/>
              </a:ext>
            </a:extLst>
          </p:cNvPr>
          <p:cNvSpPr/>
          <p:nvPr/>
        </p:nvSpPr>
        <p:spPr>
          <a:xfrm>
            <a:off x="9502346" y="3163330"/>
            <a:ext cx="1602581" cy="3089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2EBBE5-C132-A33F-6355-8F1823237EE3}"/>
              </a:ext>
            </a:extLst>
          </p:cNvPr>
          <p:cNvSpPr/>
          <p:nvPr/>
        </p:nvSpPr>
        <p:spPr>
          <a:xfrm>
            <a:off x="9502345" y="5701330"/>
            <a:ext cx="1602581" cy="3089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箭头 13">
            <a:extLst>
              <a:ext uri="{FF2B5EF4-FFF2-40B4-BE49-F238E27FC236}">
                <a16:creationId xmlns:a16="http://schemas.microsoft.com/office/drawing/2014/main" id="{BC77FD27-7252-A2E7-C219-86A1E4162839}"/>
              </a:ext>
            </a:extLst>
          </p:cNvPr>
          <p:cNvSpPr/>
          <p:nvPr/>
        </p:nvSpPr>
        <p:spPr>
          <a:xfrm rot="19815466">
            <a:off x="8268862" y="2907662"/>
            <a:ext cx="994475" cy="4818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右箭头 13">
            <a:extLst>
              <a:ext uri="{FF2B5EF4-FFF2-40B4-BE49-F238E27FC236}">
                <a16:creationId xmlns:a16="http://schemas.microsoft.com/office/drawing/2014/main" id="{1E256845-37EF-F047-0E6A-E672AAF179F5}"/>
              </a:ext>
            </a:extLst>
          </p:cNvPr>
          <p:cNvSpPr/>
          <p:nvPr/>
        </p:nvSpPr>
        <p:spPr>
          <a:xfrm rot="1967853">
            <a:off x="8258768" y="4266374"/>
            <a:ext cx="994475" cy="4818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1CA185-9CD8-44FC-81B6-82B47F00070C}"/>
              </a:ext>
            </a:extLst>
          </p:cNvPr>
          <p:cNvSpPr txBox="1"/>
          <p:nvPr/>
        </p:nvSpPr>
        <p:spPr>
          <a:xfrm>
            <a:off x="8330124" y="2468537"/>
            <a:ext cx="851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>
                <a:latin typeface="Consolas" panose="020B0609020204030204" pitchFamily="49" charset="0"/>
              </a:rPr>
              <a:t>-O0</a:t>
            </a:r>
            <a:endParaRPr lang="zh-CN" altLang="en-US" sz="200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910A02-FA27-B906-E048-A025D1D69FB8}"/>
              </a:ext>
            </a:extLst>
          </p:cNvPr>
          <p:cNvSpPr txBox="1"/>
          <p:nvPr/>
        </p:nvSpPr>
        <p:spPr>
          <a:xfrm>
            <a:off x="8207533" y="4612984"/>
            <a:ext cx="8517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000">
                <a:latin typeface="Consolas" panose="020B0609020204030204" pitchFamily="49" charset="0"/>
              </a:rPr>
              <a:t>-O2</a:t>
            </a:r>
            <a:endParaRPr lang="zh-CN" altLang="en-US" sz="200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8CD2DF-D520-3EC4-8F8C-2E6A7CE9A570}"/>
              </a:ext>
            </a:extLst>
          </p:cNvPr>
          <p:cNvSpPr/>
          <p:nvPr/>
        </p:nvSpPr>
        <p:spPr>
          <a:xfrm>
            <a:off x="9502344" y="3867664"/>
            <a:ext cx="1602581" cy="1544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225494"/>
      </p:ext>
    </p:extLst>
  </p:cSld>
  <p:clrMapOvr>
    <a:masterClrMapping/>
  </p:clrMapOvr>
  <p:transition spd="slow" advClick="0" advTm="3000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2000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 err="1">
                <a:solidFill>
                  <a:schemeClr val="accent3"/>
                </a:solidFill>
              </a:rPr>
              <a:t>objdump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DB5B7ED-F41B-8B3B-2268-FDA9CAEE2769}"/>
              </a:ext>
            </a:extLst>
          </p:cNvPr>
          <p:cNvSpPr txBox="1"/>
          <p:nvPr/>
        </p:nvSpPr>
        <p:spPr>
          <a:xfrm>
            <a:off x="1181322" y="1484123"/>
            <a:ext cx="6680034" cy="724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kumimoji="1" lang="zh-CN" altLang="en-US" sz="2400">
                <a:latin typeface="Consolas" panose="020B0609020204030204" pitchFamily="49" charset="0"/>
                <a:cs typeface="Consolas" panose="020B0609020204030204" pitchFamily="49" charset="0"/>
              </a:rPr>
              <a:t>反汇编器：将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二进制文件 转化为 可读</a:t>
            </a:r>
            <a:r>
              <a:rPr kumimoji="1" lang="zh-CN" altLang="en-US" sz="2400">
                <a:latin typeface="Consolas" panose="020B0609020204030204" pitchFamily="49" charset="0"/>
                <a:cs typeface="Consolas" panose="020B0609020204030204" pitchFamily="49" charset="0"/>
              </a:rPr>
              <a:t>汇编格式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747CDAD-EC7E-09D8-5748-93A121846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061" y="2208360"/>
            <a:ext cx="4035459" cy="424035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4AA3A21-818B-122B-51D6-CA7DE2852508}"/>
              </a:ext>
            </a:extLst>
          </p:cNvPr>
          <p:cNvSpPr txBox="1"/>
          <p:nvPr/>
        </p:nvSpPr>
        <p:spPr>
          <a:xfrm>
            <a:off x="8034069" y="3185327"/>
            <a:ext cx="3509294" cy="1750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b="1" dirty="0">
                <a:solidFill>
                  <a:schemeClr val="accent3"/>
                </a:solidFill>
              </a:rPr>
              <a:t>显示出了：</a:t>
            </a:r>
            <a:endParaRPr kumimoji="1" lang="en-US" altLang="zh-CN" sz="2000" b="1" dirty="0">
              <a:solidFill>
                <a:schemeClr val="accent3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/>
              <a:t>1.</a:t>
            </a:r>
            <a:r>
              <a:rPr kumimoji="1" lang="zh-CN" altLang="en-US" dirty="0"/>
              <a:t> 偏移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en-US" altLang="zh-CN" dirty="0"/>
              <a:t>2.</a:t>
            </a:r>
            <a:r>
              <a:rPr kumimoji="1" lang="zh-CN" altLang="en-US" dirty="0"/>
              <a:t> 指令</a:t>
            </a:r>
            <a:r>
              <a:rPr kumimoji="1" lang="zh-CN" altLang="en-US"/>
              <a:t>十六进制编码（机器码）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en-US" altLang="zh-CN" dirty="0"/>
              <a:t>3.</a:t>
            </a:r>
            <a:r>
              <a:rPr kumimoji="1" lang="zh-CN" altLang="en-US" dirty="0"/>
              <a:t> 汇编指令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3DC72A-7CCC-D07B-F8F3-1F4A54E00402}"/>
              </a:ext>
            </a:extLst>
          </p:cNvPr>
          <p:cNvSpPr txBox="1"/>
          <p:nvPr/>
        </p:nvSpPr>
        <p:spPr>
          <a:xfrm>
            <a:off x="783771" y="3185327"/>
            <a:ext cx="298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objdump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二进制文件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445818"/>
      </p:ext>
    </p:extLst>
  </p:cSld>
  <p:clrMapOvr>
    <a:masterClrMapping/>
  </p:clrMapOvr>
  <p:transition spd="slow" advClick="0" advTm="3000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2000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 err="1">
                <a:solidFill>
                  <a:schemeClr val="accent3"/>
                </a:solidFill>
              </a:rPr>
              <a:t>objdump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18026764-1AC2-099E-D9DB-ED99F50EB325}"/>
              </a:ext>
            </a:extLst>
          </p:cNvPr>
          <p:cNvSpPr/>
          <p:nvPr/>
        </p:nvSpPr>
        <p:spPr>
          <a:xfrm>
            <a:off x="731664" y="3037955"/>
            <a:ext cx="1175657" cy="74357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.c/.</a:t>
            </a:r>
            <a:r>
              <a:rPr kumimoji="1"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cpp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EFF5B27-2092-AB8B-C25B-9A49EBB08CEF}"/>
              </a:ext>
            </a:extLst>
          </p:cNvPr>
          <p:cNvSpPr/>
          <p:nvPr/>
        </p:nvSpPr>
        <p:spPr>
          <a:xfrm>
            <a:off x="2094890" y="3037955"/>
            <a:ext cx="1175657" cy="74357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F02EF69-5663-5D83-9FAD-F1B5C7E8F04A}"/>
              </a:ext>
            </a:extLst>
          </p:cNvPr>
          <p:cNvSpPr/>
          <p:nvPr/>
        </p:nvSpPr>
        <p:spPr>
          <a:xfrm>
            <a:off x="5255269" y="3057211"/>
            <a:ext cx="1175657" cy="74357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.s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BF9A8A9A-3472-CA77-0DA7-8BE5EDA7A10C}"/>
              </a:ext>
            </a:extLst>
          </p:cNvPr>
          <p:cNvSpPr/>
          <p:nvPr/>
        </p:nvSpPr>
        <p:spPr>
          <a:xfrm>
            <a:off x="8755234" y="3137977"/>
            <a:ext cx="1175657" cy="74357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.o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F6FA6C2-3FF1-8853-3E96-1D18D72E4CD6}"/>
              </a:ext>
            </a:extLst>
          </p:cNvPr>
          <p:cNvSpPr/>
          <p:nvPr/>
        </p:nvSpPr>
        <p:spPr>
          <a:xfrm>
            <a:off x="9866987" y="2784220"/>
            <a:ext cx="646331" cy="30982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lib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FDB17E63-87E8-ADF4-182D-3D1682CFDC55}"/>
              </a:ext>
            </a:extLst>
          </p:cNvPr>
          <p:cNvSpPr/>
          <p:nvPr/>
        </p:nvSpPr>
        <p:spPr>
          <a:xfrm>
            <a:off x="10400019" y="3122487"/>
            <a:ext cx="1175657" cy="743578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</a:t>
            </a:r>
            <a:endParaRPr kumimoji="1" lang="zh-CN" altLang="en-US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53A8027A-9FBE-6A81-82D8-ED3086D9A9E4}"/>
              </a:ext>
            </a:extLst>
          </p:cNvPr>
          <p:cNvSpPr/>
          <p:nvPr/>
        </p:nvSpPr>
        <p:spPr>
          <a:xfrm>
            <a:off x="3363274" y="3177790"/>
            <a:ext cx="1795060" cy="5024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4E7BBA-7960-C0E8-91D0-054207FA554C}"/>
              </a:ext>
            </a:extLst>
          </p:cNvPr>
          <p:cNvSpPr txBox="1"/>
          <p:nvPr/>
        </p:nvSpPr>
        <p:spPr>
          <a:xfrm>
            <a:off x="3849046" y="2919473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/>
              <a:t>gcc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-S</a:t>
            </a:r>
            <a:endParaRPr kumimoji="1" lang="zh-CN" altLang="en-US" b="1" dirty="0"/>
          </a:p>
        </p:txBody>
      </p:sp>
      <p:sp>
        <p:nvSpPr>
          <p:cNvPr id="19" name="右箭头 18">
            <a:extLst>
              <a:ext uri="{FF2B5EF4-FFF2-40B4-BE49-F238E27FC236}">
                <a16:creationId xmlns:a16="http://schemas.microsoft.com/office/drawing/2014/main" id="{6585E6F9-22D9-9F86-C542-1D2DF5D132D9}"/>
              </a:ext>
            </a:extLst>
          </p:cNvPr>
          <p:cNvSpPr/>
          <p:nvPr/>
        </p:nvSpPr>
        <p:spPr>
          <a:xfrm>
            <a:off x="6508945" y="2991857"/>
            <a:ext cx="1987360" cy="5024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026EC04-B319-07DE-F54F-50AACBDE9DE7}"/>
              </a:ext>
            </a:extLst>
          </p:cNvPr>
          <p:cNvSpPr txBox="1"/>
          <p:nvPr/>
        </p:nvSpPr>
        <p:spPr>
          <a:xfrm>
            <a:off x="7056620" y="2687879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/>
              <a:t>gcc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-c</a:t>
            </a:r>
            <a:endParaRPr kumimoji="1" lang="zh-CN" altLang="en-US" b="1" dirty="0"/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D69BCA5E-4BFA-1D63-09D2-8FF092734770}"/>
              </a:ext>
            </a:extLst>
          </p:cNvPr>
          <p:cNvSpPr/>
          <p:nvPr/>
        </p:nvSpPr>
        <p:spPr>
          <a:xfrm>
            <a:off x="10073014" y="3258557"/>
            <a:ext cx="234278" cy="502419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右箭头 25">
            <a:extLst>
              <a:ext uri="{FF2B5EF4-FFF2-40B4-BE49-F238E27FC236}">
                <a16:creationId xmlns:a16="http://schemas.microsoft.com/office/drawing/2014/main" id="{3C507AE3-430D-39E8-70EC-2D06D949423B}"/>
              </a:ext>
            </a:extLst>
          </p:cNvPr>
          <p:cNvSpPr/>
          <p:nvPr/>
        </p:nvSpPr>
        <p:spPr>
          <a:xfrm rot="10800000">
            <a:off x="6467122" y="3530323"/>
            <a:ext cx="1987360" cy="5024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99C6871-3931-686E-5758-B365E364B96F}"/>
              </a:ext>
            </a:extLst>
          </p:cNvPr>
          <p:cNvSpPr txBox="1"/>
          <p:nvPr/>
        </p:nvSpPr>
        <p:spPr>
          <a:xfrm>
            <a:off x="6920366" y="403274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solidFill>
                  <a:srgbClr val="FF0000"/>
                </a:solidFill>
              </a:rPr>
              <a:t>objdump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811435"/>
      </p:ext>
    </p:extLst>
  </p:cSld>
  <p:clrMapOvr>
    <a:masterClrMapping/>
  </p:clrMapOvr>
  <p:transition spd="slow" advClick="0" advTm="3000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2000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 err="1">
                <a:solidFill>
                  <a:schemeClr val="accent3"/>
                </a:solidFill>
              </a:rPr>
              <a:t>objdump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1A4C39A-9E23-1E8A-48D7-942FE7B772C3}"/>
              </a:ext>
            </a:extLst>
          </p:cNvPr>
          <p:cNvSpPr txBox="1"/>
          <p:nvPr/>
        </p:nvSpPr>
        <p:spPr>
          <a:xfrm>
            <a:off x="1256859" y="2076547"/>
            <a:ext cx="9907674" cy="3576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200" b="1" dirty="0" err="1">
                <a:solidFill>
                  <a:schemeClr val="accent3"/>
                </a:solidFill>
                <a:effectLst/>
                <a:latin typeface="LMSans10-Regular-Identity-H"/>
              </a:rPr>
              <a:t>objdump</a:t>
            </a:r>
            <a:r>
              <a:rPr lang="en" altLang="zh-CN" sz="3200" b="1" dirty="0">
                <a:solidFill>
                  <a:schemeClr val="accent3"/>
                </a:solidFill>
                <a:effectLst/>
                <a:latin typeface="LMSans10-Regular-Identity-H"/>
              </a:rPr>
              <a:t> </a:t>
            </a:r>
            <a:r>
              <a:rPr lang="zh-CN" altLang="en-US" sz="3200" b="1" dirty="0">
                <a:solidFill>
                  <a:schemeClr val="accent3"/>
                </a:solidFill>
                <a:latin typeface="PingFangHK-Regular-Identity-H"/>
              </a:rPr>
              <a:t>常用参数</a:t>
            </a:r>
            <a:r>
              <a:rPr lang="en-US" altLang="zh-CN" sz="3200" b="1" dirty="0">
                <a:solidFill>
                  <a:schemeClr val="accent3"/>
                </a:solidFill>
                <a:effectLst/>
                <a:latin typeface="PingFangHK-Regular-Identity-H"/>
              </a:rPr>
              <a:t>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>
                <a:solidFill>
                  <a:srgbClr val="3333B2"/>
                </a:solidFill>
                <a:latin typeface="PingFangHK-Regular-Identity-H"/>
              </a:rPr>
              <a:t>   </a:t>
            </a:r>
            <a:r>
              <a:rPr lang="en-US" altLang="zh-CN" sz="2200" dirty="0">
                <a:solidFill>
                  <a:srgbClr val="3333B2"/>
                </a:solidFill>
                <a:effectLst/>
                <a:latin typeface="LMSans10-Regular-Identity-H"/>
              </a:rPr>
              <a:t>-</a:t>
            </a:r>
            <a:r>
              <a:rPr lang="en" altLang="zh-CN" sz="2200" dirty="0">
                <a:solidFill>
                  <a:srgbClr val="3333B2"/>
                </a:solidFill>
                <a:effectLst/>
                <a:latin typeface="LMSans10-Regular-Identity-H"/>
              </a:rPr>
              <a:t>d </a:t>
            </a:r>
            <a:r>
              <a:rPr lang="zh-CN" altLang="en-US" sz="2200" dirty="0">
                <a:solidFill>
                  <a:srgbClr val="3333B2"/>
                </a:solidFill>
                <a:effectLst/>
                <a:latin typeface="LMSans10-Regular-Identity-H"/>
              </a:rPr>
              <a:t>  ：</a:t>
            </a:r>
            <a:r>
              <a:rPr lang="zh-CN" altLang="en-US" sz="2200" dirty="0">
                <a:effectLst/>
                <a:latin typeface="PingFangHK-Regular-Identity-H"/>
              </a:rPr>
              <a:t>反汇编可执行</a:t>
            </a:r>
            <a:r>
              <a:rPr lang="zh-CN" altLang="en-US" sz="2200">
                <a:effectLst/>
                <a:latin typeface="PingFangHK-Regular-Identity-H"/>
              </a:rPr>
              <a:t>的段</a:t>
            </a:r>
            <a:r>
              <a:rPr lang="zh-CN" altLang="en-US" sz="2200" dirty="0">
                <a:latin typeface="PingFangHK-Regular-Identity-H"/>
              </a:rPr>
              <a:t>（</a:t>
            </a:r>
            <a:r>
              <a:rPr lang="zh-CN" altLang="en-US" sz="2200">
                <a:effectLst/>
                <a:latin typeface="PingFangHK-Regular-Identity-H"/>
              </a:rPr>
              <a:t>如</a:t>
            </a:r>
            <a:r>
              <a:rPr lang="en-US" altLang="zh-CN" sz="2200">
                <a:effectLst/>
                <a:latin typeface="LMSans10-Regular-Identity-H"/>
              </a:rPr>
              <a:t>.</a:t>
            </a:r>
            <a:r>
              <a:rPr lang="en" altLang="zh-CN" sz="2200">
                <a:effectLst/>
                <a:latin typeface="LMSans10-Regular-Identity-H"/>
              </a:rPr>
              <a:t>text</a:t>
            </a:r>
            <a:r>
              <a:rPr lang="zh-CN" altLang="en-US" sz="2200">
                <a:latin typeface="PingFangHK-Regular-Identity-H"/>
              </a:rPr>
              <a:t>）</a:t>
            </a:r>
            <a:endParaRPr lang="en" altLang="zh-CN" sz="220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>
                <a:solidFill>
                  <a:srgbClr val="3333B2"/>
                </a:solidFill>
                <a:effectLst/>
                <a:latin typeface="LMSans10-Regular-Identity-H"/>
              </a:rPr>
              <a:t>   </a:t>
            </a:r>
            <a:r>
              <a:rPr lang="en" altLang="zh-CN" sz="2200">
                <a:solidFill>
                  <a:srgbClr val="3333B2"/>
                </a:solidFill>
                <a:effectLst/>
                <a:latin typeface="LMSans10-Regular-Identity-H"/>
              </a:rPr>
              <a:t>-D </a:t>
            </a:r>
            <a:r>
              <a:rPr lang="zh-CN" altLang="en-US" sz="2200">
                <a:solidFill>
                  <a:srgbClr val="3333B2"/>
                </a:solidFill>
                <a:effectLst/>
                <a:latin typeface="LMSans10-Regular-Identity-H"/>
              </a:rPr>
              <a:t> ：</a:t>
            </a:r>
            <a:r>
              <a:rPr lang="zh-CN" altLang="en-US" sz="2200">
                <a:effectLst/>
                <a:latin typeface="PingFangHK-Regular-Identity-H"/>
              </a:rPr>
              <a:t>反汇编所有的段</a:t>
            </a:r>
            <a:r>
              <a:rPr lang="zh-CN" altLang="en-US" sz="2200">
                <a:latin typeface="PingFangHK-Regular-Identity-H"/>
              </a:rPr>
              <a:t>，一律当做指令反汇编</a:t>
            </a:r>
            <a:endParaRPr lang="zh-CN" altLang="en-US" sz="2200">
              <a:effectLst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>
                <a:solidFill>
                  <a:srgbClr val="3333B2"/>
                </a:solidFill>
                <a:effectLst/>
                <a:latin typeface="LMSans10-Regular-Identity-H"/>
              </a:rPr>
              <a:t>   </a:t>
            </a:r>
            <a:r>
              <a:rPr lang="en-US" altLang="zh-CN" sz="2200">
                <a:solidFill>
                  <a:srgbClr val="3333B2"/>
                </a:solidFill>
                <a:effectLst/>
                <a:latin typeface="LMSans10-Regular-Identity-H"/>
              </a:rPr>
              <a:t>-</a:t>
            </a:r>
            <a:r>
              <a:rPr lang="en" altLang="zh-CN" sz="2200" dirty="0">
                <a:solidFill>
                  <a:srgbClr val="3333B2"/>
                </a:solidFill>
                <a:effectLst/>
                <a:latin typeface="LMSans10-Regular-Identity-H"/>
              </a:rPr>
              <a:t>S </a:t>
            </a:r>
            <a:r>
              <a:rPr lang="zh-CN" altLang="en-US" sz="2200" dirty="0">
                <a:solidFill>
                  <a:srgbClr val="3333B2"/>
                </a:solidFill>
                <a:latin typeface="LMSans10-Regular-Identity-H"/>
              </a:rPr>
              <a:t>  ：</a:t>
            </a:r>
            <a:r>
              <a:rPr lang="zh-CN" altLang="en-US" sz="2200" dirty="0">
                <a:effectLst/>
                <a:latin typeface="PingFangHK-Regular-Identity-H"/>
              </a:rPr>
              <a:t>把反汇编的代码和调试信息里的代码信息合在一起</a:t>
            </a:r>
            <a:r>
              <a:rPr lang="zh-CN" altLang="en-US" sz="2200">
                <a:effectLst/>
                <a:latin typeface="PingFangHK-Regular-Identity-H"/>
              </a:rPr>
              <a:t>显示 </a:t>
            </a:r>
            <a:endParaRPr lang="en-US" altLang="zh-CN" sz="2200">
              <a:effectLst/>
              <a:latin typeface="PingFangHK-Regular-Identity-H"/>
            </a:endParaRP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如果编译时不加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-g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选项，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-S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和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-d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结果相同</a:t>
            </a:r>
            <a:endParaRPr lang="zh-CN" altLang="en-US" sz="2000" dirty="0">
              <a:effectLst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>
                <a:solidFill>
                  <a:srgbClr val="3333B2"/>
                </a:solidFill>
                <a:effectLst/>
                <a:latin typeface="LMSans10-Regular-Identity-H"/>
              </a:rPr>
              <a:t>  </a:t>
            </a:r>
            <a:r>
              <a:rPr lang="en-US" altLang="zh-CN" sz="2200">
                <a:solidFill>
                  <a:srgbClr val="3333B2"/>
                </a:solidFill>
                <a:effectLst/>
                <a:latin typeface="LMSans10-Regular-Identity-H"/>
              </a:rPr>
              <a:t>-</a:t>
            </a:r>
            <a:r>
              <a:rPr lang="en" altLang="zh-CN" sz="2200" dirty="0">
                <a:solidFill>
                  <a:srgbClr val="3333B2"/>
                </a:solidFill>
                <a:effectLst/>
                <a:latin typeface="LMSans10-Regular-Identity-H"/>
              </a:rPr>
              <a:t>t </a:t>
            </a:r>
            <a:r>
              <a:rPr lang="zh-CN" altLang="en-US" sz="2200" dirty="0">
                <a:solidFill>
                  <a:srgbClr val="3333B2"/>
                </a:solidFill>
                <a:effectLst/>
                <a:latin typeface="LMSans10-Regular-Identity-H"/>
              </a:rPr>
              <a:t> </a:t>
            </a:r>
            <a:r>
              <a:rPr lang="zh-CN" altLang="en-US" sz="2200" dirty="0">
                <a:solidFill>
                  <a:srgbClr val="3333B2"/>
                </a:solidFill>
                <a:latin typeface="LMSans10-Regular-Identity-H"/>
              </a:rPr>
              <a:t>：</a:t>
            </a:r>
            <a:r>
              <a:rPr lang="zh-CN" altLang="en-US" sz="2200" dirty="0">
                <a:effectLst/>
                <a:latin typeface="PingFangHK-Regular-Identity-H"/>
              </a:rPr>
              <a:t>显示函数的</a:t>
            </a:r>
            <a:r>
              <a:rPr lang="zh-CN" altLang="en-US" sz="2200">
                <a:effectLst/>
                <a:latin typeface="PingFangHK-Regular-Identity-H"/>
              </a:rPr>
              <a:t>符号列表</a:t>
            </a:r>
            <a:r>
              <a:rPr lang="zh-CN" altLang="en-US" sz="2200">
                <a:latin typeface="PingFangHK-Regular-Identity-H"/>
              </a:rPr>
              <a:t>（函数名</a:t>
            </a:r>
            <a:r>
              <a:rPr lang="en-US" altLang="zh-CN" sz="2200">
                <a:latin typeface="PingFangHK-Regular-Identity-H"/>
              </a:rPr>
              <a:t>/</a:t>
            </a:r>
            <a:r>
              <a:rPr lang="zh-CN" altLang="en-US" sz="2200">
                <a:latin typeface="PingFangHK-Regular-Identity-H"/>
              </a:rPr>
              <a:t>全局变量名）</a:t>
            </a:r>
            <a:endParaRPr lang="en-US" altLang="zh-CN" sz="2200">
              <a:latin typeface="PingFangHK-Regular-Identity-H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>
                <a:solidFill>
                  <a:srgbClr val="3333B2"/>
                </a:solidFill>
                <a:effectLst/>
                <a:latin typeface="LMSans10-Regular-Identity-H"/>
              </a:rPr>
              <a:t>  </a:t>
            </a:r>
            <a:r>
              <a:rPr lang="en-US" altLang="zh-CN" sz="2200">
                <a:solidFill>
                  <a:srgbClr val="3333B2"/>
                </a:solidFill>
                <a:effectLst/>
                <a:latin typeface="LMSans10-Regular-Identity-H"/>
              </a:rPr>
              <a:t>-</a:t>
            </a:r>
            <a:r>
              <a:rPr lang="en" altLang="zh-CN" sz="2200" dirty="0">
                <a:solidFill>
                  <a:srgbClr val="3333B2"/>
                </a:solidFill>
                <a:effectLst/>
                <a:latin typeface="LMSans10-Regular-Identity-H"/>
              </a:rPr>
              <a:t>M {</a:t>
            </a:r>
            <a:r>
              <a:rPr lang="en" altLang="zh-CN" sz="2200" dirty="0" err="1">
                <a:solidFill>
                  <a:srgbClr val="3333B2"/>
                </a:solidFill>
                <a:effectLst/>
                <a:latin typeface="LMSans10-Regular-Identity-H"/>
              </a:rPr>
              <a:t>intel,att</a:t>
            </a:r>
            <a:r>
              <a:rPr lang="en" altLang="zh-CN" sz="2200" dirty="0">
                <a:solidFill>
                  <a:srgbClr val="3333B2"/>
                </a:solidFill>
                <a:effectLst/>
                <a:latin typeface="LMSans10-Regular-Identity-H"/>
              </a:rPr>
              <a:t>} </a:t>
            </a:r>
            <a:r>
              <a:rPr lang="zh-CN" altLang="en-US" sz="2200" dirty="0">
                <a:effectLst/>
                <a:latin typeface="PingFangHK-Regular-Identity-H"/>
              </a:rPr>
              <a:t>用 </a:t>
            </a:r>
            <a:r>
              <a:rPr lang="en" altLang="zh-CN" sz="2200" dirty="0">
                <a:effectLst/>
                <a:latin typeface="LMSans10-Regular-Identity-H"/>
              </a:rPr>
              <a:t>Intel </a:t>
            </a:r>
            <a:r>
              <a:rPr lang="zh-CN" altLang="en-US" sz="2200" dirty="0">
                <a:effectLst/>
                <a:latin typeface="PingFangHK-Regular-Identity-H"/>
              </a:rPr>
              <a:t>或者 </a:t>
            </a:r>
            <a:r>
              <a:rPr lang="en" altLang="zh-CN" sz="2200" dirty="0">
                <a:effectLst/>
                <a:latin typeface="LMSans10-Regular-Identity-H"/>
              </a:rPr>
              <a:t>AT&amp;T </a:t>
            </a:r>
            <a:r>
              <a:rPr lang="zh-CN" altLang="en-US" sz="2200" dirty="0">
                <a:effectLst/>
                <a:latin typeface="PingFangHK-Regular-Identity-H"/>
              </a:rPr>
              <a:t>风格显示 </a:t>
            </a:r>
            <a:r>
              <a:rPr lang="en" altLang="zh-CN" sz="2200" dirty="0">
                <a:effectLst/>
                <a:latin typeface="LMSans10-Regular-Identity-H"/>
              </a:rPr>
              <a:t>X86 </a:t>
            </a:r>
            <a:r>
              <a:rPr lang="zh-CN" altLang="en-US" sz="2200" dirty="0">
                <a:effectLst/>
                <a:latin typeface="PingFangHK-Regular-Identity-H"/>
              </a:rPr>
              <a:t>汇编；默认 </a:t>
            </a:r>
            <a:r>
              <a:rPr lang="en" altLang="zh-CN" sz="2200" dirty="0">
                <a:effectLst/>
                <a:latin typeface="LMSans10-Regular-Identity-H"/>
              </a:rPr>
              <a:t>AT&amp;T </a:t>
            </a:r>
            <a:r>
              <a:rPr lang="zh-CN" altLang="en-US" sz="2200" dirty="0">
                <a:effectLst/>
                <a:latin typeface="PingFangHK-Regular-Identity-H"/>
              </a:rPr>
              <a:t>风格</a:t>
            </a:r>
            <a:endParaRPr lang="en" altLang="zh-CN" sz="2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76815451"/>
      </p:ext>
    </p:extLst>
  </p:cSld>
  <p:clrMapOvr>
    <a:masterClrMapping/>
  </p:clrMapOvr>
  <p:transition spd="slow" advClick="0" advTm="3000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26388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>
                <a:solidFill>
                  <a:schemeClr val="accent3"/>
                </a:solidFill>
              </a:rPr>
              <a:t>调试器：</a:t>
            </a:r>
            <a:r>
              <a:rPr kumimoji="1" lang="en-US" altLang="zh-CN" sz="3200" b="1">
                <a:solidFill>
                  <a:schemeClr val="accent3"/>
                </a:solidFill>
              </a:rPr>
              <a:t>gdb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1A4C39A-9E23-1E8A-48D7-942FE7B772C3}"/>
              </a:ext>
            </a:extLst>
          </p:cNvPr>
          <p:cNvSpPr txBox="1"/>
          <p:nvPr/>
        </p:nvSpPr>
        <p:spPr>
          <a:xfrm>
            <a:off x="1286189" y="1822881"/>
            <a:ext cx="99076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>
                <a:solidFill>
                  <a:schemeClr val="accent5"/>
                </a:solidFill>
                <a:latin typeface="LMSans10-Regular-Identity-H"/>
              </a:rPr>
              <a:t>动态：程序运行时状态（运行时变量的值</a:t>
            </a:r>
            <a:r>
              <a:rPr lang="en-US" altLang="zh-CN" sz="2400" b="1">
                <a:solidFill>
                  <a:schemeClr val="accent5"/>
                </a:solidFill>
                <a:latin typeface="LMSans10-Regular-Identity-H"/>
              </a:rPr>
              <a:t>/</a:t>
            </a:r>
            <a:r>
              <a:rPr lang="zh-CN" altLang="en-US" sz="2400" b="1">
                <a:solidFill>
                  <a:schemeClr val="accent5"/>
                </a:solidFill>
                <a:latin typeface="LMSans10-Regular-Identity-H"/>
              </a:rPr>
              <a:t>函数调用顺序等）</a:t>
            </a:r>
            <a:endParaRPr lang="en-US" altLang="zh-CN" sz="2400" b="1">
              <a:solidFill>
                <a:schemeClr val="accent5"/>
              </a:solidFill>
              <a:latin typeface="LMSans10-Regular-Identity-H"/>
            </a:endParaRPr>
          </a:p>
          <a:p>
            <a:r>
              <a:rPr lang="en-US" altLang="zh-CN" sz="2400" b="1">
                <a:solidFill>
                  <a:schemeClr val="accent3"/>
                </a:solidFill>
                <a:latin typeface="LMSans10-Regular-Identity-H"/>
              </a:rPr>
              <a:t>gdb</a:t>
            </a:r>
            <a:r>
              <a:rPr lang="zh-CN" altLang="en-US" sz="2400" b="1">
                <a:solidFill>
                  <a:schemeClr val="accent3"/>
                </a:solidFill>
                <a:latin typeface="LMSans10-Regular-Identity-H"/>
              </a:rPr>
              <a:t>是一个</a:t>
            </a:r>
            <a:r>
              <a:rPr lang="en-US" altLang="zh-CN" sz="2400" b="1">
                <a:solidFill>
                  <a:schemeClr val="accent3"/>
                </a:solidFill>
                <a:latin typeface="LMSans10-Regular-Identity-H"/>
              </a:rPr>
              <a:t>【</a:t>
            </a:r>
            <a:r>
              <a:rPr lang="zh-CN" altLang="en-US" sz="2400" b="1">
                <a:solidFill>
                  <a:schemeClr val="accent3"/>
                </a:solidFill>
                <a:latin typeface="LMSans10-Regular-Identity-H"/>
              </a:rPr>
              <a:t>运行时监控程序</a:t>
            </a:r>
            <a:r>
              <a:rPr lang="en-US" altLang="zh-CN" sz="2400" b="1">
                <a:solidFill>
                  <a:schemeClr val="accent3"/>
                </a:solidFill>
                <a:latin typeface="LMSans10-Regular-Identity-H"/>
              </a:rPr>
              <a:t>】</a:t>
            </a:r>
            <a:r>
              <a:rPr lang="zh-CN" altLang="en-US" sz="2400" b="1">
                <a:solidFill>
                  <a:schemeClr val="accent3"/>
                </a:solidFill>
                <a:latin typeface="LMSans10-Regular-Identity-H"/>
              </a:rPr>
              <a:t>、调试器</a:t>
            </a:r>
            <a:endParaRPr lang="en-US" altLang="zh-CN" sz="2400" b="1">
              <a:solidFill>
                <a:schemeClr val="accent5"/>
              </a:solidFill>
              <a:latin typeface="LMSans10-Regular-Identity-H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EB41EF2-5F03-9C89-C5C1-E3EE8DCBA4FC}"/>
              </a:ext>
            </a:extLst>
          </p:cNvPr>
          <p:cNvSpPr txBox="1"/>
          <p:nvPr/>
        </p:nvSpPr>
        <p:spPr>
          <a:xfrm>
            <a:off x="1286189" y="2974764"/>
            <a:ext cx="7648248" cy="22578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5"/>
                </a:solidFill>
              </a:rPr>
              <a:t>主要用途：</a:t>
            </a:r>
            <a:endParaRPr kumimoji="1" lang="en-US" altLang="zh-CN" sz="2400" b="1" dirty="0">
              <a:solidFill>
                <a:schemeClr val="accent5"/>
              </a:solidFill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设置断点：在设定点停止程序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停下后，观察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变量值、寄存器值变化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路径跟踪：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单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多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步 执行 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[c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代码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汇编指令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观察行为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错误查找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：（如</a:t>
            </a:r>
            <a:r>
              <a:rPr kumimoji="1" lang="en-US" altLang="zh-CN" sz="200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core dumped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  <a:sym typeface="Wingdings" panose="05000000000000000000" pitchFamily="2" charset="2"/>
              </a:rPr>
              <a:t>）</a:t>
            </a:r>
            <a:r>
              <a:rPr kumimoji="1" lang="zh-CN" altLang="en-US" sz="2000">
                <a:latin typeface="Consolas" panose="020B0609020204030204" pitchFamily="49" charset="0"/>
                <a:cs typeface="Consolas" panose="020B0609020204030204" pitchFamily="49" charset="0"/>
              </a:rPr>
              <a:t>自动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停在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abort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处</a:t>
            </a:r>
          </a:p>
        </p:txBody>
      </p:sp>
    </p:spTree>
    <p:extLst>
      <p:ext uri="{BB962C8B-B14F-4D97-AF65-F5344CB8AC3E}">
        <p14:creationId xmlns:p14="http://schemas.microsoft.com/office/powerpoint/2010/main" val="3752225235"/>
      </p:ext>
    </p:extLst>
  </p:cSld>
  <p:clrMapOvr>
    <a:masterClrMapping/>
  </p:clrMapOvr>
  <p:transition spd="slow" advClick="0" advTm="3000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997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>
                <a:solidFill>
                  <a:schemeClr val="accent3"/>
                </a:solidFill>
              </a:rPr>
              <a:t>gdb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A06CBBB-B1B9-527A-4EB3-B03C25E8A699}"/>
              </a:ext>
            </a:extLst>
          </p:cNvPr>
          <p:cNvSpPr txBox="1"/>
          <p:nvPr/>
        </p:nvSpPr>
        <p:spPr>
          <a:xfrm>
            <a:off x="1045029" y="1557494"/>
            <a:ext cx="39757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5"/>
                </a:solidFill>
              </a:rPr>
              <a:t>启动命令：</a:t>
            </a:r>
            <a:r>
              <a:rPr kumimoji="1" lang="en-US" altLang="zh-CN" sz="2400" dirty="0" err="1"/>
              <a:t>gdb</a:t>
            </a:r>
            <a:r>
              <a:rPr kumimoji="1" lang="zh-CN" altLang="en-US" sz="2400" dirty="0"/>
              <a:t> 可执行文件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8A22A5-F1D7-3E28-A14B-028299E540F7}"/>
              </a:ext>
            </a:extLst>
          </p:cNvPr>
          <p:cNvSpPr txBox="1"/>
          <p:nvPr/>
        </p:nvSpPr>
        <p:spPr>
          <a:xfrm>
            <a:off x="2300792" y="5937009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/>
              <a:t>test.c</a:t>
            </a:r>
            <a:endParaRPr kumimoji="1" lang="zh-CN" altLang="en-US" b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41B31F7-53CF-CFBF-155D-ADACB221E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9" y="2149277"/>
            <a:ext cx="4076700" cy="37719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7CF5BDA-FAB4-7F01-A096-9FB513300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866" y="2379861"/>
            <a:ext cx="6440607" cy="352937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6B33DBA-0D83-A6F2-C910-3F3E074BD517}"/>
              </a:ext>
            </a:extLst>
          </p:cNvPr>
          <p:cNvSpPr txBox="1"/>
          <p:nvPr/>
        </p:nvSpPr>
        <p:spPr>
          <a:xfrm>
            <a:off x="7792479" y="1987096"/>
            <a:ext cx="1011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>
                <a:latin typeface="Consolas" panose="020B0609020204030204" pitchFamily="49" charset="0"/>
                <a:sym typeface="Wingdings" panose="05000000000000000000" pitchFamily="2" charset="2"/>
              </a:rPr>
              <a:t>注意</a:t>
            </a:r>
            <a:r>
              <a:rPr kumimoji="1" lang="en-US" altLang="zh-CN">
                <a:latin typeface="Consolas" panose="020B0609020204030204" pitchFamily="49" charset="0"/>
                <a:sym typeface="Wingdings" panose="05000000000000000000" pitchFamily="2" charset="2"/>
              </a:rPr>
              <a:t>-g</a:t>
            </a:r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BB63D2-23C8-0724-7EB3-3DDE949B1E7D}"/>
              </a:ext>
            </a:extLst>
          </p:cNvPr>
          <p:cNvSpPr txBox="1"/>
          <p:nvPr/>
        </p:nvSpPr>
        <p:spPr>
          <a:xfrm>
            <a:off x="7769795" y="592117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/>
              <a:t>启动和加载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227180820"/>
      </p:ext>
    </p:extLst>
  </p:cSld>
  <p:clrMapOvr>
    <a:masterClrMapping/>
  </p:clrMapOvr>
  <p:transition spd="slow" advClick="0" advTm="3000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51010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 err="1">
                <a:solidFill>
                  <a:schemeClr val="accent3"/>
                </a:solidFill>
              </a:rPr>
              <a:t>gdb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调试器（运行与停止）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A06CBBB-B1B9-527A-4EB3-B03C25E8A699}"/>
              </a:ext>
            </a:extLst>
          </p:cNvPr>
          <p:cNvSpPr txBox="1"/>
          <p:nvPr/>
        </p:nvSpPr>
        <p:spPr>
          <a:xfrm>
            <a:off x="1070388" y="3168019"/>
            <a:ext cx="3674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运行：</a:t>
            </a: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或者  </a:t>
            </a: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endParaRPr kumimoji="1" lang="en-US" altLang="zh-CN" sz="2400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退出：</a:t>
            </a: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kumimoji="1" lang="zh-CN" altLang="en-US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或者  </a:t>
            </a:r>
            <a:r>
              <a:rPr kumimoji="1" lang="en-US" altLang="zh-CN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quit</a:t>
            </a:r>
            <a:endParaRPr kumimoji="1" lang="en-US" altLang="zh-CN" sz="2400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C078CF-90D4-FF4A-D009-674A47220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888" y="2939419"/>
            <a:ext cx="5239229" cy="16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093355"/>
      </p:ext>
    </p:extLst>
  </p:cSld>
  <p:clrMapOvr>
    <a:masterClrMapping/>
  </p:clrMapOvr>
  <p:transition spd="slow" advClick="0" advTm="3000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8AE397A8-D421-48B3-158C-C7B6923F1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03" y="4380071"/>
            <a:ext cx="2247900" cy="13843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68146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 err="1">
                <a:solidFill>
                  <a:schemeClr val="accent3"/>
                </a:solidFill>
              </a:rPr>
              <a:t>gdb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调试器（断点设置与继续执行）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A06CBBB-B1B9-527A-4EB3-B03C25E8A699}"/>
              </a:ext>
            </a:extLst>
          </p:cNvPr>
          <p:cNvSpPr txBox="1"/>
          <p:nvPr/>
        </p:nvSpPr>
        <p:spPr>
          <a:xfrm>
            <a:off x="502371" y="1570014"/>
            <a:ext cx="483978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打断点       ：</a:t>
            </a:r>
            <a:r>
              <a:rPr kumimoji="1" lang="en-US" altLang="zh-CN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函数名</a:t>
            </a:r>
            <a:r>
              <a:rPr kumimoji="1" lang="en-US" altLang="zh-CN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文件</a:t>
            </a:r>
            <a:r>
              <a:rPr kumimoji="1" lang="en-US" altLang="zh-CN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kumimoji="1" lang="zh-CN" altLang="en-US" sz="20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行数</a:t>
            </a:r>
            <a:r>
              <a:rPr kumimoji="1" lang="en-US" altLang="zh-CN" sz="20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kumimoji="1" lang="en-US" altLang="zh-CN" sz="2000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继续执行     ：</a:t>
            </a:r>
            <a:r>
              <a:rPr kumimoji="1" lang="en-US" altLang="zh-CN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  <a:p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输出断点信息 ：</a:t>
            </a:r>
            <a:r>
              <a:rPr kumimoji="1" lang="en-US" altLang="zh-CN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</a:p>
          <a:p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删除断点     ：</a:t>
            </a:r>
            <a:r>
              <a:rPr kumimoji="1" lang="en-US" altLang="zh-CN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zh-CN" altLang="en-US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断点</a:t>
            </a:r>
            <a:r>
              <a:rPr kumimoji="1" lang="en-US" altLang="zh-CN" sz="20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id]</a:t>
            </a:r>
            <a:endParaRPr kumimoji="1" lang="zh-CN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47F281-1925-D185-0956-0274201071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0876" y="2471089"/>
            <a:ext cx="6972837" cy="3895024"/>
          </a:xfrm>
          <a:prstGeom prst="rect">
            <a:avLst/>
          </a:prstGeom>
        </p:spPr>
      </p:pic>
      <p:sp>
        <p:nvSpPr>
          <p:cNvPr id="9" name="左大括号 8">
            <a:extLst>
              <a:ext uri="{FF2B5EF4-FFF2-40B4-BE49-F238E27FC236}">
                <a16:creationId xmlns:a16="http://schemas.microsoft.com/office/drawing/2014/main" id="{56839667-914C-CF33-0204-651E666EFCC9}"/>
              </a:ext>
            </a:extLst>
          </p:cNvPr>
          <p:cNvSpPr/>
          <p:nvPr/>
        </p:nvSpPr>
        <p:spPr>
          <a:xfrm>
            <a:off x="4288666" y="4140468"/>
            <a:ext cx="206062" cy="431531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188E9EC7-35FD-AB50-D296-5350D267EFD8}"/>
              </a:ext>
            </a:extLst>
          </p:cNvPr>
          <p:cNvSpPr/>
          <p:nvPr/>
        </p:nvSpPr>
        <p:spPr>
          <a:xfrm>
            <a:off x="4288665" y="5057104"/>
            <a:ext cx="206062" cy="431531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589B29CA-D6C9-D682-8FEC-B6106B6ED599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2542203" y="4371350"/>
            <a:ext cx="1606509" cy="7008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30C6571C-ACD6-FC50-FAA2-03FE57C99167}"/>
              </a:ext>
            </a:extLst>
          </p:cNvPr>
          <p:cNvCxnSpPr>
            <a:cxnSpLocks/>
          </p:cNvCxnSpPr>
          <p:nvPr/>
        </p:nvCxnSpPr>
        <p:spPr>
          <a:xfrm>
            <a:off x="2559201" y="5272869"/>
            <a:ext cx="167258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90AAA40E-5E46-551F-0723-DBF1BFC380BA}"/>
              </a:ext>
            </a:extLst>
          </p:cNvPr>
          <p:cNvSpPr/>
          <p:nvPr/>
        </p:nvSpPr>
        <p:spPr>
          <a:xfrm>
            <a:off x="4277932" y="3126269"/>
            <a:ext cx="206062" cy="431531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45C6CB0A-A48B-8DE8-397E-8E44153BB332}"/>
              </a:ext>
            </a:extLst>
          </p:cNvPr>
          <p:cNvCxnSpPr>
            <a:cxnSpLocks/>
          </p:cNvCxnSpPr>
          <p:nvPr/>
        </p:nvCxnSpPr>
        <p:spPr>
          <a:xfrm flipV="1">
            <a:off x="2559201" y="3429000"/>
            <a:ext cx="1672581" cy="13597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0D99CC5C-C25D-2DA1-1663-8972EC1936CC}"/>
              </a:ext>
            </a:extLst>
          </p:cNvPr>
          <p:cNvSpPr/>
          <p:nvPr/>
        </p:nvSpPr>
        <p:spPr>
          <a:xfrm>
            <a:off x="4231781" y="5724703"/>
            <a:ext cx="262945" cy="346600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004138BB-BC8C-A2A2-69A4-9C7C6B57D212}"/>
              </a:ext>
            </a:extLst>
          </p:cNvPr>
          <p:cNvCxnSpPr>
            <a:cxnSpLocks/>
          </p:cNvCxnSpPr>
          <p:nvPr/>
        </p:nvCxnSpPr>
        <p:spPr>
          <a:xfrm>
            <a:off x="2542203" y="5595903"/>
            <a:ext cx="1635917" cy="3445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312604"/>
      </p:ext>
    </p:extLst>
  </p:cSld>
  <p:clrMapOvr>
    <a:masterClrMapping/>
  </p:clrMapOvr>
  <p:transition spd="slow" advClick="0" advTm="3000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95846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 err="1">
                <a:solidFill>
                  <a:schemeClr val="accent3"/>
                </a:solidFill>
              </a:rPr>
              <a:t>gdb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调试器（查看变量）   编译时一定要加入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-g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选项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A06CBBB-B1B9-527A-4EB3-B03C25E8A699}"/>
              </a:ext>
            </a:extLst>
          </p:cNvPr>
          <p:cNvSpPr txBox="1"/>
          <p:nvPr/>
        </p:nvSpPr>
        <p:spPr>
          <a:xfrm>
            <a:off x="640547" y="1432783"/>
            <a:ext cx="4589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打印变量：</a:t>
            </a: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变量名</a:t>
            </a: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/$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寄存器</a:t>
            </a: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左大括号 8">
            <a:extLst>
              <a:ext uri="{FF2B5EF4-FFF2-40B4-BE49-F238E27FC236}">
                <a16:creationId xmlns:a16="http://schemas.microsoft.com/office/drawing/2014/main" id="{56839667-914C-CF33-0204-651E666EFCC9}"/>
              </a:ext>
            </a:extLst>
          </p:cNvPr>
          <p:cNvSpPr/>
          <p:nvPr/>
        </p:nvSpPr>
        <p:spPr>
          <a:xfrm>
            <a:off x="5453333" y="2419531"/>
            <a:ext cx="204869" cy="719082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左大括号 9">
            <a:extLst>
              <a:ext uri="{FF2B5EF4-FFF2-40B4-BE49-F238E27FC236}">
                <a16:creationId xmlns:a16="http://schemas.microsoft.com/office/drawing/2014/main" id="{188E9EC7-35FD-AB50-D296-5350D267EFD8}"/>
              </a:ext>
            </a:extLst>
          </p:cNvPr>
          <p:cNvSpPr/>
          <p:nvPr/>
        </p:nvSpPr>
        <p:spPr>
          <a:xfrm>
            <a:off x="5453333" y="3324986"/>
            <a:ext cx="204869" cy="950452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0D99CC5C-C25D-2DA1-1663-8972EC1936CC}"/>
              </a:ext>
            </a:extLst>
          </p:cNvPr>
          <p:cNvSpPr/>
          <p:nvPr/>
        </p:nvSpPr>
        <p:spPr>
          <a:xfrm>
            <a:off x="5428899" y="4414799"/>
            <a:ext cx="229304" cy="107383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2EDF1D7-E035-69D7-CAF7-B2CFD1659C9D}"/>
              </a:ext>
            </a:extLst>
          </p:cNvPr>
          <p:cNvSpPr txBox="1"/>
          <p:nvPr/>
        </p:nvSpPr>
        <p:spPr>
          <a:xfrm>
            <a:off x="7095458" y="1839047"/>
            <a:ext cx="268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设置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、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两个断点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5F42FE-F185-F7A4-F1F1-17D7657BC2D8}"/>
              </a:ext>
            </a:extLst>
          </p:cNvPr>
          <p:cNvSpPr txBox="1"/>
          <p:nvPr/>
        </p:nvSpPr>
        <p:spPr>
          <a:xfrm>
            <a:off x="1092030" y="2447179"/>
            <a:ext cx="433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”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ILoveAssemble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.”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作为参数运行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test</a:t>
            </a:r>
          </a:p>
          <a:p>
            <a:pPr algn="r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并停在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2F88F95-869C-4CEA-B032-DC500E4C29A7}"/>
              </a:ext>
            </a:extLst>
          </p:cNvPr>
          <p:cNvSpPr txBox="1"/>
          <p:nvPr/>
        </p:nvSpPr>
        <p:spPr>
          <a:xfrm>
            <a:off x="4345337" y="36462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打印变量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6FD0CFC-CF66-9B1A-7C9D-328CA1ED8030}"/>
              </a:ext>
            </a:extLst>
          </p:cNvPr>
          <p:cNvSpPr txBox="1"/>
          <p:nvPr/>
        </p:nvSpPr>
        <p:spPr>
          <a:xfrm>
            <a:off x="3088583" y="4800761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继续执行并停在</a:t>
            </a:r>
            <a:r>
              <a:rPr kumimoji="1" lang="en-US" altLang="zh-CN" dirty="0"/>
              <a:t>add</a:t>
            </a:r>
            <a:endParaRPr kumimoji="1" lang="zh-CN" altLang="en-US" dirty="0"/>
          </a:p>
        </p:txBody>
      </p: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B16FCADF-9E4F-0A51-BB1A-7975D29EBD01}"/>
              </a:ext>
            </a:extLst>
          </p:cNvPr>
          <p:cNvSpPr/>
          <p:nvPr/>
        </p:nvSpPr>
        <p:spPr>
          <a:xfrm>
            <a:off x="5425268" y="5651249"/>
            <a:ext cx="229304" cy="1073836"/>
          </a:xfrm>
          <a:prstGeom prst="lef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954EFC1-9F27-9EBD-F72A-A4954B56FA97}"/>
              </a:ext>
            </a:extLst>
          </p:cNvPr>
          <p:cNvSpPr txBox="1"/>
          <p:nvPr/>
        </p:nvSpPr>
        <p:spPr>
          <a:xfrm>
            <a:off x="421186" y="5799869"/>
            <a:ext cx="5032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再次打印</a:t>
            </a:r>
            <a:r>
              <a:rPr kumimoji="1" lang="en-US" altLang="zh-CN" dirty="0" err="1">
                <a:solidFill>
                  <a:srgbClr val="FF0000"/>
                </a:solidFill>
              </a:rPr>
              <a:t>argc</a:t>
            </a:r>
            <a:r>
              <a:rPr kumimoji="1" lang="zh-CN" altLang="en-US" dirty="0">
                <a:solidFill>
                  <a:srgbClr val="FF0000"/>
                </a:solidFill>
              </a:rPr>
              <a:t>变量，提示不存在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r>
              <a:rPr kumimoji="1" lang="zh-CN" altLang="en-US" dirty="0">
                <a:solidFill>
                  <a:srgbClr val="FF0000"/>
                </a:solidFill>
              </a:rPr>
              <a:t>此处可以发现，输出变量的上下文仅限在函数内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11B3432-33AC-D80F-4250-DC1B501D1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985" y="2260600"/>
            <a:ext cx="52959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201879"/>
      </p:ext>
    </p:extLst>
  </p:cSld>
  <p:clrMapOvr>
    <a:masterClrMapping/>
  </p:clrMapOvr>
  <p:transition spd="slow" advClick="0" advTm="3000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74302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 err="1">
                <a:solidFill>
                  <a:schemeClr val="accent3"/>
                </a:solidFill>
              </a:rPr>
              <a:t>gdb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调试器（ 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[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单 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/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多 </a:t>
            </a:r>
            <a:r>
              <a:rPr kumimoji="1" lang="en-US" altLang="zh-CN" sz="3200" b="1" dirty="0">
                <a:solidFill>
                  <a:schemeClr val="accent3"/>
                </a:solidFill>
              </a:rPr>
              <a:t>]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步执行  </a:t>
            </a:r>
            <a:r>
              <a:rPr kumimoji="1" lang="en-US" altLang="zh-CN" sz="3200" b="1" dirty="0">
                <a:solidFill>
                  <a:srgbClr val="FF0000"/>
                </a:solidFill>
              </a:rPr>
              <a:t>n</a:t>
            </a:r>
            <a:r>
              <a:rPr kumimoji="1" lang="zh-CN" altLang="en-US" sz="3200" b="1" dirty="0">
                <a:solidFill>
                  <a:srgbClr val="FF0000"/>
                </a:solidFill>
              </a:rPr>
              <a:t>和</a:t>
            </a:r>
            <a:r>
              <a:rPr kumimoji="1" lang="en-US" altLang="zh-CN" sz="3200" b="1" dirty="0">
                <a:solidFill>
                  <a:srgbClr val="FF0000"/>
                </a:solidFill>
              </a:rPr>
              <a:t>s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 ）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A06CBBB-B1B9-527A-4EB3-B03C25E8A699}"/>
              </a:ext>
            </a:extLst>
          </p:cNvPr>
          <p:cNvSpPr txBox="1"/>
          <p:nvPr/>
        </p:nvSpPr>
        <p:spPr>
          <a:xfrm>
            <a:off x="501550" y="1837236"/>
            <a:ext cx="114986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kumimoji="1" lang="zh-CN" altLang="en-US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r>
              <a:rPr kumimoji="1" lang="zh-CN" altLang="en-US" sz="2400" b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执行下一条</a:t>
            </a:r>
            <a:r>
              <a:rPr kumimoji="1" lang="en-US" altLang="zh-CN" sz="2400" b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kumimoji="1" lang="zh-CN" altLang="en-US" sz="2400" b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源代码；若是函数调用，一次性执行完函数并停在下一行（步过）</a:t>
            </a:r>
            <a:endParaRPr kumimoji="1" lang="en-US" altLang="zh-CN" sz="2400" b="1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en-US" altLang="zh-CN" sz="2400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kumimoji="1" lang="zh-CN" altLang="en-US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：</a:t>
            </a:r>
            <a:r>
              <a:rPr kumimoji="1" lang="zh-CN" altLang="en-US" sz="2400" b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执行下一条</a:t>
            </a:r>
            <a:r>
              <a:rPr kumimoji="1" lang="en-US" altLang="zh-CN" sz="2400" b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kumimoji="1" lang="zh-CN" altLang="en-US" sz="2400" b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源代码；若是函数调用，则进入函数第一行（步入）</a:t>
            </a:r>
            <a:endParaRPr kumimoji="1" lang="en-US" altLang="zh-CN" sz="24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en-US" altLang="zh-CN" sz="24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多步：</a:t>
            </a:r>
            <a:r>
              <a:rPr kumimoji="1" lang="en-US" altLang="zh-CN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[n/s]</a:t>
            </a:r>
            <a:r>
              <a:rPr kumimoji="1" lang="zh-CN" altLang="en-US" sz="2400" b="1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空格 步数</a:t>
            </a:r>
            <a:endParaRPr kumimoji="1" lang="en-US" altLang="zh-CN" sz="24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34AEBD5-CEEA-DFDA-FEB7-EE3C5E44B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605" y="3744098"/>
            <a:ext cx="6375400" cy="19558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C2AE086-F75F-8C07-3CD1-78AFA832EBC1}"/>
              </a:ext>
            </a:extLst>
          </p:cNvPr>
          <p:cNvSpPr txBox="1"/>
          <p:nvPr/>
        </p:nvSpPr>
        <p:spPr>
          <a:xfrm>
            <a:off x="3797663" y="5834224"/>
            <a:ext cx="42947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运行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停在了 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d=add(2,c);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运行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停在了  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a+b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69256F7-5535-068A-16C0-FBCEDA4EC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772" y="4029848"/>
            <a:ext cx="2247900" cy="13843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8577052-1FC8-AA38-7482-70792EF57346}"/>
              </a:ext>
            </a:extLst>
          </p:cNvPr>
          <p:cNvSpPr txBox="1"/>
          <p:nvPr/>
        </p:nvSpPr>
        <p:spPr>
          <a:xfrm>
            <a:off x="9107692" y="3042161"/>
            <a:ext cx="2582758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注意：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ni</a:t>
            </a:r>
            <a:r>
              <a:rPr kumimoji="1" lang="en-US" altLang="zh-CN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en-US" altLang="zh-CN">
                <a:latin typeface="Consolas" panose="020B0609020204030204" pitchFamily="49" charset="0"/>
                <a:cs typeface="Consolas" panose="020B0609020204030204" pitchFamily="49" charset="0"/>
              </a:rPr>
              <a:t>si</a:t>
            </a:r>
            <a:r>
              <a:rPr kumimoji="1" lang="zh-CN" altLang="en-US">
                <a:latin typeface="Consolas" panose="020B0609020204030204" pitchFamily="49" charset="0"/>
                <a:cs typeface="Consolas" panose="020B0609020204030204" pitchFamily="49" charset="0"/>
              </a:rPr>
              <a:t>语义同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n,s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只不过粒度为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【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指令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】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637181"/>
      </p:ext>
    </p:extLst>
  </p:cSld>
  <p:clrMapOvr>
    <a:masterClrMapping/>
  </p:clrMapOvr>
  <p:transition spd="slow" advClick="0" advTm="3000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F5A13-3AF3-A9F2-D88E-5DF19D5F6AAA}"/>
              </a:ext>
            </a:extLst>
          </p:cNvPr>
          <p:cNvSpPr txBox="1"/>
          <p:nvPr/>
        </p:nvSpPr>
        <p:spPr>
          <a:xfrm>
            <a:off x="662189" y="669833"/>
            <a:ext cx="39020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b="1" dirty="0" err="1">
                <a:solidFill>
                  <a:schemeClr val="accent3"/>
                </a:solidFill>
              </a:rPr>
              <a:t>gdb</a:t>
            </a:r>
            <a:r>
              <a:rPr kumimoji="1" lang="zh-CN" altLang="en-US" sz="3200" b="1" dirty="0">
                <a:solidFill>
                  <a:schemeClr val="accent3"/>
                </a:solidFill>
              </a:rPr>
              <a:t>调试器（其他）</a:t>
            </a:r>
            <a:endParaRPr kumimoji="1" lang="zh-CN" altLang="en-US" b="1" dirty="0">
              <a:solidFill>
                <a:schemeClr val="accent3"/>
              </a:solidFill>
            </a:endParaRPr>
          </a:p>
        </p:txBody>
      </p:sp>
      <p:cxnSp>
        <p:nvCxnSpPr>
          <p:cNvPr id="5" name="直接连接符 79">
            <a:extLst>
              <a:ext uri="{FF2B5EF4-FFF2-40B4-BE49-F238E27FC236}">
                <a16:creationId xmlns:a16="http://schemas.microsoft.com/office/drawing/2014/main" id="{C27849E8-D1EC-1B17-EE63-DFA99639953D}"/>
              </a:ext>
            </a:extLst>
          </p:cNvPr>
          <p:cNvCxnSpPr>
            <a:cxnSpLocks/>
          </p:cNvCxnSpPr>
          <p:nvPr/>
        </p:nvCxnSpPr>
        <p:spPr>
          <a:xfrm>
            <a:off x="779388" y="1369365"/>
            <a:ext cx="10517617" cy="0"/>
          </a:xfrm>
          <a:prstGeom prst="line">
            <a:avLst/>
          </a:prstGeom>
          <a:ln w="38100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DA96D352-6EEA-8404-201F-4B1574FCD0B0}"/>
              </a:ext>
            </a:extLst>
          </p:cNvPr>
          <p:cNvSpPr txBox="1"/>
          <p:nvPr/>
        </p:nvSpPr>
        <p:spPr>
          <a:xfrm>
            <a:off x="779387" y="1676598"/>
            <a:ext cx="9204871" cy="2803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b="1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bt</a:t>
            </a: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打印函数</a:t>
            </a:r>
            <a:r>
              <a:rPr kumimoji="1" lang="zh-CN" altLang="en-US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调用栈（程序崩溃时观察位置）</a:t>
            </a:r>
            <a:endParaRPr kumimoji="1" lang="en-US" altLang="zh-CN" sz="2400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finish </a:t>
            </a:r>
            <a:r>
              <a:rPr kumimoji="1"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跑完</a:t>
            </a:r>
            <a:r>
              <a:rPr kumimoji="1" lang="zh-CN" altLang="en-US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当前函数（不小心步入）</a:t>
            </a:r>
            <a:endParaRPr kumimoji="1" lang="en-US" altLang="zh-CN" sz="2400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Until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空格 文件名：行数 </a:t>
            </a:r>
            <a:r>
              <a:rPr kumimoji="1"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直到哪</a:t>
            </a:r>
            <a:r>
              <a:rPr kumimoji="1" lang="zh-CN" altLang="en-US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一行停止（跳出循环）</a:t>
            </a:r>
            <a:endParaRPr kumimoji="1" lang="en-US" altLang="zh-CN" sz="2400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registers </a:t>
            </a:r>
            <a:r>
              <a:rPr kumimoji="1" lang="en-US" altLang="zh-CN" sz="2400" b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→</a:t>
            </a:r>
            <a:r>
              <a:rPr kumimoji="1" lang="zh-CN" altLang="en-US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打印所有寄存器</a:t>
            </a:r>
            <a:r>
              <a:rPr kumimoji="1" lang="zh-CN" altLang="en-US" sz="2400" b="1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值</a:t>
            </a:r>
            <a:endParaRPr kumimoji="1" lang="en-US" altLang="zh-CN" sz="2400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2400" b="1" dirty="0">
              <a:solidFill>
                <a:schemeClr val="accent3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88F275D-B22A-A607-EDA9-06338C0739EF}"/>
              </a:ext>
            </a:extLst>
          </p:cNvPr>
          <p:cNvSpPr txBox="1"/>
          <p:nvPr/>
        </p:nvSpPr>
        <p:spPr>
          <a:xfrm>
            <a:off x="779387" y="3968459"/>
            <a:ext cx="52341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CN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Layout</a:t>
            </a:r>
            <a:r>
              <a:rPr kumimoji="1" lang="zh-CN" altLang="en-US" sz="2400" b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系列</a:t>
            </a:r>
            <a:endParaRPr kumimoji="1" lang="en-US" altLang="zh-CN" sz="2400" b="1" dirty="0">
              <a:solidFill>
                <a:schemeClr val="accent5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	layout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显示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【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源代码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】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运行状态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layout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asm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显示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【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汇编代码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】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运行状态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C338F68-39B7-AA90-9B2D-FF082CD4191F}"/>
              </a:ext>
            </a:extLst>
          </p:cNvPr>
          <p:cNvSpPr txBox="1"/>
          <p:nvPr/>
        </p:nvSpPr>
        <p:spPr>
          <a:xfrm>
            <a:off x="980401" y="5488635"/>
            <a:ext cx="6899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(</a:t>
            </a:r>
            <a:r>
              <a:rPr kumimoji="1" lang="zh-CN" altLang="en-US" b="1" dirty="0"/>
              <a:t>碰到</a:t>
            </a:r>
            <a:r>
              <a:rPr kumimoji="1" lang="en" altLang="zh-CN" b="1" dirty="0"/>
              <a:t>core dumped</a:t>
            </a:r>
            <a:r>
              <a:rPr kumimoji="1" lang="zh-CN" altLang="en" b="1" dirty="0"/>
              <a:t>不要慌</a:t>
            </a:r>
            <a:r>
              <a:rPr kumimoji="1" lang="zh-CN" altLang="en-US" b="1" dirty="0"/>
              <a:t>，打开 </a:t>
            </a:r>
            <a:r>
              <a:rPr kumimoji="1" lang="en-US" altLang="zh-CN" b="1" dirty="0"/>
              <a:t>–g</a:t>
            </a:r>
            <a:r>
              <a:rPr kumimoji="1" lang="zh-CN" altLang="en-US" b="1" dirty="0"/>
              <a:t> 编译</a:t>
            </a:r>
            <a:r>
              <a:rPr kumimoji="1" lang="zh-CN" altLang="en-US" b="1"/>
              <a:t>，</a:t>
            </a:r>
            <a:r>
              <a:rPr kumimoji="1" lang="en-US" altLang="zh-CN" b="1"/>
              <a:t>gdb</a:t>
            </a:r>
            <a:r>
              <a:rPr kumimoji="1" lang="zh-CN" altLang="en-US" b="1"/>
              <a:t>一下死在哪里</a:t>
            </a:r>
            <a:r>
              <a:rPr kumimoji="1" lang="en-US" altLang="zh-CN" b="1"/>
              <a:t>)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597287230"/>
      </p:ext>
    </p:extLst>
  </p:cSld>
  <p:clrMapOvr>
    <a:masterClrMapping/>
  </p:clrMapOvr>
  <p:transition spd="slow" advClick="0" advTm="3000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A224878-C13A-40F4-AE81-80A17F13DE3E}"/>
              </a:ext>
            </a:extLst>
          </p:cNvPr>
          <p:cNvSpPr txBox="1"/>
          <p:nvPr/>
        </p:nvSpPr>
        <p:spPr>
          <a:xfrm>
            <a:off x="3008721" y="3075057"/>
            <a:ext cx="61745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spc="200" dirty="0">
                <a:solidFill>
                  <a:schemeClr val="accent1">
                    <a:lumMod val="75000"/>
                  </a:schemeClr>
                </a:solidFill>
              </a:rPr>
              <a:t>Thanks</a:t>
            </a:r>
            <a:endParaRPr lang="zh-CN" altLang="en-US" sz="4000" b="1" spc="2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0C83E1A-48F1-4AD6-A6B5-D725B238B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446" y="2351240"/>
            <a:ext cx="1848822" cy="69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6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8662"/>
  <p:tag name="AS_OS" val="Microsoft Windows NT 6.2.9200.0"/>
  <p:tag name="AS_RELEASE_DATE" val="2018.07.12"/>
  <p:tag name="AS_TITLE" val="Aspose.Slides for .NET 2.0"/>
  <p:tag name="AS_VERSION" val="18.7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4276AA"/>
      </a:accent1>
      <a:accent2>
        <a:srgbClr val="1689A0"/>
      </a:accent2>
      <a:accent3>
        <a:srgbClr val="3FA692"/>
      </a:accent3>
      <a:accent4>
        <a:srgbClr val="5167A4"/>
      </a:accent4>
      <a:accent5>
        <a:srgbClr val="5E5CA2"/>
      </a:accent5>
      <a:accent6>
        <a:srgbClr val="768395"/>
      </a:accent6>
      <a:hlink>
        <a:srgbClr val="4276AA"/>
      </a:hlink>
      <a:folHlink>
        <a:srgbClr val="BFBFBF"/>
      </a:folHlink>
    </a:clrScheme>
    <a:fontScheme name="自定义 1">
      <a:majorFont>
        <a:latin typeface="Century Gothic"/>
        <a:ea typeface="微软雅黑"/>
        <a:cs typeface="Arial"/>
      </a:majorFont>
      <a:minorFont>
        <a:latin typeface="Century Gothic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11201</TotalTime>
  <Words>1215</Words>
  <Application>Microsoft Office PowerPoint</Application>
  <PresentationFormat>宽屏</PresentationFormat>
  <Paragraphs>172</Paragraphs>
  <Slides>19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LMSans10-Regular-Identity-H</vt:lpstr>
      <vt:lpstr>PingFangHK-Regular-Identity-H</vt:lpstr>
      <vt:lpstr>Arial</vt:lpstr>
      <vt:lpstr>Calibri</vt:lpstr>
      <vt:lpstr>Century Gothic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 </Manager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小清新毕业论文答辩PPT模板</dc:title>
  <dc:subject> </dc:subject>
  <dc:creator>极简办公</dc:creator>
  <cp:keywords>www.jjppt.com</cp:keywords>
  <dc:description>www.jjppt.com</dc:description>
  <cp:lastModifiedBy>杉 柏</cp:lastModifiedBy>
  <cp:revision>347</cp:revision>
  <dcterms:created xsi:type="dcterms:W3CDTF">2018-01-29T03:04:35Z</dcterms:created>
  <dcterms:modified xsi:type="dcterms:W3CDTF">2025-10-20T14:21:12Z</dcterms:modified>
  <cp:category> </cp:category>
  <cp:contentStatus> </cp:contentStatus>
  <cp:version>1</cp:version>
</cp:coreProperties>
</file>