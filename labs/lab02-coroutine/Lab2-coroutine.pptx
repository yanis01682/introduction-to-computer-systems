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16" r:id="rId3"/>
    <p:sldId id="281" r:id="rId4"/>
    <p:sldId id="282" r:id="rId5"/>
    <p:sldId id="283" r:id="rId6"/>
    <p:sldId id="285" r:id="rId7"/>
    <p:sldId id="300" r:id="rId8"/>
    <p:sldId id="304" r:id="rId9"/>
    <p:sldId id="313" r:id="rId10"/>
    <p:sldId id="301" r:id="rId11"/>
    <p:sldId id="312" r:id="rId12"/>
    <p:sldId id="302" r:id="rId13"/>
    <p:sldId id="303" r:id="rId14"/>
    <p:sldId id="299"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C7C5"/>
    <a:srgbClr val="6B6ED9"/>
    <a:srgbClr val="D0ACD9"/>
    <a:srgbClr val="D1B2D9"/>
    <a:srgbClr val="6D4CD9"/>
    <a:srgbClr val="0C886A"/>
    <a:srgbClr val="576271"/>
    <a:srgbClr val="106778"/>
    <a:srgbClr val="31597F"/>
    <a:srgbClr val="2F7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929F9F4-4A8F-4326-A1B4-22849713DDAB}" styleName="深色样式 1 - 强调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9" autoAdjust="0"/>
    <p:restoredTop sz="77157" autoAdjust="0"/>
  </p:normalViewPr>
  <p:slideViewPr>
    <p:cSldViewPr snapToGrid="0" showGuides="1">
      <p:cViewPr varScale="1">
        <p:scale>
          <a:sx n="122" d="100"/>
          <a:sy n="122" d="100"/>
        </p:scale>
        <p:origin x="1434" y="108"/>
      </p:cViewPr>
      <p:guideLst>
        <p:guide orient="horz" pos="2160"/>
        <p:guide pos="3863"/>
      </p:guideLst>
    </p:cSldViewPr>
  </p:slideViewPr>
  <p:notesTextViewPr>
    <p:cViewPr>
      <p:scale>
        <a:sx n="1" d="1"/>
        <a:sy n="1" d="1"/>
      </p:scale>
      <p:origin x="0" y="0"/>
    </p:cViewPr>
  </p:notesTextViewPr>
  <p:notesViewPr>
    <p:cSldViewPr>
      <p:cViewPr>
        <p:scale>
          <a:sx n="66" d="100"/>
          <a:sy n="66" d="100"/>
        </p:scale>
        <p:origin x="4352" y="7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72E338-737C-4C2D-9DB3-AD5A98C8FA53}"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D198D7-57E4-48F7-9E4B-1EF67AFE647E}" type="slidenum">
              <a:rPr lang="zh-CN" altLang="en-US" smtClean="0"/>
              <a:t>‹#›</a:t>
            </a:fld>
            <a:endParaRPr lang="zh-CN" altLang="en-US"/>
          </a:p>
        </p:txBody>
      </p:sp>
    </p:spTree>
    <p:extLst>
      <p:ext uri="{BB962C8B-B14F-4D97-AF65-F5344CB8AC3E}">
        <p14:creationId xmlns:p14="http://schemas.microsoft.com/office/powerpoint/2010/main" val="2407130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DD198D7-57E4-48F7-9E4B-1EF67AFE647E}" type="slidenum">
              <a:rPr lang="zh-CN" altLang="en-US" smtClean="0"/>
              <a:t>1</a:t>
            </a:fld>
            <a:endParaRPr lang="zh-CN" altLang="en-US"/>
          </a:p>
        </p:txBody>
      </p:sp>
    </p:spTree>
    <p:extLst>
      <p:ext uri="{BB962C8B-B14F-4D97-AF65-F5344CB8AC3E}">
        <p14:creationId xmlns:p14="http://schemas.microsoft.com/office/powerpoint/2010/main" val="745424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函数执行线程：栈</a:t>
            </a:r>
            <a:r>
              <a:rPr lang="en-US" altLang="zh-CN" dirty="0"/>
              <a:t>+</a:t>
            </a:r>
            <a:r>
              <a:rPr lang="zh-CN" altLang="en-US" dirty="0"/>
              <a:t>寄存器状态</a:t>
            </a:r>
          </a:p>
        </p:txBody>
      </p:sp>
      <p:sp>
        <p:nvSpPr>
          <p:cNvPr id="4" name="灯片编号占位符 3"/>
          <p:cNvSpPr>
            <a:spLocks noGrp="1"/>
          </p:cNvSpPr>
          <p:nvPr>
            <p:ph type="sldNum" sz="quarter" idx="5"/>
          </p:nvPr>
        </p:nvSpPr>
        <p:spPr/>
        <p:txBody>
          <a:bodyPr/>
          <a:lstStyle/>
          <a:p>
            <a:fld id="{5DD198D7-57E4-48F7-9E4B-1EF67AFE647E}" type="slidenum">
              <a:rPr lang="zh-CN" altLang="en-US" smtClean="0"/>
              <a:t>2</a:t>
            </a:fld>
            <a:endParaRPr lang="zh-CN" altLang="en-US"/>
          </a:p>
        </p:txBody>
      </p:sp>
    </p:spTree>
    <p:extLst>
      <p:ext uri="{BB962C8B-B14F-4D97-AF65-F5344CB8AC3E}">
        <p14:creationId xmlns:p14="http://schemas.microsoft.com/office/powerpoint/2010/main" val="1680245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依据 </a:t>
            </a:r>
            <a:r>
              <a:rPr lang="en-US" altLang="zh-CN" dirty="0"/>
              <a:t>CPU </a:t>
            </a:r>
            <a:r>
              <a:rPr lang="zh-CN" altLang="en-US" dirty="0"/>
              <a:t>的存储层次结构（</a:t>
            </a:r>
            <a:r>
              <a:rPr lang="en-US" altLang="zh-CN" dirty="0"/>
              <a:t>memory hierarchy</a:t>
            </a:r>
            <a:r>
              <a:rPr lang="zh-CN" altLang="en-US" dirty="0"/>
              <a:t>），我们追求的是</a:t>
            </a:r>
            <a:r>
              <a:rPr lang="zh-CN" altLang="en-US" b="1" dirty="0"/>
              <a:t>更大的存储容量</a:t>
            </a:r>
            <a:r>
              <a:rPr lang="zh-CN" altLang="en-US" dirty="0"/>
              <a:t>与</a:t>
            </a:r>
            <a:r>
              <a:rPr lang="zh-CN" altLang="en-US" b="1" dirty="0"/>
              <a:t>更快的访问速度</a:t>
            </a:r>
            <a:r>
              <a:rPr lang="zh-CN" altLang="en-US" dirty="0"/>
              <a:t>。</a:t>
            </a:r>
            <a:br>
              <a:rPr lang="zh-CN" altLang="en-US" dirty="0"/>
            </a:br>
            <a:r>
              <a:rPr lang="zh-CN" altLang="en-US" dirty="0"/>
              <a:t>然而，这两者位于金字塔的两端</a:t>
            </a:r>
            <a:r>
              <a:rPr lang="en-US" altLang="zh-CN" dirty="0"/>
              <a:t>——</a:t>
            </a:r>
            <a:r>
              <a:rPr lang="zh-CN" altLang="en-US" dirty="0"/>
              <a:t>容量越大、速度越慢；速度越快、成本越高。</a:t>
            </a:r>
          </a:p>
          <a:p>
            <a:r>
              <a:rPr lang="zh-CN" altLang="en-US" dirty="0"/>
              <a:t>因此，现代计算机系统采用分层存储结构：越靠上的层（如寄存器、</a:t>
            </a:r>
            <a:r>
              <a:rPr lang="en-US" altLang="zh-CN" dirty="0"/>
              <a:t>Cache</a:t>
            </a:r>
            <a:r>
              <a:rPr lang="zh-CN" altLang="en-US" dirty="0"/>
              <a:t>）速度更快但容量更小，越靠下的层（如 </a:t>
            </a:r>
            <a:r>
              <a:rPr lang="en-US" altLang="zh-CN" dirty="0"/>
              <a:t>DRAM</a:t>
            </a:r>
            <a:r>
              <a:rPr lang="zh-CN" altLang="en-US" dirty="0"/>
              <a:t>、磁盘、网络存储）容量更大但访问更慢。</a:t>
            </a:r>
            <a:br>
              <a:rPr lang="zh-CN" altLang="en-US" dirty="0"/>
            </a:br>
            <a:r>
              <a:rPr lang="zh-CN" altLang="en-US" dirty="0"/>
              <a:t>程序执行时，数据应尽可能保留在上层存储中，只有当上层缺失时，才向下层访问。</a:t>
            </a:r>
          </a:p>
          <a:p>
            <a:r>
              <a:rPr lang="zh-CN" altLang="en-US" dirty="0"/>
              <a:t>这种机制的高效运行依赖于</a:t>
            </a:r>
            <a:r>
              <a:rPr lang="zh-CN" altLang="en-US" b="1" dirty="0"/>
              <a:t>程序的局部性原理</a:t>
            </a:r>
            <a:r>
              <a:rPr lang="en-US" altLang="zh-CN" dirty="0"/>
              <a:t>——</a:t>
            </a:r>
            <a:r>
              <a:rPr lang="zh-CN" altLang="en-US" dirty="0"/>
              <a:t>时间局部性和空间局部性，使得最近访问的数据和相邻数据更有可能被重用。</a:t>
            </a:r>
            <a:endParaRPr lang="en-US" altLang="zh-CN" dirty="0"/>
          </a:p>
          <a:p>
            <a:r>
              <a:rPr lang="zh-CN" altLang="en-US" dirty="0"/>
              <a:t>不过巨大的差异可能使该机制效率下降，如</a:t>
            </a:r>
            <a:r>
              <a:rPr lang="en-US" altLang="zh-CN" dirty="0"/>
              <a:t>L4</a:t>
            </a:r>
            <a:r>
              <a:rPr lang="zh-CN" altLang="en-US" dirty="0"/>
              <a:t>到</a:t>
            </a:r>
            <a:r>
              <a:rPr lang="en-US" altLang="zh-CN" dirty="0"/>
              <a:t>L5</a:t>
            </a:r>
            <a:r>
              <a:rPr lang="zh-CN" altLang="en-US" dirty="0"/>
              <a:t>访存延迟大约</a:t>
            </a:r>
            <a:r>
              <a:rPr lang="en-US" altLang="zh-CN" dirty="0"/>
              <a:t>3000</a:t>
            </a:r>
            <a:r>
              <a:rPr lang="zh-CN" altLang="en-US" dirty="0"/>
              <a:t>倍，如果</a:t>
            </a:r>
            <a:r>
              <a:rPr lang="en-US" altLang="zh-CN" dirty="0"/>
              <a:t>DRAM</a:t>
            </a:r>
            <a:r>
              <a:rPr lang="zh-CN" altLang="en-US" dirty="0"/>
              <a:t>有</a:t>
            </a:r>
            <a:r>
              <a:rPr lang="en-US" altLang="zh-CN" dirty="0"/>
              <a:t>0.1%</a:t>
            </a:r>
            <a:r>
              <a:rPr lang="zh-CN" altLang="en-US" dirty="0"/>
              <a:t>的缺失率，平均访存延迟将变为</a:t>
            </a:r>
            <a:r>
              <a:rPr lang="en-US" altLang="zh-CN" dirty="0"/>
              <a:t>99.9%*300+0.1%*10^6 ~ 1300cycle </a:t>
            </a:r>
          </a:p>
          <a:p>
            <a:r>
              <a:rPr lang="zh-CN" altLang="en-US" dirty="0"/>
              <a:t>因此除了硬件本身的机制外，软件也可以意识到不同层次之间的延迟差异提出对应的编程模型来掩盖其中的延迟，例如协程（线程）切换 就可以用来减缓</a:t>
            </a:r>
            <a:r>
              <a:rPr lang="en-US" altLang="zh-CN" dirty="0"/>
              <a:t>L5</a:t>
            </a:r>
            <a:r>
              <a:rPr lang="zh-CN" altLang="en-US" dirty="0"/>
              <a:t>到</a:t>
            </a:r>
            <a:r>
              <a:rPr lang="en-US" altLang="zh-CN" dirty="0"/>
              <a:t>L4</a:t>
            </a:r>
            <a:r>
              <a:rPr lang="zh-CN" altLang="en-US" dirty="0"/>
              <a:t>之间的巨大访存差异。</a:t>
            </a:r>
          </a:p>
        </p:txBody>
      </p:sp>
      <p:sp>
        <p:nvSpPr>
          <p:cNvPr id="4" name="灯片编号占位符 3"/>
          <p:cNvSpPr>
            <a:spLocks noGrp="1"/>
          </p:cNvSpPr>
          <p:nvPr>
            <p:ph type="sldNum" sz="quarter" idx="5"/>
          </p:nvPr>
        </p:nvSpPr>
        <p:spPr/>
        <p:txBody>
          <a:bodyPr/>
          <a:lstStyle/>
          <a:p>
            <a:fld id="{5DD198D7-57E4-48F7-9E4B-1EF67AFE647E}" type="slidenum">
              <a:rPr lang="zh-CN" altLang="en-US" smtClean="0"/>
              <a:t>3</a:t>
            </a:fld>
            <a:endParaRPr lang="zh-CN" altLang="en-US"/>
          </a:p>
        </p:txBody>
      </p:sp>
    </p:spTree>
    <p:extLst>
      <p:ext uri="{BB962C8B-B14F-4D97-AF65-F5344CB8AC3E}">
        <p14:creationId xmlns:p14="http://schemas.microsoft.com/office/powerpoint/2010/main" val="1657402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DD198D7-57E4-48F7-9E4B-1EF67AFE647E}" type="slidenum">
              <a:rPr lang="zh-CN" altLang="en-US" smtClean="0"/>
              <a:t>4</a:t>
            </a:fld>
            <a:endParaRPr lang="zh-CN" altLang="en-US"/>
          </a:p>
        </p:txBody>
      </p:sp>
    </p:spTree>
    <p:extLst>
      <p:ext uri="{BB962C8B-B14F-4D97-AF65-F5344CB8AC3E}">
        <p14:creationId xmlns:p14="http://schemas.microsoft.com/office/powerpoint/2010/main" val="2559604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DD198D7-57E4-48F7-9E4B-1EF67AFE647E}" type="slidenum">
              <a:rPr lang="zh-CN" altLang="en-US" smtClean="0"/>
              <a:t>5</a:t>
            </a:fld>
            <a:endParaRPr lang="zh-CN" altLang="en-US"/>
          </a:p>
        </p:txBody>
      </p:sp>
    </p:spTree>
    <p:extLst>
      <p:ext uri="{BB962C8B-B14F-4D97-AF65-F5344CB8AC3E}">
        <p14:creationId xmlns:p14="http://schemas.microsoft.com/office/powerpoint/2010/main" val="498468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DD198D7-57E4-48F7-9E4B-1EF67AFE647E}" type="slidenum">
              <a:rPr lang="zh-CN" altLang="en-US" smtClean="0"/>
              <a:t>8</a:t>
            </a:fld>
            <a:endParaRPr lang="zh-CN" altLang="en-US"/>
          </a:p>
        </p:txBody>
      </p:sp>
    </p:spTree>
    <p:extLst>
      <p:ext uri="{BB962C8B-B14F-4D97-AF65-F5344CB8AC3E}">
        <p14:creationId xmlns:p14="http://schemas.microsoft.com/office/powerpoint/2010/main" val="1326054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我们希望的是协程切换时间小于</a:t>
            </a:r>
            <a:r>
              <a:rPr lang="en-US" altLang="zh-CN" dirty="0"/>
              <a:t>DRAM</a:t>
            </a:r>
            <a:r>
              <a:rPr lang="zh-CN" altLang="en-US" dirty="0"/>
              <a:t>（</a:t>
            </a:r>
            <a:r>
              <a:rPr lang="en-US" altLang="zh-CN"/>
              <a:t>cache miss</a:t>
            </a:r>
            <a:r>
              <a:rPr lang="zh-CN" altLang="en-US"/>
              <a:t>）访</a:t>
            </a:r>
            <a:r>
              <a:rPr lang="zh-CN" altLang="en-US" dirty="0"/>
              <a:t>存的时间，这样就可以将本来访存等待</a:t>
            </a:r>
            <a:r>
              <a:rPr lang="en-US" altLang="zh-CN" dirty="0"/>
              <a:t>DRAM</a:t>
            </a:r>
            <a:r>
              <a:rPr lang="zh-CN" altLang="en-US" dirty="0"/>
              <a:t>的时间</a:t>
            </a:r>
            <a:r>
              <a:rPr lang="en-US" altLang="zh-CN" dirty="0"/>
              <a:t>(cache miss)</a:t>
            </a:r>
            <a:r>
              <a:rPr lang="zh-CN" altLang="en-US" dirty="0"/>
              <a:t>变为使用</a:t>
            </a:r>
            <a:r>
              <a:rPr lang="en-US" altLang="zh-CN" dirty="0"/>
              <a:t>prefetch + </a:t>
            </a:r>
            <a:r>
              <a:rPr lang="zh-CN" altLang="en-US" dirty="0"/>
              <a:t>协程切换，去做下一个协程的二分搜索</a:t>
            </a:r>
          </a:p>
        </p:txBody>
      </p:sp>
      <p:sp>
        <p:nvSpPr>
          <p:cNvPr id="4" name="灯片编号占位符 3"/>
          <p:cNvSpPr>
            <a:spLocks noGrp="1"/>
          </p:cNvSpPr>
          <p:nvPr>
            <p:ph type="sldNum" sz="quarter" idx="5"/>
          </p:nvPr>
        </p:nvSpPr>
        <p:spPr/>
        <p:txBody>
          <a:bodyPr/>
          <a:lstStyle/>
          <a:p>
            <a:fld id="{5DD198D7-57E4-48F7-9E4B-1EF67AFE647E}" type="slidenum">
              <a:rPr lang="zh-CN" altLang="en-US" smtClean="0"/>
              <a:t>13</a:t>
            </a:fld>
            <a:endParaRPr lang="zh-CN" altLang="en-US"/>
          </a:p>
        </p:txBody>
      </p:sp>
    </p:spTree>
    <p:extLst>
      <p:ext uri="{BB962C8B-B14F-4D97-AF65-F5344CB8AC3E}">
        <p14:creationId xmlns:p14="http://schemas.microsoft.com/office/powerpoint/2010/main" val="42880824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lumMod val="75000"/>
          </a:schemeClr>
        </a:solid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6629FB4-6B33-4A4C-B4E4-4CD115646320}"/>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D742242-CDFE-407B-91AB-D578A24611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BBD3A0-F76C-4A9E-B820-AC54FCA210A9}"/>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
        <p:nvSpPr>
          <p:cNvPr id="7" name="矩形 6">
            <a:extLst>
              <a:ext uri="{FF2B5EF4-FFF2-40B4-BE49-F238E27FC236}">
                <a16:creationId xmlns:a16="http://schemas.microsoft.com/office/drawing/2014/main" id="{9240FA0D-F2CD-403D-8A66-36A81CC4C839}"/>
              </a:ext>
            </a:extLst>
          </p:cNvPr>
          <p:cNvSpPr/>
          <p:nvPr userDrawn="1"/>
        </p:nvSpPr>
        <p:spPr>
          <a:xfrm>
            <a:off x="316871" y="289711"/>
            <a:ext cx="11579382" cy="6264998"/>
          </a:xfrm>
          <a:prstGeom prst="rect">
            <a:avLst/>
          </a:prstGeom>
          <a:solidFill>
            <a:schemeClr val="bg1"/>
          </a:soli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A279EF67-3C11-47AB-A3B7-7B25261EE4D7}"/>
              </a:ext>
            </a:extLst>
          </p:cNvPr>
          <p:cNvPicPr>
            <a:picLocks noChangeAspect="1"/>
          </p:cNvPicPr>
          <p:nvPr userDrawn="1"/>
        </p:nvPicPr>
        <p:blipFill>
          <a:blip r:embed="rId2"/>
          <a:srcRect r="47296"/>
          <a:stretch>
            <a:fillRect/>
          </a:stretch>
        </p:blipFill>
        <p:spPr>
          <a:xfrm>
            <a:off x="8949493" y="727072"/>
            <a:ext cx="2939989" cy="5474682"/>
          </a:xfrm>
          <a:prstGeom prst="rect">
            <a:avLst/>
          </a:prstGeom>
        </p:spPr>
      </p:pic>
      <p:pic>
        <p:nvPicPr>
          <p:cNvPr id="9" name="图片 8">
            <a:extLst>
              <a:ext uri="{FF2B5EF4-FFF2-40B4-BE49-F238E27FC236}">
                <a16:creationId xmlns:a16="http://schemas.microsoft.com/office/drawing/2014/main" id="{A4217E98-1B13-4583-B260-F711060618CC}"/>
              </a:ext>
            </a:extLst>
          </p:cNvPr>
          <p:cNvPicPr>
            <a:picLocks noChangeAspect="1"/>
          </p:cNvPicPr>
          <p:nvPr userDrawn="1"/>
        </p:nvPicPr>
        <p:blipFill>
          <a:blip r:embed="rId2"/>
          <a:srcRect r="47296"/>
          <a:stretch>
            <a:fillRect/>
          </a:stretch>
        </p:blipFill>
        <p:spPr>
          <a:xfrm flipH="1">
            <a:off x="302518" y="727072"/>
            <a:ext cx="2939989" cy="5474682"/>
          </a:xfrm>
          <a:prstGeom prst="rect">
            <a:avLst/>
          </a:prstGeom>
        </p:spPr>
      </p:pic>
    </p:spTree>
    <p:extLst>
      <p:ext uri="{BB962C8B-B14F-4D97-AF65-F5344CB8AC3E}">
        <p14:creationId xmlns:p14="http://schemas.microsoft.com/office/powerpoint/2010/main" val="1766084899"/>
      </p:ext>
    </p:extLst>
  </p:cSld>
  <p:clrMapOvr>
    <a:masterClrMapping/>
  </p:clrMapOvr>
  <p:transition spd="slow" advClick="0" advTm="3000">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accent1">
            <a:lumMod val="75000"/>
          </a:schemeClr>
        </a:solid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6629FB4-6B33-4A4C-B4E4-4CD115646320}"/>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D742242-CDFE-407B-91AB-D578A24611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BBD3A0-F76C-4A9E-B820-AC54FCA210A9}"/>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
        <p:nvSpPr>
          <p:cNvPr id="7" name="矩形 6">
            <a:extLst>
              <a:ext uri="{FF2B5EF4-FFF2-40B4-BE49-F238E27FC236}">
                <a16:creationId xmlns:a16="http://schemas.microsoft.com/office/drawing/2014/main" id="{9240FA0D-F2CD-403D-8A66-36A81CC4C839}"/>
              </a:ext>
            </a:extLst>
          </p:cNvPr>
          <p:cNvSpPr/>
          <p:nvPr userDrawn="1"/>
        </p:nvSpPr>
        <p:spPr>
          <a:xfrm>
            <a:off x="316871" y="289711"/>
            <a:ext cx="11579382" cy="6264998"/>
          </a:xfrm>
          <a:prstGeom prst="rect">
            <a:avLst/>
          </a:prstGeom>
          <a:solidFill>
            <a:schemeClr val="bg1"/>
          </a:soli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6CA380CD-061A-46F1-BBE3-A49FA9DA4CF2}"/>
              </a:ext>
            </a:extLst>
          </p:cNvPr>
          <p:cNvPicPr>
            <a:picLocks noChangeAspect="1"/>
          </p:cNvPicPr>
          <p:nvPr userDrawn="1"/>
        </p:nvPicPr>
        <p:blipFill>
          <a:blip r:embed="rId2"/>
          <a:stretch>
            <a:fillRect/>
          </a:stretch>
        </p:blipFill>
        <p:spPr>
          <a:xfrm>
            <a:off x="10333513" y="359986"/>
            <a:ext cx="1541616" cy="576837"/>
          </a:xfrm>
          <a:prstGeom prst="rect">
            <a:avLst/>
          </a:prstGeom>
        </p:spPr>
      </p:pic>
      <p:pic>
        <p:nvPicPr>
          <p:cNvPr id="9" name="图片 8">
            <a:extLst>
              <a:ext uri="{FF2B5EF4-FFF2-40B4-BE49-F238E27FC236}">
                <a16:creationId xmlns:a16="http://schemas.microsoft.com/office/drawing/2014/main" id="{F52B4CA0-3740-484A-AC3B-4809F4A224FA}"/>
              </a:ext>
            </a:extLst>
          </p:cNvPr>
          <p:cNvPicPr>
            <a:picLocks noChangeAspect="1"/>
          </p:cNvPicPr>
          <p:nvPr userDrawn="1"/>
        </p:nvPicPr>
        <p:blipFill>
          <a:blip r:embed="rId3"/>
          <a:srcRect l="-1" t="1" r="19505" b="45156"/>
          <a:stretch>
            <a:fillRect/>
          </a:stretch>
        </p:blipFill>
        <p:spPr>
          <a:xfrm>
            <a:off x="7405974" y="3552234"/>
            <a:ext cx="4490280" cy="3002475"/>
          </a:xfrm>
          <a:prstGeom prst="rect">
            <a:avLst/>
          </a:prstGeom>
        </p:spPr>
      </p:pic>
    </p:spTree>
    <p:extLst>
      <p:ext uri="{BB962C8B-B14F-4D97-AF65-F5344CB8AC3E}">
        <p14:creationId xmlns:p14="http://schemas.microsoft.com/office/powerpoint/2010/main" val="4223443200"/>
      </p:ext>
    </p:extLst>
  </p:cSld>
  <p:clrMapOvr>
    <a:masterClrMapping/>
  </p:clrMapOvr>
  <p:transition spd="slow" advClick="0" advTm="3000">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accent1">
            <a:lumMod val="75000"/>
          </a:schemeClr>
        </a:solid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6629FB4-6B33-4A4C-B4E4-4CD115646320}"/>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D742242-CDFE-407B-91AB-D578A24611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BBD3A0-F76C-4A9E-B820-AC54FCA210A9}"/>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
        <p:nvSpPr>
          <p:cNvPr id="7" name="矩形 6">
            <a:extLst>
              <a:ext uri="{FF2B5EF4-FFF2-40B4-BE49-F238E27FC236}">
                <a16:creationId xmlns:a16="http://schemas.microsoft.com/office/drawing/2014/main" id="{9240FA0D-F2CD-403D-8A66-36A81CC4C839}"/>
              </a:ext>
            </a:extLst>
          </p:cNvPr>
          <p:cNvSpPr/>
          <p:nvPr userDrawn="1"/>
        </p:nvSpPr>
        <p:spPr>
          <a:xfrm>
            <a:off x="316871" y="289711"/>
            <a:ext cx="11579382" cy="6264998"/>
          </a:xfrm>
          <a:prstGeom prst="rect">
            <a:avLst/>
          </a:prstGeom>
          <a:solidFill>
            <a:schemeClr val="bg1"/>
          </a:soli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6CA380CD-061A-46F1-BBE3-A49FA9DA4CF2}"/>
              </a:ext>
            </a:extLst>
          </p:cNvPr>
          <p:cNvPicPr>
            <a:picLocks noChangeAspect="1"/>
          </p:cNvPicPr>
          <p:nvPr userDrawn="1"/>
        </p:nvPicPr>
        <p:blipFill>
          <a:blip r:embed="rId2"/>
          <a:stretch>
            <a:fillRect/>
          </a:stretch>
        </p:blipFill>
        <p:spPr>
          <a:xfrm>
            <a:off x="10333513" y="359986"/>
            <a:ext cx="1541616" cy="576837"/>
          </a:xfrm>
          <a:prstGeom prst="rect">
            <a:avLst/>
          </a:prstGeom>
        </p:spPr>
      </p:pic>
      <p:pic>
        <p:nvPicPr>
          <p:cNvPr id="9" name="图片 8">
            <a:extLst>
              <a:ext uri="{FF2B5EF4-FFF2-40B4-BE49-F238E27FC236}">
                <a16:creationId xmlns:a16="http://schemas.microsoft.com/office/drawing/2014/main" id="{F52B4CA0-3740-484A-AC3B-4809F4A224FA}"/>
              </a:ext>
            </a:extLst>
          </p:cNvPr>
          <p:cNvPicPr>
            <a:picLocks noChangeAspect="1"/>
          </p:cNvPicPr>
          <p:nvPr userDrawn="1"/>
        </p:nvPicPr>
        <p:blipFill>
          <a:blip r:embed="rId3"/>
          <a:srcRect l="22634" t="1" r="-694" b="34713"/>
          <a:stretch>
            <a:fillRect/>
          </a:stretch>
        </p:blipFill>
        <p:spPr>
          <a:xfrm>
            <a:off x="316870" y="3177192"/>
            <a:ext cx="4114799" cy="3377518"/>
          </a:xfrm>
          <a:prstGeom prst="rect">
            <a:avLst/>
          </a:prstGeom>
        </p:spPr>
      </p:pic>
    </p:spTree>
    <p:extLst>
      <p:ext uri="{BB962C8B-B14F-4D97-AF65-F5344CB8AC3E}">
        <p14:creationId xmlns:p14="http://schemas.microsoft.com/office/powerpoint/2010/main" val="2612875404"/>
      </p:ext>
    </p:extLst>
  </p:cSld>
  <p:clrMapOvr>
    <a:masterClrMapping/>
  </p:clrMapOvr>
  <p:transition spd="slow" advClick="0" advTm="3000">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7D95E9-569D-4587-B35B-D855FC2B9D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0BCCCC6-A151-4D39-A65B-5E8EA6142A43}"/>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1AD83DF-4917-4E44-B4C7-4C582A14C4E4}"/>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377753D-0915-481C-B168-139E831311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B42767-8D39-46E1-BECB-D0125C7FE33B}"/>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4202402258"/>
      </p:ext>
    </p:extLst>
  </p:cSld>
  <p:clrMapOvr>
    <a:masterClrMapping/>
  </p:clrMapOvr>
  <p:transition spd="slow" advClick="0" advTm="3000">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B721CF-6B2F-497D-9E13-CD64E56D6AA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F9459DE-3A75-44F6-A69C-99FC0AE867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9638B03C-5777-41EC-8312-90CB5792A5C7}"/>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FE48E79-3E22-44D3-A933-5BB6EC04F8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B3BD72-6A83-4515-AC23-35A1A2F81FB3}"/>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646984075"/>
      </p:ext>
    </p:extLst>
  </p:cSld>
  <p:clrMapOvr>
    <a:masterClrMapping/>
  </p:clrMapOvr>
  <p:transition spd="slow" advClick="0" advTm="3000">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13517-51D7-41D2-807F-D5C4000E6E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89E502-A12A-432D-9469-5E4049F83ACA}"/>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82C21-3212-4560-BFAA-6111354FB09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94369414-0C3C-41CD-A256-E8A2D0F2AD87}"/>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474E817E-36C9-4BB2-9CFF-0201771CB0B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094540-8793-44BB-8C7F-294DC9BE33C6}"/>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2931992961"/>
      </p:ext>
    </p:extLst>
  </p:cSld>
  <p:clrMapOvr>
    <a:masterClrMapping/>
  </p:clrMapOvr>
  <p:transition spd="slow" advClick="0" advTm="3000">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99BA8-2500-48D2-9E1F-D4F4359A0A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947C996-9B6B-42F6-A0A7-D4ABBE17A9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CCD1895-30DA-4A66-945E-AEB822C666B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F5758DC-DD2F-42D0-B342-66EC7BC24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701B0ED-69CC-4C09-BE22-58FBE1769ABF}"/>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0D98408D-A3A6-4341-B860-83B59538944B}"/>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FC02221E-4B38-49E1-8D8C-275A00E2F1C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D8D6144-C297-4103-9BA7-251E7DF87161}"/>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2174499496"/>
      </p:ext>
    </p:extLst>
  </p:cSld>
  <p:clrMapOvr>
    <a:masterClrMapping/>
  </p:clrMapOvr>
  <p:transition spd="slow" advClick="0" advTm="3000">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EE8548-92A4-4FE0-90D0-4011CC8BD6E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CBB7081-0E91-47EE-AED7-354F54D58D4A}"/>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629C43A0-19ED-4A5A-8358-3875A4FDFB2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F623BA1-6E87-4C48-8824-FE51B9695B7A}"/>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3438766957"/>
      </p:ext>
    </p:extLst>
  </p:cSld>
  <p:clrMapOvr>
    <a:masterClrMapping/>
  </p:clrMapOvr>
  <p:transition spd="slow" advClick="0" advTm="3000">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116D1E0-9648-43E4-A064-0BE8B3C11E16}"/>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02E63C25-0254-4D86-88A7-E0CEAD93321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5409FA2-ED11-4EF2-B1ED-247E8FAC84C7}"/>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2090320263"/>
      </p:ext>
    </p:extLst>
  </p:cSld>
  <p:clrMapOvr>
    <a:masterClrMapping/>
  </p:clrMapOvr>
  <p:transition spd="slow" advClick="0" advTm="3000">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3BD16C-0AA7-40BE-A65D-4391DD25FF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234B639-DA3A-4577-9190-C864B0AEC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15F05B8-D6C7-4B91-B1FB-0E5BEE873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60B3968-DA5D-4448-BD63-8B3499DCE893}"/>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B5A44716-A07F-4640-9EE1-A1D8B6996A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CC6BB2-ED07-4B97-B6E7-EE6CD5E11D98}"/>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1431773293"/>
      </p:ext>
    </p:extLst>
  </p:cSld>
  <p:clrMapOvr>
    <a:masterClrMapping/>
  </p:clrMapOvr>
  <p:transition spd="slow" advClick="0" advTm="3000">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71E45C-2E71-4D05-A7F8-F35164F5C5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C35C6C4-2023-406E-A736-AA55A7CEA9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81A8997-BC5A-48D6-9E23-C7A0721832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3E6131D-D4C5-4445-896A-AB55875C4728}"/>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4C8A2057-D5EF-402F-80AE-46A72EFB5F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7EA84B9-37CE-4B11-92AC-2CA500D7066D}"/>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1671692094"/>
      </p:ext>
    </p:extLst>
  </p:cSld>
  <p:clrMapOvr>
    <a:masterClrMapping/>
  </p:clrMapOvr>
  <p:transition spd="slow" advClick="0" advTm="3000">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8D04C-0C74-4369-AAD3-4EAFEEDDB1F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A42B6F5-B481-46F7-B61E-2A3565A6470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88AB71A-B1FF-4574-B2DA-0C116EBEC4A2}"/>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F3698BCD-D1F2-4925-B8D0-8FB1ABB64E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29DA09-1581-4878-B5F8-7CF065DD1E6F}"/>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1713027909"/>
      </p:ext>
    </p:extLst>
  </p:cSld>
  <p:clrMapOvr>
    <a:masterClrMapping/>
  </p:clrMapOvr>
  <p:transition spd="slow" advClick="0" advTm="3000">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B83804D-2D75-4271-8051-1C33080B26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91DE36A-D0A3-4320-8CD1-37B7B7209A3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0934080-1AEF-4FE3-BE4E-F48BEED532D5}"/>
              </a:ext>
            </a:extLst>
          </p:cNvPr>
          <p:cNvSpPr>
            <a:spLocks noGrp="1"/>
          </p:cNvSpPr>
          <p:nvPr>
            <p:ph type="dt" sz="half" idx="10"/>
          </p:nvPr>
        </p:nvSpPr>
        <p:spPr/>
        <p:txBody>
          <a:body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06083D8-1208-4C73-8C18-55010CD005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9A80B6-D521-4468-B679-36FBF285541B}"/>
              </a:ext>
            </a:extLst>
          </p:cNvPr>
          <p:cNvSpPr>
            <a:spLocks noGrp="1"/>
          </p:cNvSpPr>
          <p:nvPr>
            <p:ph type="sldNum" sz="quarter" idx="12"/>
          </p:nvPr>
        </p:nvSpPr>
        <p:spPr/>
        <p:txBody>
          <a:body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63197241"/>
      </p:ext>
    </p:extLst>
  </p:cSld>
  <p:clrMapOvr>
    <a:masterClrMapping/>
  </p:clrMapOvr>
  <p:transition spd="slow" advClick="0" advTm="3000">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B8F331-B0ED-4EE2-96F7-EE272B20D5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4C595-119F-40BF-A9B7-3C65F4113D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4092C92-41A5-45A4-A324-DCE810C5F1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038BC5-6867-479C-BF5B-03208C4C527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A40EA19-D7E8-4291-AD8A-2743E70662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B5DBD46-7624-4A18-9649-492A64A4E4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55C41-0F9D-4697-9AE9-E9B3A6ABBF37}" type="slidenum">
              <a:rPr lang="zh-CN" altLang="en-US" smtClean="0"/>
              <a:t>‹#›</a:t>
            </a:fld>
            <a:endParaRPr lang="zh-CN" altLang="en-US"/>
          </a:p>
        </p:txBody>
      </p:sp>
    </p:spTree>
    <p:extLst>
      <p:ext uri="{BB962C8B-B14F-4D97-AF65-F5344CB8AC3E}">
        <p14:creationId xmlns:p14="http://schemas.microsoft.com/office/powerpoint/2010/main" val="278478716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spd="slow" advClick="0" advTm="3000">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bilibili.com/video/BV1b5411b7SD/?spm_id_from=333.337.search-card.all.click&amp;vd_source=24bf866712cea6368bf09110d16d89e1"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zhuanlan.zhihu.com/p/7025697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224878-C13A-40F4-AE81-80A17F13DE3E}"/>
              </a:ext>
            </a:extLst>
          </p:cNvPr>
          <p:cNvSpPr txBox="1"/>
          <p:nvPr/>
        </p:nvSpPr>
        <p:spPr>
          <a:xfrm>
            <a:off x="715698" y="1926484"/>
            <a:ext cx="10048211" cy="1323439"/>
          </a:xfrm>
          <a:prstGeom prst="rect">
            <a:avLst/>
          </a:prstGeom>
          <a:noFill/>
        </p:spPr>
        <p:txBody>
          <a:bodyPr wrap="square" rtlCol="0">
            <a:spAutoFit/>
          </a:bodyPr>
          <a:lstStyle/>
          <a:p>
            <a:pPr algn="ctr"/>
            <a:r>
              <a:rPr lang="zh-CN" altLang="en-US" sz="4000" b="1" spc="200" dirty="0">
                <a:solidFill>
                  <a:schemeClr val="accent3"/>
                </a:solidFill>
              </a:rPr>
              <a:t>计算机系统概论</a:t>
            </a:r>
            <a:r>
              <a:rPr lang="en-US" altLang="zh-CN" sz="4000" b="1" spc="200" dirty="0">
                <a:solidFill>
                  <a:schemeClr val="accent3"/>
                </a:solidFill>
              </a:rPr>
              <a:t>-</a:t>
            </a:r>
            <a:r>
              <a:rPr lang="zh-CN" altLang="en-US" sz="4000" b="1" spc="200" dirty="0">
                <a:solidFill>
                  <a:schemeClr val="accent3"/>
                </a:solidFill>
              </a:rPr>
              <a:t>实验</a:t>
            </a:r>
            <a:r>
              <a:rPr lang="en-US" altLang="zh-CN" sz="4000" b="1" spc="200" dirty="0">
                <a:solidFill>
                  <a:schemeClr val="accent3"/>
                </a:solidFill>
              </a:rPr>
              <a:t>2</a:t>
            </a:r>
          </a:p>
          <a:p>
            <a:pPr algn="ctr"/>
            <a:r>
              <a:rPr lang="zh-CN" altLang="en-US" sz="4000" b="1" spc="200" dirty="0">
                <a:solidFill>
                  <a:schemeClr val="accent3"/>
                </a:solidFill>
              </a:rPr>
              <a:t>协程实验</a:t>
            </a:r>
          </a:p>
        </p:txBody>
      </p:sp>
      <p:pic>
        <p:nvPicPr>
          <p:cNvPr id="2" name="图片 1">
            <a:extLst>
              <a:ext uri="{FF2B5EF4-FFF2-40B4-BE49-F238E27FC236}">
                <a16:creationId xmlns:a16="http://schemas.microsoft.com/office/drawing/2014/main" id="{C0C83E1A-48F1-4AD6-A6B5-D725B238BB91}"/>
              </a:ext>
            </a:extLst>
          </p:cNvPr>
          <p:cNvPicPr>
            <a:picLocks noChangeAspect="1"/>
          </p:cNvPicPr>
          <p:nvPr/>
        </p:nvPicPr>
        <p:blipFill>
          <a:blip r:embed="rId3"/>
          <a:stretch>
            <a:fillRect/>
          </a:stretch>
        </p:blipFill>
        <p:spPr>
          <a:xfrm>
            <a:off x="4815393" y="3629415"/>
            <a:ext cx="1848822" cy="691786"/>
          </a:xfrm>
          <a:prstGeom prst="rect">
            <a:avLst/>
          </a:prstGeom>
        </p:spPr>
      </p:pic>
      <p:sp>
        <p:nvSpPr>
          <p:cNvPr id="3" name="矩形 2">
            <a:extLst>
              <a:ext uri="{FF2B5EF4-FFF2-40B4-BE49-F238E27FC236}">
                <a16:creationId xmlns:a16="http://schemas.microsoft.com/office/drawing/2014/main" id="{DEDB4631-C4A3-40B6-BFA8-F5A2F8B0840A}"/>
              </a:ext>
            </a:extLst>
          </p:cNvPr>
          <p:cNvSpPr/>
          <p:nvPr/>
        </p:nvSpPr>
        <p:spPr>
          <a:xfrm flipV="1">
            <a:off x="1683909" y="3249923"/>
            <a:ext cx="8111790" cy="80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A1810AC-1AD5-31DA-5BB8-ABACEB6C1032}"/>
              </a:ext>
            </a:extLst>
          </p:cNvPr>
          <p:cNvSpPr txBox="1"/>
          <p:nvPr/>
        </p:nvSpPr>
        <p:spPr>
          <a:xfrm>
            <a:off x="7221416" y="5302644"/>
            <a:ext cx="4446954" cy="707886"/>
          </a:xfrm>
          <a:prstGeom prst="rect">
            <a:avLst/>
          </a:prstGeom>
          <a:noFill/>
        </p:spPr>
        <p:txBody>
          <a:bodyPr wrap="square" rtlCol="0">
            <a:spAutoFit/>
          </a:bodyPr>
          <a:lstStyle/>
          <a:p>
            <a:pPr algn="ctr"/>
            <a:r>
              <a:rPr kumimoji="1" lang="zh-CN" altLang="en-US" sz="2000" b="1" dirty="0"/>
              <a:t>李宇晨</a:t>
            </a:r>
            <a:endParaRPr kumimoji="1" lang="en-US" altLang="zh-CN" sz="2000" b="1" dirty="0"/>
          </a:p>
          <a:p>
            <a:pPr algn="ctr"/>
            <a:r>
              <a:rPr kumimoji="1" lang="en-US" altLang="zh-CN" sz="2000" b="1" dirty="0"/>
              <a:t>liyuchen24@mails.tsinghua.edu.cn</a:t>
            </a:r>
            <a:endParaRPr kumimoji="1" lang="zh-CN" altLang="en-US" sz="2000" b="1" dirty="0"/>
          </a:p>
        </p:txBody>
      </p:sp>
    </p:spTree>
    <p:extLst>
      <p:ext uri="{BB962C8B-B14F-4D97-AF65-F5344CB8AC3E}">
        <p14:creationId xmlns:p14="http://schemas.microsoft.com/office/powerpoint/2010/main" val="1470151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0253" y="658538"/>
            <a:ext cx="6913365" cy="584775"/>
          </a:xfrm>
          <a:prstGeom prst="rect">
            <a:avLst/>
          </a:prstGeom>
          <a:noFill/>
        </p:spPr>
        <p:txBody>
          <a:bodyPr wrap="square" rtlCol="0">
            <a:spAutoFit/>
          </a:bodyPr>
          <a:lstStyle/>
          <a:p>
            <a:r>
              <a:rPr kumimoji="1" lang="zh-CN" altLang="en-US" sz="3200" b="1" dirty="0">
                <a:solidFill>
                  <a:schemeClr val="accent3"/>
                </a:solidFill>
              </a:rPr>
              <a:t>什么是协程</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5FC2281-2235-44E5-CC5A-8EB495F25962}"/>
              </a:ext>
            </a:extLst>
          </p:cNvPr>
          <p:cNvSpPr txBox="1"/>
          <p:nvPr/>
        </p:nvSpPr>
        <p:spPr>
          <a:xfrm>
            <a:off x="495315" y="1908283"/>
            <a:ext cx="5971507" cy="707886"/>
          </a:xfrm>
          <a:prstGeom prst="rect">
            <a:avLst/>
          </a:prstGeom>
          <a:noFill/>
        </p:spPr>
        <p:txBody>
          <a:bodyPr wrap="none" rtlCol="0">
            <a:spAutoFit/>
          </a:bodyPr>
          <a:lstStyle/>
          <a:p>
            <a:r>
              <a:rPr kumimoji="1" lang="en-US" altLang="zh-CN" sz="2000" b="1" dirty="0">
                <a:solidFill>
                  <a:schemeClr val="accent2"/>
                </a:solidFill>
              </a:rPr>
              <a:t>【1】</a:t>
            </a:r>
            <a:r>
              <a:rPr kumimoji="1" lang="zh-CN" altLang="en-US" sz="2000" dirty="0"/>
              <a:t>学习了栈之后，我们了解到栈是</a:t>
            </a:r>
            <a:r>
              <a:rPr kumimoji="1" lang="zh-CN" altLang="en-US" sz="2000" dirty="0">
                <a:solidFill>
                  <a:schemeClr val="accent2"/>
                </a:solidFill>
              </a:rPr>
              <a:t>每个函数实例</a:t>
            </a:r>
            <a:endParaRPr kumimoji="1" lang="en-US" altLang="zh-CN" sz="2000" dirty="0">
              <a:solidFill>
                <a:schemeClr val="accent2"/>
              </a:solidFill>
            </a:endParaRPr>
          </a:p>
          <a:p>
            <a:r>
              <a:rPr kumimoji="1" lang="zh-CN" altLang="en-US" sz="2000" dirty="0"/>
              <a:t>需要的一块存储区域，来保存执行上下文</a:t>
            </a:r>
          </a:p>
        </p:txBody>
      </p:sp>
      <p:pic>
        <p:nvPicPr>
          <p:cNvPr id="12" name="图片 11">
            <a:extLst>
              <a:ext uri="{FF2B5EF4-FFF2-40B4-BE49-F238E27FC236}">
                <a16:creationId xmlns:a16="http://schemas.microsoft.com/office/drawing/2014/main" id="{87FEA278-6370-3EC0-C272-9D3747B0BACA}"/>
              </a:ext>
            </a:extLst>
          </p:cNvPr>
          <p:cNvPicPr>
            <a:picLocks noChangeAspect="1"/>
          </p:cNvPicPr>
          <p:nvPr/>
        </p:nvPicPr>
        <p:blipFill>
          <a:blip r:embed="rId3"/>
          <a:stretch>
            <a:fillRect/>
          </a:stretch>
        </p:blipFill>
        <p:spPr>
          <a:xfrm>
            <a:off x="650314" y="3846508"/>
            <a:ext cx="5445686" cy="1642127"/>
          </a:xfrm>
          <a:prstGeom prst="rect">
            <a:avLst/>
          </a:prstGeom>
        </p:spPr>
      </p:pic>
      <p:sp>
        <p:nvSpPr>
          <p:cNvPr id="14" name="文本框 13">
            <a:extLst>
              <a:ext uri="{FF2B5EF4-FFF2-40B4-BE49-F238E27FC236}">
                <a16:creationId xmlns:a16="http://schemas.microsoft.com/office/drawing/2014/main" id="{4B5F62A1-36B5-C912-4459-1D283F52488F}"/>
              </a:ext>
            </a:extLst>
          </p:cNvPr>
          <p:cNvSpPr txBox="1"/>
          <p:nvPr/>
        </p:nvSpPr>
        <p:spPr>
          <a:xfrm>
            <a:off x="495315" y="3065794"/>
            <a:ext cx="6266459" cy="461665"/>
          </a:xfrm>
          <a:prstGeom prst="rect">
            <a:avLst/>
          </a:prstGeom>
          <a:noFill/>
        </p:spPr>
        <p:txBody>
          <a:bodyPr wrap="none" rtlCol="0">
            <a:spAutoFit/>
          </a:bodyPr>
          <a:lstStyle/>
          <a:p>
            <a:r>
              <a:rPr kumimoji="1" lang="zh-CN" altLang="en-US" sz="2400" b="1" dirty="0">
                <a:solidFill>
                  <a:srgbClr val="7030A0"/>
                </a:solidFill>
              </a:rPr>
              <a:t>栈帧内容</a:t>
            </a:r>
            <a:r>
              <a:rPr kumimoji="1" lang="en-US" altLang="zh-CN" sz="2400" b="1" dirty="0">
                <a:solidFill>
                  <a:srgbClr val="7030A0"/>
                </a:solidFill>
              </a:rPr>
              <a:t>+</a:t>
            </a:r>
            <a:r>
              <a:rPr kumimoji="1" lang="zh-CN" altLang="en-US" sz="2400" b="1" dirty="0">
                <a:solidFill>
                  <a:srgbClr val="7030A0"/>
                </a:solidFill>
              </a:rPr>
              <a:t>寄存器状态 </a:t>
            </a:r>
            <a:r>
              <a:rPr kumimoji="1" lang="en-US" altLang="zh-CN" sz="2400" b="1" dirty="0">
                <a:solidFill>
                  <a:srgbClr val="FF0000"/>
                </a:solidFill>
              </a:rPr>
              <a:t>=</a:t>
            </a:r>
            <a:r>
              <a:rPr kumimoji="1" lang="zh-CN" altLang="en-US" sz="2400" b="1" dirty="0">
                <a:solidFill>
                  <a:srgbClr val="7030A0"/>
                </a:solidFill>
              </a:rPr>
              <a:t> 一个函数的执行现场</a:t>
            </a:r>
          </a:p>
        </p:txBody>
      </p:sp>
      <p:pic>
        <p:nvPicPr>
          <p:cNvPr id="3" name="图片 2">
            <a:extLst>
              <a:ext uri="{FF2B5EF4-FFF2-40B4-BE49-F238E27FC236}">
                <a16:creationId xmlns:a16="http://schemas.microsoft.com/office/drawing/2014/main" id="{0956A0F2-EEA1-7D7F-E66B-17DB01ED8DB9}"/>
              </a:ext>
            </a:extLst>
          </p:cNvPr>
          <p:cNvPicPr>
            <a:picLocks noChangeAspect="1"/>
          </p:cNvPicPr>
          <p:nvPr/>
        </p:nvPicPr>
        <p:blipFill>
          <a:blip r:embed="rId4"/>
          <a:stretch>
            <a:fillRect/>
          </a:stretch>
        </p:blipFill>
        <p:spPr>
          <a:xfrm>
            <a:off x="6817453" y="1994369"/>
            <a:ext cx="4724233" cy="3066180"/>
          </a:xfrm>
          <a:prstGeom prst="rect">
            <a:avLst/>
          </a:prstGeom>
        </p:spPr>
      </p:pic>
    </p:spTree>
    <p:extLst>
      <p:ext uri="{BB962C8B-B14F-4D97-AF65-F5344CB8AC3E}">
        <p14:creationId xmlns:p14="http://schemas.microsoft.com/office/powerpoint/2010/main" val="559629806"/>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20661" y="655383"/>
            <a:ext cx="2236510" cy="584775"/>
          </a:xfrm>
          <a:prstGeom prst="rect">
            <a:avLst/>
          </a:prstGeom>
          <a:noFill/>
        </p:spPr>
        <p:txBody>
          <a:bodyPr wrap="none" rtlCol="0">
            <a:spAutoFit/>
          </a:bodyPr>
          <a:lstStyle/>
          <a:p>
            <a:r>
              <a:rPr kumimoji="1" lang="zh-CN" altLang="en-US" sz="3200" b="1" dirty="0">
                <a:solidFill>
                  <a:schemeClr val="accent3"/>
                </a:solidFill>
              </a:rPr>
              <a:t>什么是协程</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92AF632-DE01-94D1-A5DF-11E27EEA9FF0}"/>
              </a:ext>
            </a:extLst>
          </p:cNvPr>
          <p:cNvSpPr txBox="1"/>
          <p:nvPr/>
        </p:nvSpPr>
        <p:spPr>
          <a:xfrm>
            <a:off x="551088" y="1774312"/>
            <a:ext cx="4418477" cy="2862322"/>
          </a:xfrm>
          <a:prstGeom prst="rect">
            <a:avLst/>
          </a:prstGeom>
          <a:noFill/>
        </p:spPr>
        <p:txBody>
          <a:bodyPr wrap="square" rtlCol="0">
            <a:spAutoFit/>
          </a:bodyPr>
          <a:lstStyle/>
          <a:p>
            <a:r>
              <a:rPr kumimoji="1" lang="en-US" altLang="zh-CN" sz="2000" b="1" dirty="0">
                <a:solidFill>
                  <a:schemeClr val="accent2"/>
                </a:solidFill>
              </a:rPr>
              <a:t>【2】CPU</a:t>
            </a:r>
            <a:r>
              <a:rPr kumimoji="1" lang="zh-CN" altLang="en-US" sz="2000" b="1" dirty="0">
                <a:solidFill>
                  <a:schemeClr val="accent2"/>
                </a:solidFill>
              </a:rPr>
              <a:t>的执行速度相较于</a:t>
            </a:r>
            <a:r>
              <a:rPr kumimoji="1" lang="en-US" altLang="zh-CN" sz="2000" b="1" dirty="0">
                <a:solidFill>
                  <a:schemeClr val="accent2"/>
                </a:solidFill>
              </a:rPr>
              <a:t>IO</a:t>
            </a:r>
            <a:r>
              <a:rPr kumimoji="1" lang="zh-CN" altLang="en-US" sz="2000" b="1" dirty="0">
                <a:solidFill>
                  <a:schemeClr val="accent2"/>
                </a:solidFill>
              </a:rPr>
              <a:t>操作要快（磁盘</a:t>
            </a:r>
            <a:r>
              <a:rPr kumimoji="1" lang="en-US" altLang="zh-CN" sz="2000" b="1" dirty="0">
                <a:solidFill>
                  <a:schemeClr val="accent2"/>
                </a:solidFill>
              </a:rPr>
              <a:t>IO</a:t>
            </a:r>
            <a:r>
              <a:rPr kumimoji="1" lang="zh-CN" altLang="en-US" sz="2000" b="1" dirty="0">
                <a:solidFill>
                  <a:schemeClr val="accent2"/>
                </a:solidFill>
              </a:rPr>
              <a:t>、网络</a:t>
            </a:r>
            <a:r>
              <a:rPr kumimoji="1" lang="en-US" altLang="zh-CN" sz="2000" b="1" dirty="0">
                <a:solidFill>
                  <a:schemeClr val="accent2"/>
                </a:solidFill>
              </a:rPr>
              <a:t>IO</a:t>
            </a:r>
            <a:r>
              <a:rPr kumimoji="1" lang="zh-CN" altLang="en-US" sz="2000" b="1" dirty="0">
                <a:solidFill>
                  <a:schemeClr val="accent2"/>
                </a:solidFill>
              </a:rPr>
              <a:t>）</a:t>
            </a:r>
            <a:endParaRPr kumimoji="1" lang="en-US" altLang="zh-CN" sz="2000" b="1" dirty="0">
              <a:solidFill>
                <a:schemeClr val="accent2"/>
              </a:solidFill>
            </a:endParaRPr>
          </a:p>
          <a:p>
            <a:endParaRPr kumimoji="1" lang="en-US" altLang="zh-CN" sz="2000" dirty="0"/>
          </a:p>
          <a:p>
            <a:r>
              <a:rPr kumimoji="1" lang="en-US" altLang="zh-CN" sz="2000" dirty="0"/>
              <a:t>CPU</a:t>
            </a:r>
            <a:r>
              <a:rPr kumimoji="1" lang="zh-CN" altLang="en-US" sz="2000" dirty="0"/>
              <a:t>在实际执行过程中会频繁</a:t>
            </a:r>
            <a:r>
              <a:rPr kumimoji="1" lang="en-US" altLang="zh-CN" sz="2000" dirty="0"/>
              <a:t>IO</a:t>
            </a:r>
            <a:r>
              <a:rPr kumimoji="1" lang="zh-CN" altLang="en-US" sz="2000" dirty="0"/>
              <a:t>操作， 执行过程经常被</a:t>
            </a:r>
            <a:r>
              <a:rPr kumimoji="1" lang="en-US" altLang="zh-CN" sz="2000" dirty="0"/>
              <a:t>IO</a:t>
            </a:r>
            <a:r>
              <a:rPr kumimoji="1" lang="zh-CN" altLang="en-US" sz="2000" dirty="0"/>
              <a:t>阻塞</a:t>
            </a:r>
            <a:endParaRPr kumimoji="1" lang="en-US" altLang="zh-CN" sz="2000" dirty="0"/>
          </a:p>
          <a:p>
            <a:endParaRPr kumimoji="1" lang="en-US" altLang="zh-CN" sz="2000" dirty="0"/>
          </a:p>
          <a:p>
            <a:r>
              <a:rPr kumimoji="1" lang="zh-CN" altLang="en-US" sz="2000" b="1" dirty="0">
                <a:solidFill>
                  <a:srgbClr val="7030A0"/>
                </a:solidFill>
              </a:rPr>
              <a:t>与其等待</a:t>
            </a:r>
            <a:r>
              <a:rPr kumimoji="1" lang="en-US" altLang="zh-CN" sz="2000" b="1" dirty="0">
                <a:solidFill>
                  <a:srgbClr val="7030A0"/>
                </a:solidFill>
              </a:rPr>
              <a:t>IO</a:t>
            </a:r>
            <a:r>
              <a:rPr kumimoji="1" lang="zh-CN" altLang="en-US" sz="2000" b="1" dirty="0">
                <a:solidFill>
                  <a:srgbClr val="7030A0"/>
                </a:solidFill>
              </a:rPr>
              <a:t>，能否干点什么事儿掩盖时延呢？</a:t>
            </a:r>
          </a:p>
          <a:p>
            <a:endParaRPr kumimoji="1" lang="en-US" altLang="zh-CN" sz="2000" dirty="0"/>
          </a:p>
        </p:txBody>
      </p:sp>
      <p:grpSp>
        <p:nvGrpSpPr>
          <p:cNvPr id="29" name="组合 28">
            <a:extLst>
              <a:ext uri="{FF2B5EF4-FFF2-40B4-BE49-F238E27FC236}">
                <a16:creationId xmlns:a16="http://schemas.microsoft.com/office/drawing/2014/main" id="{7230FB92-A536-25AB-9093-69D636680F73}"/>
              </a:ext>
            </a:extLst>
          </p:cNvPr>
          <p:cNvGrpSpPr/>
          <p:nvPr/>
        </p:nvGrpSpPr>
        <p:grpSpPr>
          <a:xfrm>
            <a:off x="5140557" y="1784251"/>
            <a:ext cx="6510294" cy="3890992"/>
            <a:chOff x="5140557" y="1784251"/>
            <a:chExt cx="6510294" cy="3890992"/>
          </a:xfrm>
        </p:grpSpPr>
        <p:pic>
          <p:nvPicPr>
            <p:cNvPr id="1026" name="Picture 2" descr="这里写图片描述">
              <a:extLst>
                <a:ext uri="{FF2B5EF4-FFF2-40B4-BE49-F238E27FC236}">
                  <a16:creationId xmlns:a16="http://schemas.microsoft.com/office/drawing/2014/main" id="{F33963C5-3C53-DC6C-1BE3-BEE9DD5EC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0557" y="1784251"/>
              <a:ext cx="6510294" cy="389099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接箭头连接符 9">
              <a:extLst>
                <a:ext uri="{FF2B5EF4-FFF2-40B4-BE49-F238E27FC236}">
                  <a16:creationId xmlns:a16="http://schemas.microsoft.com/office/drawing/2014/main" id="{B779FA58-BC4A-9F2E-A29F-E47E4F889AE4}"/>
                </a:ext>
              </a:extLst>
            </p:cNvPr>
            <p:cNvCxnSpPr/>
            <p:nvPr/>
          </p:nvCxnSpPr>
          <p:spPr>
            <a:xfrm>
              <a:off x="7007087" y="2077278"/>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7085972-D3DB-0A93-91B3-109619FC24FB}"/>
                </a:ext>
              </a:extLst>
            </p:cNvPr>
            <p:cNvCxnSpPr/>
            <p:nvPr/>
          </p:nvCxnSpPr>
          <p:spPr>
            <a:xfrm>
              <a:off x="6722165" y="2587487"/>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FBD9835-C373-87E2-A040-CD73AFA50F1C}"/>
                </a:ext>
              </a:extLst>
            </p:cNvPr>
            <p:cNvCxnSpPr/>
            <p:nvPr/>
          </p:nvCxnSpPr>
          <p:spPr>
            <a:xfrm>
              <a:off x="6445732" y="3127513"/>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1F776C1-C9A9-1644-53BD-5526D9DB9E64}"/>
                </a:ext>
              </a:extLst>
            </p:cNvPr>
            <p:cNvCxnSpPr/>
            <p:nvPr/>
          </p:nvCxnSpPr>
          <p:spPr>
            <a:xfrm>
              <a:off x="6202017" y="3664227"/>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4560DA7-97DC-1EEE-BDCD-451FA6FC152C}"/>
                </a:ext>
              </a:extLst>
            </p:cNvPr>
            <p:cNvSpPr txBox="1"/>
            <p:nvPr/>
          </p:nvSpPr>
          <p:spPr>
            <a:xfrm>
              <a:off x="6374291" y="1790294"/>
              <a:ext cx="3588026" cy="276999"/>
            </a:xfrm>
            <a:prstGeom prst="rect">
              <a:avLst/>
            </a:prstGeom>
            <a:noFill/>
          </p:spPr>
          <p:txBody>
            <a:bodyPr wrap="square" rtlCol="0">
              <a:spAutoFit/>
            </a:bodyPr>
            <a:lstStyle/>
            <a:p>
              <a:r>
                <a:rPr lang="en-US" altLang="zh-CN" sz="1200" dirty="0">
                  <a:latin typeface="+mj-ea"/>
                  <a:ea typeface="+mj-ea"/>
                </a:rPr>
                <a:t>~1cycle 0.25ns</a:t>
              </a:r>
              <a:endParaRPr lang="zh-CN" altLang="en-US" sz="1200" dirty="0">
                <a:latin typeface="+mj-ea"/>
                <a:ea typeface="+mj-ea"/>
              </a:endParaRPr>
            </a:p>
          </p:txBody>
        </p:sp>
        <p:sp>
          <p:nvSpPr>
            <p:cNvPr id="23" name="文本框 22">
              <a:extLst>
                <a:ext uri="{FF2B5EF4-FFF2-40B4-BE49-F238E27FC236}">
                  <a16:creationId xmlns:a16="http://schemas.microsoft.com/office/drawing/2014/main" id="{D9EF845D-FF61-CD1B-3955-7803254EB9F8}"/>
                </a:ext>
              </a:extLst>
            </p:cNvPr>
            <p:cNvSpPr txBox="1"/>
            <p:nvPr/>
          </p:nvSpPr>
          <p:spPr>
            <a:xfrm>
              <a:off x="6125816" y="2303697"/>
              <a:ext cx="3588026" cy="276999"/>
            </a:xfrm>
            <a:prstGeom prst="rect">
              <a:avLst/>
            </a:prstGeom>
            <a:noFill/>
          </p:spPr>
          <p:txBody>
            <a:bodyPr wrap="square" rtlCol="0">
              <a:spAutoFit/>
            </a:bodyPr>
            <a:lstStyle/>
            <a:p>
              <a:r>
                <a:rPr lang="en-US" altLang="zh-CN" sz="1200" dirty="0">
                  <a:latin typeface="+mj-ea"/>
                  <a:ea typeface="+mj-ea"/>
                </a:rPr>
                <a:t>~ 4cycles 1ns</a:t>
              </a:r>
              <a:endParaRPr lang="zh-CN" altLang="en-US" sz="1200" dirty="0">
                <a:latin typeface="+mj-ea"/>
                <a:ea typeface="+mj-ea"/>
              </a:endParaRPr>
            </a:p>
          </p:txBody>
        </p:sp>
        <p:sp>
          <p:nvSpPr>
            <p:cNvPr id="24" name="文本框 23">
              <a:extLst>
                <a:ext uri="{FF2B5EF4-FFF2-40B4-BE49-F238E27FC236}">
                  <a16:creationId xmlns:a16="http://schemas.microsoft.com/office/drawing/2014/main" id="{4F779DD2-1416-A144-69A2-BBF5AFA116B5}"/>
                </a:ext>
              </a:extLst>
            </p:cNvPr>
            <p:cNvSpPr txBox="1"/>
            <p:nvPr/>
          </p:nvSpPr>
          <p:spPr>
            <a:xfrm>
              <a:off x="5900947" y="2848197"/>
              <a:ext cx="3588026" cy="276999"/>
            </a:xfrm>
            <a:prstGeom prst="rect">
              <a:avLst/>
            </a:prstGeom>
            <a:noFill/>
          </p:spPr>
          <p:txBody>
            <a:bodyPr wrap="square" rtlCol="0">
              <a:spAutoFit/>
            </a:bodyPr>
            <a:lstStyle/>
            <a:p>
              <a:r>
                <a:rPr lang="en-US" altLang="zh-CN" sz="1200" dirty="0">
                  <a:latin typeface="+mj-ea"/>
                  <a:ea typeface="+mj-ea"/>
                </a:rPr>
                <a:t>~14cycles 3.5ns</a:t>
              </a:r>
              <a:endParaRPr lang="zh-CN" altLang="en-US" sz="1200" dirty="0">
                <a:latin typeface="+mj-ea"/>
                <a:ea typeface="+mj-ea"/>
              </a:endParaRPr>
            </a:p>
          </p:txBody>
        </p:sp>
        <p:sp>
          <p:nvSpPr>
            <p:cNvPr id="25" name="文本框 24">
              <a:extLst>
                <a:ext uri="{FF2B5EF4-FFF2-40B4-BE49-F238E27FC236}">
                  <a16:creationId xmlns:a16="http://schemas.microsoft.com/office/drawing/2014/main" id="{9B54D988-9CD8-74B0-0598-3F599152E454}"/>
                </a:ext>
              </a:extLst>
            </p:cNvPr>
            <p:cNvSpPr txBox="1"/>
            <p:nvPr/>
          </p:nvSpPr>
          <p:spPr>
            <a:xfrm>
              <a:off x="5650395" y="3358914"/>
              <a:ext cx="3588026" cy="276999"/>
            </a:xfrm>
            <a:prstGeom prst="rect">
              <a:avLst/>
            </a:prstGeom>
            <a:noFill/>
          </p:spPr>
          <p:txBody>
            <a:bodyPr wrap="square" rtlCol="0">
              <a:spAutoFit/>
            </a:bodyPr>
            <a:lstStyle/>
            <a:p>
              <a:r>
                <a:rPr lang="en-US" altLang="zh-CN" sz="1200" dirty="0">
                  <a:latin typeface="+mj-ea"/>
                  <a:ea typeface="+mj-ea"/>
                </a:rPr>
                <a:t>~50 cycles 12ns</a:t>
              </a:r>
              <a:endParaRPr lang="zh-CN" altLang="en-US" sz="1200" dirty="0">
                <a:latin typeface="+mj-ea"/>
                <a:ea typeface="+mj-ea"/>
              </a:endParaRPr>
            </a:p>
          </p:txBody>
        </p:sp>
        <p:sp>
          <p:nvSpPr>
            <p:cNvPr id="26" name="文本框 25">
              <a:extLst>
                <a:ext uri="{FF2B5EF4-FFF2-40B4-BE49-F238E27FC236}">
                  <a16:creationId xmlns:a16="http://schemas.microsoft.com/office/drawing/2014/main" id="{819B67F1-719F-CD27-462E-15FF124DF4C6}"/>
                </a:ext>
              </a:extLst>
            </p:cNvPr>
            <p:cNvSpPr txBox="1"/>
            <p:nvPr/>
          </p:nvSpPr>
          <p:spPr>
            <a:xfrm>
              <a:off x="6525038" y="4292340"/>
              <a:ext cx="2206487" cy="276999"/>
            </a:xfrm>
            <a:prstGeom prst="rect">
              <a:avLst/>
            </a:prstGeom>
            <a:noFill/>
          </p:spPr>
          <p:txBody>
            <a:bodyPr wrap="square" rtlCol="0">
              <a:spAutoFit/>
            </a:bodyPr>
            <a:lstStyle/>
            <a:p>
              <a:r>
                <a:rPr lang="en-US" altLang="zh-CN" sz="1200" dirty="0">
                  <a:latin typeface="+mj-ea"/>
                  <a:ea typeface="+mj-ea"/>
                </a:rPr>
                <a:t>~300 cycles 80ns</a:t>
              </a:r>
              <a:endParaRPr lang="zh-CN" altLang="en-US" sz="1200" dirty="0">
                <a:latin typeface="+mj-ea"/>
                <a:ea typeface="+mj-ea"/>
              </a:endParaRPr>
            </a:p>
          </p:txBody>
        </p:sp>
        <p:sp>
          <p:nvSpPr>
            <p:cNvPr id="27" name="文本框 26">
              <a:extLst>
                <a:ext uri="{FF2B5EF4-FFF2-40B4-BE49-F238E27FC236}">
                  <a16:creationId xmlns:a16="http://schemas.microsoft.com/office/drawing/2014/main" id="{375BCFC0-892F-CF1A-CE80-11FA9C544C97}"/>
                </a:ext>
              </a:extLst>
            </p:cNvPr>
            <p:cNvSpPr txBox="1"/>
            <p:nvPr/>
          </p:nvSpPr>
          <p:spPr>
            <a:xfrm>
              <a:off x="6260405" y="4845291"/>
              <a:ext cx="2206487" cy="276999"/>
            </a:xfrm>
            <a:prstGeom prst="rect">
              <a:avLst/>
            </a:prstGeom>
            <a:noFill/>
          </p:spPr>
          <p:txBody>
            <a:bodyPr wrap="square" rtlCol="0">
              <a:spAutoFit/>
            </a:bodyPr>
            <a:lstStyle/>
            <a:p>
              <a:r>
                <a:rPr lang="en-US" altLang="zh-CN" sz="1200" dirty="0">
                  <a:latin typeface="+mj-ea"/>
                  <a:ea typeface="+mj-ea"/>
                </a:rPr>
                <a:t>~10</a:t>
              </a:r>
              <a:r>
                <a:rPr lang="en-US" altLang="zh-CN" sz="1200" baseline="30000" dirty="0">
                  <a:latin typeface="+mj-ea"/>
                  <a:ea typeface="+mj-ea"/>
                </a:rPr>
                <a:t>6</a:t>
              </a:r>
              <a:r>
                <a:rPr lang="en-US" altLang="zh-CN" sz="1200" dirty="0">
                  <a:latin typeface="+mj-ea"/>
                  <a:ea typeface="+mj-ea"/>
                </a:rPr>
                <a:t> cycles 0.2ms</a:t>
              </a:r>
              <a:endParaRPr lang="zh-CN" altLang="en-US" sz="1200" dirty="0">
                <a:latin typeface="+mj-ea"/>
                <a:ea typeface="+mj-ea"/>
              </a:endParaRPr>
            </a:p>
          </p:txBody>
        </p:sp>
        <p:sp>
          <p:nvSpPr>
            <p:cNvPr id="28" name="文本框 27">
              <a:extLst>
                <a:ext uri="{FF2B5EF4-FFF2-40B4-BE49-F238E27FC236}">
                  <a16:creationId xmlns:a16="http://schemas.microsoft.com/office/drawing/2014/main" id="{08A1E59E-49F7-7431-7BAB-49C96A5CE5CC}"/>
                </a:ext>
              </a:extLst>
            </p:cNvPr>
            <p:cNvSpPr txBox="1"/>
            <p:nvPr/>
          </p:nvSpPr>
          <p:spPr>
            <a:xfrm>
              <a:off x="6125816" y="5360143"/>
              <a:ext cx="2206487" cy="276999"/>
            </a:xfrm>
            <a:prstGeom prst="rect">
              <a:avLst/>
            </a:prstGeom>
            <a:noFill/>
          </p:spPr>
          <p:txBody>
            <a:bodyPr wrap="square" rtlCol="0">
              <a:spAutoFit/>
            </a:bodyPr>
            <a:lstStyle/>
            <a:p>
              <a:r>
                <a:rPr lang="en-US" altLang="zh-CN" sz="1200" dirty="0">
                  <a:latin typeface="+mj-ea"/>
                  <a:ea typeface="+mj-ea"/>
                </a:rPr>
                <a:t>&gt; 1s</a:t>
              </a:r>
              <a:endParaRPr lang="zh-CN" altLang="en-US" sz="1200" dirty="0">
                <a:latin typeface="+mj-ea"/>
                <a:ea typeface="+mj-ea"/>
              </a:endParaRPr>
            </a:p>
          </p:txBody>
        </p:sp>
      </p:grpSp>
      <p:sp>
        <p:nvSpPr>
          <p:cNvPr id="3" name="文本框 2">
            <a:extLst>
              <a:ext uri="{FF2B5EF4-FFF2-40B4-BE49-F238E27FC236}">
                <a16:creationId xmlns:a16="http://schemas.microsoft.com/office/drawing/2014/main" id="{B0075EA6-33C2-A60B-C0A6-87306E41027C}"/>
              </a:ext>
            </a:extLst>
          </p:cNvPr>
          <p:cNvSpPr txBox="1"/>
          <p:nvPr/>
        </p:nvSpPr>
        <p:spPr>
          <a:xfrm>
            <a:off x="5578219" y="5820022"/>
            <a:ext cx="7157460" cy="338554"/>
          </a:xfrm>
          <a:prstGeom prst="rect">
            <a:avLst/>
          </a:prstGeom>
          <a:noFill/>
        </p:spPr>
        <p:txBody>
          <a:bodyPr wrap="square">
            <a:spAutoFit/>
          </a:bodyPr>
          <a:lstStyle/>
          <a:p>
            <a:r>
              <a:rPr lang="zh-CN" altLang="en-US" sz="1600" dirty="0"/>
              <a:t>数据来源： https://en.wikipedia.org/wiki/Memory_hierarchy</a:t>
            </a:r>
          </a:p>
        </p:txBody>
      </p:sp>
    </p:spTree>
    <p:extLst>
      <p:ext uri="{BB962C8B-B14F-4D97-AF65-F5344CB8AC3E}">
        <p14:creationId xmlns:p14="http://schemas.microsoft.com/office/powerpoint/2010/main" val="296753024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2236510" cy="584775"/>
          </a:xfrm>
          <a:prstGeom prst="rect">
            <a:avLst/>
          </a:prstGeom>
          <a:noFill/>
        </p:spPr>
        <p:txBody>
          <a:bodyPr wrap="none" rtlCol="0">
            <a:spAutoFit/>
          </a:bodyPr>
          <a:lstStyle/>
          <a:p>
            <a:r>
              <a:rPr kumimoji="1" lang="zh-CN" altLang="en-US" sz="3200" b="1" dirty="0">
                <a:solidFill>
                  <a:schemeClr val="accent3"/>
                </a:solidFill>
              </a:rPr>
              <a:t>什么是协程</a:t>
            </a:r>
            <a:endParaRPr kumimoji="1" lang="zh-CN" altLang="en-US" b="1" dirty="0">
              <a:solidFill>
                <a:schemeClr val="accent3"/>
              </a:solidFill>
            </a:endParaRPr>
          </a:p>
        </p:txBody>
      </p:sp>
      <p:cxnSp>
        <p:nvCxnSpPr>
          <p:cNvPr id="2" name="直接连接符 79">
            <a:extLst>
              <a:ext uri="{FF2B5EF4-FFF2-40B4-BE49-F238E27FC236}">
                <a16:creationId xmlns:a16="http://schemas.microsoft.com/office/drawing/2014/main" id="{3D67B22D-151C-5EDC-3B68-30FA27BCA6E5}"/>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3F50B8A-73A2-9B97-392D-FF78E1302153}"/>
              </a:ext>
            </a:extLst>
          </p:cNvPr>
          <p:cNvSpPr txBox="1"/>
          <p:nvPr/>
        </p:nvSpPr>
        <p:spPr>
          <a:xfrm>
            <a:off x="819397" y="1745673"/>
            <a:ext cx="7468711" cy="461665"/>
          </a:xfrm>
          <a:prstGeom prst="rect">
            <a:avLst/>
          </a:prstGeom>
          <a:noFill/>
        </p:spPr>
        <p:txBody>
          <a:bodyPr wrap="none" rtlCol="0">
            <a:spAutoFit/>
          </a:bodyPr>
          <a:lstStyle/>
          <a:p>
            <a:r>
              <a:rPr kumimoji="1" lang="zh-CN" altLang="en-US" sz="2400" b="1" dirty="0">
                <a:solidFill>
                  <a:schemeClr val="accent2"/>
                </a:solidFill>
              </a:rPr>
              <a:t>协程</a:t>
            </a:r>
            <a:r>
              <a:rPr kumimoji="1" lang="zh-CN" altLang="en-US" sz="2000" dirty="0"/>
              <a:t>是一个可以主动切出，并在之后可恢复运行的</a:t>
            </a:r>
            <a:r>
              <a:rPr kumimoji="1" lang="zh-CN" altLang="en-US" sz="2000" dirty="0">
                <a:solidFill>
                  <a:schemeClr val="accent3"/>
                </a:solidFill>
              </a:rPr>
              <a:t>函数运行模式</a:t>
            </a:r>
            <a:endParaRPr kumimoji="1" lang="zh-CN" altLang="en-US" dirty="0">
              <a:solidFill>
                <a:schemeClr val="accent3"/>
              </a:solidFill>
            </a:endParaRPr>
          </a:p>
        </p:txBody>
      </p:sp>
      <p:sp>
        <p:nvSpPr>
          <p:cNvPr id="6" name="文本框 5">
            <a:extLst>
              <a:ext uri="{FF2B5EF4-FFF2-40B4-BE49-F238E27FC236}">
                <a16:creationId xmlns:a16="http://schemas.microsoft.com/office/drawing/2014/main" id="{40C94241-22D5-8CE0-C4C0-7C280570218F}"/>
              </a:ext>
            </a:extLst>
          </p:cNvPr>
          <p:cNvSpPr txBox="1"/>
          <p:nvPr/>
        </p:nvSpPr>
        <p:spPr>
          <a:xfrm>
            <a:off x="819397" y="2383590"/>
            <a:ext cx="10695557" cy="461665"/>
          </a:xfrm>
          <a:prstGeom prst="rect">
            <a:avLst/>
          </a:prstGeom>
          <a:noFill/>
        </p:spPr>
        <p:txBody>
          <a:bodyPr wrap="none" rtlCol="0">
            <a:spAutoFit/>
          </a:bodyPr>
          <a:lstStyle/>
          <a:p>
            <a:r>
              <a:rPr kumimoji="1" lang="zh-CN" altLang="en-US" sz="2400" b="1" dirty="0">
                <a:solidFill>
                  <a:schemeClr val="accent2"/>
                </a:solidFill>
              </a:rPr>
              <a:t>协程用途：</a:t>
            </a:r>
            <a:r>
              <a:rPr kumimoji="1" lang="zh-CN" altLang="en-US" dirty="0"/>
              <a:t>在</a:t>
            </a:r>
            <a:r>
              <a:rPr kumimoji="1" lang="en-US" altLang="zh-CN" dirty="0"/>
              <a:t>CPU</a:t>
            </a:r>
            <a:r>
              <a:rPr kumimoji="1" lang="zh-CN" altLang="en-US" dirty="0"/>
              <a:t>进行</a:t>
            </a:r>
            <a:r>
              <a:rPr kumimoji="1" lang="en-US" altLang="zh-CN" dirty="0"/>
              <a:t>IO</a:t>
            </a:r>
            <a:r>
              <a:rPr kumimoji="1" lang="zh-CN" altLang="en-US" dirty="0"/>
              <a:t>操作时，切换到其他 </a:t>
            </a:r>
            <a:r>
              <a:rPr kumimoji="1" lang="en-US" altLang="zh-CN" dirty="0"/>
              <a:t>Ready</a:t>
            </a:r>
            <a:r>
              <a:rPr kumimoji="1" lang="zh-CN" altLang="en-US" dirty="0"/>
              <a:t>函数 的</a:t>
            </a:r>
            <a:r>
              <a:rPr kumimoji="1" lang="zh-CN" altLang="en-US" b="1" dirty="0">
                <a:solidFill>
                  <a:srgbClr val="FF0000"/>
                </a:solidFill>
              </a:rPr>
              <a:t>执行现场</a:t>
            </a:r>
            <a:r>
              <a:rPr kumimoji="1" lang="zh-CN" altLang="en-US" dirty="0"/>
              <a:t>，并在合适时间点切换回来。</a:t>
            </a:r>
          </a:p>
        </p:txBody>
      </p:sp>
      <p:sp>
        <p:nvSpPr>
          <p:cNvPr id="9" name="矩形 8">
            <a:extLst>
              <a:ext uri="{FF2B5EF4-FFF2-40B4-BE49-F238E27FC236}">
                <a16:creationId xmlns:a16="http://schemas.microsoft.com/office/drawing/2014/main" id="{AFD1DAE2-50A8-0143-A27F-373500E16FC6}"/>
              </a:ext>
            </a:extLst>
          </p:cNvPr>
          <p:cNvSpPr/>
          <p:nvPr/>
        </p:nvSpPr>
        <p:spPr>
          <a:xfrm>
            <a:off x="2340007" y="3544764"/>
            <a:ext cx="1264023"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endParaRPr lang="zh-CN" altLang="en-US" sz="2000" b="1" dirty="0"/>
          </a:p>
        </p:txBody>
      </p:sp>
      <p:sp>
        <p:nvSpPr>
          <p:cNvPr id="10" name="矩形 9">
            <a:extLst>
              <a:ext uri="{FF2B5EF4-FFF2-40B4-BE49-F238E27FC236}">
                <a16:creationId xmlns:a16="http://schemas.microsoft.com/office/drawing/2014/main" id="{5D5C9CE1-E278-1B77-7CBA-265C90D49748}"/>
              </a:ext>
            </a:extLst>
          </p:cNvPr>
          <p:cNvSpPr/>
          <p:nvPr/>
        </p:nvSpPr>
        <p:spPr>
          <a:xfrm>
            <a:off x="3604029" y="3248929"/>
            <a:ext cx="2142565"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r>
              <a:rPr lang="zh-CN" altLang="en-US" sz="2000" b="1" dirty="0"/>
              <a:t>访问</a:t>
            </a:r>
            <a:r>
              <a:rPr lang="en-US" altLang="zh-CN" sz="2000" b="1" dirty="0"/>
              <a:t>IO</a:t>
            </a:r>
            <a:endParaRPr lang="zh-CN" altLang="en-US" sz="2000" b="1" dirty="0"/>
          </a:p>
        </p:txBody>
      </p:sp>
      <p:sp>
        <p:nvSpPr>
          <p:cNvPr id="11" name="矩形 10">
            <a:extLst>
              <a:ext uri="{FF2B5EF4-FFF2-40B4-BE49-F238E27FC236}">
                <a16:creationId xmlns:a16="http://schemas.microsoft.com/office/drawing/2014/main" id="{6D19B158-7B77-5C11-0E0A-87B8F2B56D9B}"/>
              </a:ext>
            </a:extLst>
          </p:cNvPr>
          <p:cNvSpPr/>
          <p:nvPr/>
        </p:nvSpPr>
        <p:spPr>
          <a:xfrm>
            <a:off x="3604028" y="3544765"/>
            <a:ext cx="466165" cy="2923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rPr>
              <a:t>Swap</a:t>
            </a:r>
            <a:endParaRPr lang="zh-CN" altLang="en-US" sz="800" b="1" dirty="0">
              <a:solidFill>
                <a:schemeClr val="tx1"/>
              </a:solidFill>
            </a:endParaRPr>
          </a:p>
        </p:txBody>
      </p:sp>
      <p:sp>
        <p:nvSpPr>
          <p:cNvPr id="12" name="矩形 11">
            <a:extLst>
              <a:ext uri="{FF2B5EF4-FFF2-40B4-BE49-F238E27FC236}">
                <a16:creationId xmlns:a16="http://schemas.microsoft.com/office/drawing/2014/main" id="{EFC63CBF-8E18-4AE9-EE7C-8F4FC25320C5}"/>
              </a:ext>
            </a:extLst>
          </p:cNvPr>
          <p:cNvSpPr/>
          <p:nvPr/>
        </p:nvSpPr>
        <p:spPr>
          <a:xfrm>
            <a:off x="4016407" y="3543015"/>
            <a:ext cx="1264023" cy="29583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B</a:t>
            </a:r>
            <a:endParaRPr lang="zh-CN" altLang="en-US" sz="2000" b="1" dirty="0"/>
          </a:p>
        </p:txBody>
      </p:sp>
      <p:sp>
        <p:nvSpPr>
          <p:cNvPr id="13" name="矩形 12">
            <a:extLst>
              <a:ext uri="{FF2B5EF4-FFF2-40B4-BE49-F238E27FC236}">
                <a16:creationId xmlns:a16="http://schemas.microsoft.com/office/drawing/2014/main" id="{946068D3-B993-9789-55CB-27826F87C7C7}"/>
              </a:ext>
            </a:extLst>
          </p:cNvPr>
          <p:cNvSpPr/>
          <p:nvPr/>
        </p:nvSpPr>
        <p:spPr>
          <a:xfrm>
            <a:off x="5746594" y="3544764"/>
            <a:ext cx="1264023"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endParaRPr lang="zh-CN" altLang="en-US" sz="2000" b="1" dirty="0"/>
          </a:p>
        </p:txBody>
      </p:sp>
      <p:sp>
        <p:nvSpPr>
          <p:cNvPr id="14" name="文本框 13">
            <a:extLst>
              <a:ext uri="{FF2B5EF4-FFF2-40B4-BE49-F238E27FC236}">
                <a16:creationId xmlns:a16="http://schemas.microsoft.com/office/drawing/2014/main" id="{A5A70720-4108-1B0B-958C-A9696601C929}"/>
              </a:ext>
            </a:extLst>
          </p:cNvPr>
          <p:cNvSpPr txBox="1"/>
          <p:nvPr/>
        </p:nvSpPr>
        <p:spPr>
          <a:xfrm>
            <a:off x="856347" y="3173683"/>
            <a:ext cx="1497526" cy="400110"/>
          </a:xfrm>
          <a:prstGeom prst="rect">
            <a:avLst/>
          </a:prstGeom>
          <a:noFill/>
        </p:spPr>
        <p:txBody>
          <a:bodyPr wrap="square" rtlCol="0">
            <a:spAutoFit/>
          </a:bodyPr>
          <a:lstStyle/>
          <a:p>
            <a:r>
              <a:rPr lang="zh-CN" altLang="en-US" sz="2000" b="1" dirty="0"/>
              <a:t>外设</a:t>
            </a:r>
            <a:r>
              <a:rPr lang="en-US" altLang="zh-CN" sz="2000" b="1" dirty="0"/>
              <a:t>IO</a:t>
            </a:r>
            <a:r>
              <a:rPr lang="zh-CN" altLang="en-US" sz="2000" b="1" dirty="0"/>
              <a:t>资源</a:t>
            </a:r>
          </a:p>
        </p:txBody>
      </p:sp>
      <p:sp>
        <p:nvSpPr>
          <p:cNvPr id="15" name="文本框 14">
            <a:extLst>
              <a:ext uri="{FF2B5EF4-FFF2-40B4-BE49-F238E27FC236}">
                <a16:creationId xmlns:a16="http://schemas.microsoft.com/office/drawing/2014/main" id="{FE29C4BA-9500-A897-F3DF-E1EA52AB414C}"/>
              </a:ext>
            </a:extLst>
          </p:cNvPr>
          <p:cNvSpPr txBox="1"/>
          <p:nvPr/>
        </p:nvSpPr>
        <p:spPr>
          <a:xfrm>
            <a:off x="839275" y="3506265"/>
            <a:ext cx="1205779" cy="400110"/>
          </a:xfrm>
          <a:prstGeom prst="rect">
            <a:avLst/>
          </a:prstGeom>
          <a:noFill/>
        </p:spPr>
        <p:txBody>
          <a:bodyPr wrap="square" rtlCol="0">
            <a:spAutoFit/>
          </a:bodyPr>
          <a:lstStyle/>
          <a:p>
            <a:r>
              <a:rPr lang="en-US" altLang="zh-CN" sz="2000" b="1" dirty="0"/>
              <a:t>CPU</a:t>
            </a:r>
            <a:r>
              <a:rPr lang="zh-CN" altLang="en-US" sz="2000" b="1" dirty="0"/>
              <a:t>资源</a:t>
            </a:r>
          </a:p>
        </p:txBody>
      </p:sp>
      <p:sp>
        <p:nvSpPr>
          <p:cNvPr id="16" name="矩形 15">
            <a:extLst>
              <a:ext uri="{FF2B5EF4-FFF2-40B4-BE49-F238E27FC236}">
                <a16:creationId xmlns:a16="http://schemas.microsoft.com/office/drawing/2014/main" id="{138D9AC1-04AA-C03C-A74E-D0F7FDECC960}"/>
              </a:ext>
            </a:extLst>
          </p:cNvPr>
          <p:cNvSpPr/>
          <p:nvPr/>
        </p:nvSpPr>
        <p:spPr>
          <a:xfrm>
            <a:off x="5280430" y="3544765"/>
            <a:ext cx="466165" cy="2923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rPr>
              <a:t>Swap</a:t>
            </a:r>
            <a:endParaRPr lang="zh-CN" altLang="en-US" sz="800" b="1" dirty="0">
              <a:solidFill>
                <a:schemeClr val="tx1"/>
              </a:solidFill>
            </a:endParaRPr>
          </a:p>
        </p:txBody>
      </p:sp>
    </p:spTree>
    <p:extLst>
      <p:ext uri="{BB962C8B-B14F-4D97-AF65-F5344CB8AC3E}">
        <p14:creationId xmlns:p14="http://schemas.microsoft.com/office/powerpoint/2010/main" val="3696725967"/>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3467616" cy="584775"/>
          </a:xfrm>
          <a:prstGeom prst="rect">
            <a:avLst/>
          </a:prstGeom>
          <a:noFill/>
        </p:spPr>
        <p:txBody>
          <a:bodyPr wrap="none" rtlCol="0">
            <a:spAutoFit/>
          </a:bodyPr>
          <a:lstStyle/>
          <a:p>
            <a:r>
              <a:rPr kumimoji="1" lang="zh-CN" altLang="en-US" sz="3200" b="1" dirty="0">
                <a:solidFill>
                  <a:schemeClr val="accent3"/>
                </a:solidFill>
              </a:rPr>
              <a:t>协程与线程的区别</a:t>
            </a:r>
            <a:endParaRPr kumimoji="1" lang="zh-CN" altLang="en-US" b="1" dirty="0">
              <a:solidFill>
                <a:schemeClr val="accent3"/>
              </a:solidFill>
            </a:endParaRP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5F93C1B6-3EBD-E78E-8558-87748BAF81CF}"/>
              </a:ext>
            </a:extLst>
          </p:cNvPr>
          <p:cNvSpPr/>
          <p:nvPr/>
        </p:nvSpPr>
        <p:spPr>
          <a:xfrm>
            <a:off x="4076397" y="2918261"/>
            <a:ext cx="1264023"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endParaRPr lang="zh-CN" altLang="en-US" sz="2000" b="1" dirty="0"/>
          </a:p>
        </p:txBody>
      </p:sp>
      <p:sp>
        <p:nvSpPr>
          <p:cNvPr id="6" name="矩形 5">
            <a:extLst>
              <a:ext uri="{FF2B5EF4-FFF2-40B4-BE49-F238E27FC236}">
                <a16:creationId xmlns:a16="http://schemas.microsoft.com/office/drawing/2014/main" id="{3EB41AB0-80FE-6DF5-C288-FFE30C938BA9}"/>
              </a:ext>
            </a:extLst>
          </p:cNvPr>
          <p:cNvSpPr/>
          <p:nvPr/>
        </p:nvSpPr>
        <p:spPr>
          <a:xfrm>
            <a:off x="5340419" y="2622426"/>
            <a:ext cx="2142565"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r>
              <a:rPr lang="zh-CN" altLang="en-US" sz="2000" b="1" dirty="0"/>
              <a:t>访问</a:t>
            </a:r>
            <a:r>
              <a:rPr lang="en-US" altLang="zh-CN" sz="2000" b="1" dirty="0"/>
              <a:t>IO</a:t>
            </a:r>
            <a:endParaRPr lang="zh-CN" altLang="en-US" sz="2000" b="1" dirty="0"/>
          </a:p>
        </p:txBody>
      </p:sp>
      <p:sp>
        <p:nvSpPr>
          <p:cNvPr id="7" name="矩形 6">
            <a:extLst>
              <a:ext uri="{FF2B5EF4-FFF2-40B4-BE49-F238E27FC236}">
                <a16:creationId xmlns:a16="http://schemas.microsoft.com/office/drawing/2014/main" id="{A76E9ECB-99EA-CEE7-36DD-5C2E290E7831}"/>
              </a:ext>
            </a:extLst>
          </p:cNvPr>
          <p:cNvSpPr/>
          <p:nvPr/>
        </p:nvSpPr>
        <p:spPr>
          <a:xfrm>
            <a:off x="5340418" y="2918262"/>
            <a:ext cx="466165" cy="2923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rPr>
              <a:t>Swap</a:t>
            </a:r>
            <a:endParaRPr lang="zh-CN" altLang="en-US" sz="800" b="1" dirty="0">
              <a:solidFill>
                <a:schemeClr val="tx1"/>
              </a:solidFill>
            </a:endParaRPr>
          </a:p>
        </p:txBody>
      </p:sp>
      <p:sp>
        <p:nvSpPr>
          <p:cNvPr id="8" name="矩形 7">
            <a:extLst>
              <a:ext uri="{FF2B5EF4-FFF2-40B4-BE49-F238E27FC236}">
                <a16:creationId xmlns:a16="http://schemas.microsoft.com/office/drawing/2014/main" id="{77A5F9D7-8AD7-9531-EDD4-2C4E0E91021A}"/>
              </a:ext>
            </a:extLst>
          </p:cNvPr>
          <p:cNvSpPr/>
          <p:nvPr/>
        </p:nvSpPr>
        <p:spPr>
          <a:xfrm>
            <a:off x="5752797" y="2916512"/>
            <a:ext cx="1264023" cy="295835"/>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B</a:t>
            </a:r>
            <a:endParaRPr lang="zh-CN" altLang="en-US" sz="2000" b="1" dirty="0"/>
          </a:p>
        </p:txBody>
      </p:sp>
      <p:sp>
        <p:nvSpPr>
          <p:cNvPr id="12" name="矩形 11">
            <a:extLst>
              <a:ext uri="{FF2B5EF4-FFF2-40B4-BE49-F238E27FC236}">
                <a16:creationId xmlns:a16="http://schemas.microsoft.com/office/drawing/2014/main" id="{1E2AC3A2-C679-5D86-4D22-013B238A6BE3}"/>
              </a:ext>
            </a:extLst>
          </p:cNvPr>
          <p:cNvSpPr/>
          <p:nvPr/>
        </p:nvSpPr>
        <p:spPr>
          <a:xfrm>
            <a:off x="7482984" y="2918261"/>
            <a:ext cx="1264023" cy="2958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协程</a:t>
            </a:r>
            <a:r>
              <a:rPr lang="en-US" altLang="zh-CN" sz="2000" b="1" dirty="0"/>
              <a:t>A</a:t>
            </a:r>
            <a:endParaRPr lang="zh-CN" altLang="en-US" sz="2000" b="1" dirty="0"/>
          </a:p>
        </p:txBody>
      </p:sp>
      <p:sp>
        <p:nvSpPr>
          <p:cNvPr id="13" name="文本框 12">
            <a:extLst>
              <a:ext uri="{FF2B5EF4-FFF2-40B4-BE49-F238E27FC236}">
                <a16:creationId xmlns:a16="http://schemas.microsoft.com/office/drawing/2014/main" id="{0C765F30-9753-D540-005D-90105B1CBC43}"/>
              </a:ext>
            </a:extLst>
          </p:cNvPr>
          <p:cNvSpPr txBox="1"/>
          <p:nvPr/>
        </p:nvSpPr>
        <p:spPr>
          <a:xfrm>
            <a:off x="2592737" y="2547180"/>
            <a:ext cx="1497526" cy="400110"/>
          </a:xfrm>
          <a:prstGeom prst="rect">
            <a:avLst/>
          </a:prstGeom>
          <a:noFill/>
        </p:spPr>
        <p:txBody>
          <a:bodyPr wrap="square" rtlCol="0">
            <a:spAutoFit/>
          </a:bodyPr>
          <a:lstStyle/>
          <a:p>
            <a:r>
              <a:rPr lang="zh-CN" altLang="en-US" sz="2000" b="1" dirty="0"/>
              <a:t>外设</a:t>
            </a:r>
            <a:r>
              <a:rPr lang="en-US" altLang="zh-CN" sz="2000" b="1" dirty="0"/>
              <a:t>IO</a:t>
            </a:r>
            <a:r>
              <a:rPr lang="zh-CN" altLang="en-US" sz="2000" b="1" dirty="0"/>
              <a:t>资源</a:t>
            </a:r>
          </a:p>
        </p:txBody>
      </p:sp>
      <p:sp>
        <p:nvSpPr>
          <p:cNvPr id="14" name="文本框 13">
            <a:extLst>
              <a:ext uri="{FF2B5EF4-FFF2-40B4-BE49-F238E27FC236}">
                <a16:creationId xmlns:a16="http://schemas.microsoft.com/office/drawing/2014/main" id="{3562C751-B34E-2532-259E-E61AF2DD2456}"/>
              </a:ext>
            </a:extLst>
          </p:cNvPr>
          <p:cNvSpPr txBox="1"/>
          <p:nvPr/>
        </p:nvSpPr>
        <p:spPr>
          <a:xfrm>
            <a:off x="2575665" y="2879762"/>
            <a:ext cx="1205779" cy="400110"/>
          </a:xfrm>
          <a:prstGeom prst="rect">
            <a:avLst/>
          </a:prstGeom>
          <a:noFill/>
        </p:spPr>
        <p:txBody>
          <a:bodyPr wrap="square" rtlCol="0">
            <a:spAutoFit/>
          </a:bodyPr>
          <a:lstStyle/>
          <a:p>
            <a:r>
              <a:rPr lang="en-US" altLang="zh-CN" sz="2000" b="1" dirty="0"/>
              <a:t>CPU</a:t>
            </a:r>
            <a:r>
              <a:rPr lang="zh-CN" altLang="en-US" sz="2000" b="1" dirty="0"/>
              <a:t>资源</a:t>
            </a:r>
          </a:p>
        </p:txBody>
      </p:sp>
      <p:sp>
        <p:nvSpPr>
          <p:cNvPr id="15" name="文本框 14">
            <a:extLst>
              <a:ext uri="{FF2B5EF4-FFF2-40B4-BE49-F238E27FC236}">
                <a16:creationId xmlns:a16="http://schemas.microsoft.com/office/drawing/2014/main" id="{D167EE86-18CF-AF5C-7738-02437F32F73B}"/>
              </a:ext>
            </a:extLst>
          </p:cNvPr>
          <p:cNvSpPr txBox="1"/>
          <p:nvPr/>
        </p:nvSpPr>
        <p:spPr>
          <a:xfrm>
            <a:off x="779388" y="1758218"/>
            <a:ext cx="2231701" cy="400110"/>
          </a:xfrm>
          <a:prstGeom prst="rect">
            <a:avLst/>
          </a:prstGeom>
          <a:noFill/>
        </p:spPr>
        <p:txBody>
          <a:bodyPr wrap="none" rtlCol="0">
            <a:spAutoFit/>
          </a:bodyPr>
          <a:lstStyle/>
          <a:p>
            <a:r>
              <a:rPr kumimoji="1" lang="en-US" altLang="zh-CN" sz="2000" b="1" dirty="0">
                <a:solidFill>
                  <a:schemeClr val="accent3"/>
                </a:solidFill>
              </a:rPr>
              <a:t>CPU</a:t>
            </a:r>
            <a:r>
              <a:rPr kumimoji="1" lang="zh-CN" altLang="en-US" sz="2000" b="1" dirty="0">
                <a:solidFill>
                  <a:schemeClr val="accent3"/>
                </a:solidFill>
              </a:rPr>
              <a:t>的协程切换：</a:t>
            </a:r>
          </a:p>
        </p:txBody>
      </p:sp>
      <p:cxnSp>
        <p:nvCxnSpPr>
          <p:cNvPr id="16" name="直接连接符 79">
            <a:extLst>
              <a:ext uri="{FF2B5EF4-FFF2-40B4-BE49-F238E27FC236}">
                <a16:creationId xmlns:a16="http://schemas.microsoft.com/office/drawing/2014/main" id="{8E1582DE-A195-90F5-8CFD-74EEEE54BA86}"/>
              </a:ext>
            </a:extLst>
          </p:cNvPr>
          <p:cNvCxnSpPr>
            <a:cxnSpLocks/>
          </p:cNvCxnSpPr>
          <p:nvPr/>
        </p:nvCxnSpPr>
        <p:spPr>
          <a:xfrm>
            <a:off x="2030819" y="3690807"/>
            <a:ext cx="7777628"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39867958-BA5A-B001-F931-E2F7E4421FCE}"/>
              </a:ext>
            </a:extLst>
          </p:cNvPr>
          <p:cNvSpPr txBox="1"/>
          <p:nvPr/>
        </p:nvSpPr>
        <p:spPr>
          <a:xfrm>
            <a:off x="935665" y="3955312"/>
            <a:ext cx="1569660" cy="369332"/>
          </a:xfrm>
          <a:prstGeom prst="rect">
            <a:avLst/>
          </a:prstGeom>
          <a:noFill/>
        </p:spPr>
        <p:txBody>
          <a:bodyPr wrap="none" rtlCol="0">
            <a:spAutoFit/>
          </a:bodyPr>
          <a:lstStyle/>
          <a:p>
            <a:r>
              <a:rPr kumimoji="1" lang="zh-CN" altLang="en-US" b="1" dirty="0">
                <a:solidFill>
                  <a:schemeClr val="accent3"/>
                </a:solidFill>
              </a:rPr>
              <a:t>线程与协程：</a:t>
            </a:r>
          </a:p>
        </p:txBody>
      </p:sp>
      <p:graphicFrame>
        <p:nvGraphicFramePr>
          <p:cNvPr id="20" name="表格 20">
            <a:extLst>
              <a:ext uri="{FF2B5EF4-FFF2-40B4-BE49-F238E27FC236}">
                <a16:creationId xmlns:a16="http://schemas.microsoft.com/office/drawing/2014/main" id="{0B4FC3FF-0E46-6D76-FC23-32AF8A9FC2BA}"/>
              </a:ext>
            </a:extLst>
          </p:cNvPr>
          <p:cNvGraphicFramePr>
            <a:graphicFrameLocks noGrp="1"/>
          </p:cNvGraphicFramePr>
          <p:nvPr>
            <p:extLst>
              <p:ext uri="{D42A27DB-BD31-4B8C-83A1-F6EECF244321}">
                <p14:modId xmlns:p14="http://schemas.microsoft.com/office/powerpoint/2010/main" val="329302366"/>
              </p:ext>
            </p:extLst>
          </p:nvPr>
        </p:nvGraphicFramePr>
        <p:xfrm>
          <a:off x="3011089" y="4124970"/>
          <a:ext cx="7366288" cy="1887272"/>
        </p:xfrm>
        <a:graphic>
          <a:graphicData uri="http://schemas.openxmlformats.org/drawingml/2006/table">
            <a:tbl>
              <a:tblPr firstRow="1" bandRow="1">
                <a:tableStyleId>{5C22544A-7EE6-4342-B048-85BDC9FD1C3A}</a:tableStyleId>
              </a:tblPr>
              <a:tblGrid>
                <a:gridCol w="1371674">
                  <a:extLst>
                    <a:ext uri="{9D8B030D-6E8A-4147-A177-3AD203B41FA5}">
                      <a16:colId xmlns:a16="http://schemas.microsoft.com/office/drawing/2014/main" val="2933607845"/>
                    </a:ext>
                  </a:extLst>
                </a:gridCol>
                <a:gridCol w="3105132">
                  <a:extLst>
                    <a:ext uri="{9D8B030D-6E8A-4147-A177-3AD203B41FA5}">
                      <a16:colId xmlns:a16="http://schemas.microsoft.com/office/drawing/2014/main" val="3378031043"/>
                    </a:ext>
                  </a:extLst>
                </a:gridCol>
                <a:gridCol w="2889482">
                  <a:extLst>
                    <a:ext uri="{9D8B030D-6E8A-4147-A177-3AD203B41FA5}">
                      <a16:colId xmlns:a16="http://schemas.microsoft.com/office/drawing/2014/main" val="558643823"/>
                    </a:ext>
                  </a:extLst>
                </a:gridCol>
              </a:tblGrid>
              <a:tr h="471818">
                <a:tc>
                  <a:txBody>
                    <a:bodyPr/>
                    <a:lstStyle/>
                    <a:p>
                      <a:pPr algn="ctr"/>
                      <a:endParaRPr lang="zh-CN" altLang="en-US" dirty="0"/>
                    </a:p>
                  </a:txBody>
                  <a:tcPr/>
                </a:tc>
                <a:tc>
                  <a:txBody>
                    <a:bodyPr/>
                    <a:lstStyle/>
                    <a:p>
                      <a:pPr algn="ctr"/>
                      <a:r>
                        <a:rPr lang="zh-CN" altLang="en-US" dirty="0"/>
                        <a:t>线程</a:t>
                      </a:r>
                    </a:p>
                  </a:txBody>
                  <a:tcPr/>
                </a:tc>
                <a:tc>
                  <a:txBody>
                    <a:bodyPr/>
                    <a:lstStyle/>
                    <a:p>
                      <a:pPr algn="ctr"/>
                      <a:r>
                        <a:rPr lang="zh-CN" altLang="en-US" dirty="0"/>
                        <a:t>协程</a:t>
                      </a:r>
                    </a:p>
                  </a:txBody>
                  <a:tcPr/>
                </a:tc>
                <a:extLst>
                  <a:ext uri="{0D108BD9-81ED-4DB2-BD59-A6C34878D82A}">
                    <a16:rowId xmlns:a16="http://schemas.microsoft.com/office/drawing/2014/main" val="1900498843"/>
                  </a:ext>
                </a:extLst>
              </a:tr>
              <a:tr h="471818">
                <a:tc>
                  <a:txBody>
                    <a:bodyPr/>
                    <a:lstStyle/>
                    <a:p>
                      <a:pPr algn="ctr"/>
                      <a:r>
                        <a:rPr lang="zh-CN" altLang="en-US" b="1" dirty="0"/>
                        <a:t>切换代价</a:t>
                      </a:r>
                    </a:p>
                  </a:txBody>
                  <a:tcPr/>
                </a:tc>
                <a:tc>
                  <a:txBody>
                    <a:bodyPr/>
                    <a:lstStyle/>
                    <a:p>
                      <a:pPr algn="ctr"/>
                      <a:r>
                        <a:rPr lang="zh-CN" altLang="en-US" dirty="0"/>
                        <a:t>内核态下，</a:t>
                      </a:r>
                      <a:r>
                        <a:rPr lang="en-US" altLang="zh-CN" dirty="0"/>
                        <a:t>&gt;</a:t>
                      </a:r>
                      <a:r>
                        <a:rPr lang="zh-CN" altLang="en-US" dirty="0"/>
                        <a:t> </a:t>
                      </a:r>
                      <a:r>
                        <a:rPr lang="en-US" altLang="zh-CN" dirty="0"/>
                        <a:t>1000</a:t>
                      </a:r>
                      <a:r>
                        <a:rPr lang="zh-CN" altLang="en-US" dirty="0"/>
                        <a:t> </a:t>
                      </a:r>
                      <a:r>
                        <a:rPr lang="en-US" altLang="zh-CN" dirty="0"/>
                        <a:t>cycle</a:t>
                      </a:r>
                      <a:endParaRPr lang="zh-CN" altLang="en-US" dirty="0"/>
                    </a:p>
                  </a:txBody>
                  <a:tcPr anchor="ctr"/>
                </a:tc>
                <a:tc>
                  <a:txBody>
                    <a:bodyPr/>
                    <a:lstStyle/>
                    <a:p>
                      <a:pPr algn="ctr"/>
                      <a:r>
                        <a:rPr lang="zh-CN" altLang="en-US" dirty="0"/>
                        <a:t>用户态下， </a:t>
                      </a:r>
                      <a:r>
                        <a:rPr lang="en-US" altLang="zh-CN" dirty="0"/>
                        <a:t>≈100</a:t>
                      </a:r>
                      <a:r>
                        <a:rPr lang="zh-CN" altLang="en-US" dirty="0"/>
                        <a:t> </a:t>
                      </a:r>
                      <a:r>
                        <a:rPr lang="en-US" altLang="zh-CN" dirty="0"/>
                        <a:t>cycle</a:t>
                      </a:r>
                      <a:endParaRPr lang="zh-CN" altLang="en-US" dirty="0"/>
                    </a:p>
                  </a:txBody>
                  <a:tcPr anchor="ctr"/>
                </a:tc>
                <a:extLst>
                  <a:ext uri="{0D108BD9-81ED-4DB2-BD59-A6C34878D82A}">
                    <a16:rowId xmlns:a16="http://schemas.microsoft.com/office/drawing/2014/main" val="2032690211"/>
                  </a:ext>
                </a:extLst>
              </a:tr>
              <a:tr h="471818">
                <a:tc>
                  <a:txBody>
                    <a:bodyPr/>
                    <a:lstStyle/>
                    <a:p>
                      <a:pPr algn="ctr"/>
                      <a:r>
                        <a:rPr lang="zh-CN" altLang="en-US" b="1" dirty="0"/>
                        <a:t>调度方式</a:t>
                      </a:r>
                    </a:p>
                  </a:txBody>
                  <a:tcPr/>
                </a:tc>
                <a:tc>
                  <a:txBody>
                    <a:bodyPr/>
                    <a:lstStyle/>
                    <a:p>
                      <a:pPr algn="ctr"/>
                      <a:r>
                        <a:rPr lang="zh-CN" altLang="en-US" dirty="0"/>
                        <a:t>操作系统负责</a:t>
                      </a:r>
                    </a:p>
                  </a:txBody>
                  <a:tcPr anchor="ctr"/>
                </a:tc>
                <a:tc>
                  <a:txBody>
                    <a:bodyPr/>
                    <a:lstStyle/>
                    <a:p>
                      <a:pPr algn="ctr"/>
                      <a:r>
                        <a:rPr lang="zh-CN" altLang="en-US" dirty="0"/>
                        <a:t>用户代码负责</a:t>
                      </a:r>
                    </a:p>
                  </a:txBody>
                  <a:tcPr anchor="ctr"/>
                </a:tc>
                <a:extLst>
                  <a:ext uri="{0D108BD9-81ED-4DB2-BD59-A6C34878D82A}">
                    <a16:rowId xmlns:a16="http://schemas.microsoft.com/office/drawing/2014/main" val="3543513228"/>
                  </a:ext>
                </a:extLst>
              </a:tr>
              <a:tr h="471818">
                <a:tc>
                  <a:txBody>
                    <a:bodyPr/>
                    <a:lstStyle/>
                    <a:p>
                      <a:pPr algn="ctr"/>
                      <a:r>
                        <a:rPr lang="zh-CN" altLang="en-US" b="1" dirty="0"/>
                        <a:t>状态太小</a:t>
                      </a:r>
                    </a:p>
                  </a:txBody>
                  <a:tcPr/>
                </a:tc>
                <a:tc>
                  <a:txBody>
                    <a:bodyPr/>
                    <a:lstStyle/>
                    <a:p>
                      <a:pPr algn="ctr"/>
                      <a:r>
                        <a:rPr lang="en-US" altLang="zh-CN" dirty="0"/>
                        <a:t>TCB</a:t>
                      </a:r>
                      <a:r>
                        <a:rPr lang="zh-CN" altLang="en-US" dirty="0"/>
                        <a:t>：</a:t>
                      </a:r>
                      <a:r>
                        <a:rPr lang="en-US" altLang="zh-CN" dirty="0"/>
                        <a:t>KB</a:t>
                      </a:r>
                      <a:r>
                        <a:rPr lang="zh-CN" altLang="en-US" dirty="0"/>
                        <a:t>级别</a:t>
                      </a:r>
                    </a:p>
                  </a:txBody>
                  <a:tcPr anchor="ctr"/>
                </a:tc>
                <a:tc>
                  <a:txBody>
                    <a:bodyPr/>
                    <a:lstStyle/>
                    <a:p>
                      <a:pPr algn="ctr"/>
                      <a:r>
                        <a:rPr lang="zh-CN" altLang="en-US" dirty="0"/>
                        <a:t>执行现场</a:t>
                      </a:r>
                    </a:p>
                  </a:txBody>
                  <a:tcPr anchor="ctr"/>
                </a:tc>
                <a:extLst>
                  <a:ext uri="{0D108BD9-81ED-4DB2-BD59-A6C34878D82A}">
                    <a16:rowId xmlns:a16="http://schemas.microsoft.com/office/drawing/2014/main" val="536608128"/>
                  </a:ext>
                </a:extLst>
              </a:tr>
            </a:tbl>
          </a:graphicData>
        </a:graphic>
      </p:graphicFrame>
      <p:sp>
        <p:nvSpPr>
          <p:cNvPr id="21" name="矩形 20">
            <a:extLst>
              <a:ext uri="{FF2B5EF4-FFF2-40B4-BE49-F238E27FC236}">
                <a16:creationId xmlns:a16="http://schemas.microsoft.com/office/drawing/2014/main" id="{CFE86001-227B-AEF5-8513-B60B68B67A4C}"/>
              </a:ext>
            </a:extLst>
          </p:cNvPr>
          <p:cNvSpPr/>
          <p:nvPr/>
        </p:nvSpPr>
        <p:spPr>
          <a:xfrm>
            <a:off x="7016820" y="2918262"/>
            <a:ext cx="466165" cy="2923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b="1" dirty="0">
                <a:solidFill>
                  <a:schemeClr val="tx1"/>
                </a:solidFill>
              </a:rPr>
              <a:t>Swap</a:t>
            </a:r>
            <a:endParaRPr lang="zh-CN" altLang="en-US" sz="800" b="1" dirty="0">
              <a:solidFill>
                <a:schemeClr val="tx1"/>
              </a:solidFill>
            </a:endParaRPr>
          </a:p>
        </p:txBody>
      </p:sp>
    </p:spTree>
    <p:extLst>
      <p:ext uri="{BB962C8B-B14F-4D97-AF65-F5344CB8AC3E}">
        <p14:creationId xmlns:p14="http://schemas.microsoft.com/office/powerpoint/2010/main" val="3277558665"/>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1826141" cy="584775"/>
          </a:xfrm>
          <a:prstGeom prst="rect">
            <a:avLst/>
          </a:prstGeom>
          <a:noFill/>
        </p:spPr>
        <p:txBody>
          <a:bodyPr wrap="none" rtlCol="0">
            <a:spAutoFit/>
          </a:bodyPr>
          <a:lstStyle/>
          <a:p>
            <a:r>
              <a:rPr kumimoji="1" lang="zh-CN" altLang="en-US" sz="3200" b="1" dirty="0">
                <a:solidFill>
                  <a:schemeClr val="accent3"/>
                </a:solidFill>
              </a:rPr>
              <a:t>实验内容</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F2B009C-D5B4-B82D-CF45-18232066273F}"/>
              </a:ext>
            </a:extLst>
          </p:cNvPr>
          <p:cNvSpPr txBox="1"/>
          <p:nvPr/>
        </p:nvSpPr>
        <p:spPr>
          <a:xfrm>
            <a:off x="662189" y="1497540"/>
            <a:ext cx="5307863" cy="1477071"/>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【Task.1】</a:t>
            </a:r>
            <a:r>
              <a:rPr kumimoji="1" lang="zh-CN" altLang="en-US" sz="2400" dirty="0">
                <a:solidFill>
                  <a:schemeClr val="accent3"/>
                </a:solidFill>
                <a:latin typeface="Consolas" panose="020B0609020204030204" pitchFamily="49" charset="0"/>
                <a:cs typeface="Consolas" panose="020B0609020204030204" pitchFamily="49" charset="0"/>
              </a:rPr>
              <a:t>实现一个</a:t>
            </a:r>
            <a:r>
              <a:rPr kumimoji="1" lang="zh-CN" altLang="en-US" sz="2800" b="1" dirty="0">
                <a:solidFill>
                  <a:schemeClr val="accent3"/>
                </a:solidFill>
                <a:latin typeface="Consolas" panose="020B0609020204030204" pitchFamily="49" charset="0"/>
                <a:cs typeface="Consolas" panose="020B0609020204030204" pitchFamily="49" charset="0"/>
              </a:rPr>
              <a:t>有栈协程库</a:t>
            </a:r>
            <a:endParaRPr kumimoji="1" lang="en-US" altLang="zh-CN" sz="2800" b="1" dirty="0">
              <a:solidFill>
                <a:schemeClr val="accent3"/>
              </a:solidFill>
              <a:latin typeface="Consolas" panose="020B0609020204030204" pitchFamily="49" charset="0"/>
              <a:cs typeface="Consolas" panose="020B0609020204030204" pitchFamily="49" charset="0"/>
            </a:endParaRPr>
          </a:p>
          <a:p>
            <a:pPr lvl="1">
              <a:lnSpc>
                <a:spcPct val="150000"/>
              </a:lnSpc>
            </a:pPr>
            <a:r>
              <a:rPr lang="zh-CN" altLang="en-US" sz="2000" dirty="0">
                <a:latin typeface="Consolas" panose="020B0609020204030204" pitchFamily="49" charset="0"/>
                <a:cs typeface="Consolas" panose="020B0609020204030204" pitchFamily="49" charset="0"/>
              </a:rPr>
              <a:t>使用汇编</a:t>
            </a:r>
            <a:r>
              <a:rPr lang="en-US" altLang="zh-CN" sz="2000" dirty="0">
                <a:latin typeface="Consolas" panose="020B0609020204030204" pitchFamily="49" charset="0"/>
                <a:cs typeface="Consolas" panose="020B0609020204030204" pitchFamily="49" charset="0"/>
              </a:rPr>
              <a:t>/C++</a:t>
            </a:r>
            <a:r>
              <a:rPr lang="zh-CN" altLang="en-US" sz="2000" dirty="0">
                <a:latin typeface="Consolas" panose="020B0609020204030204" pitchFamily="49" charset="0"/>
                <a:cs typeface="Consolas" panose="020B0609020204030204" pitchFamily="49" charset="0"/>
              </a:rPr>
              <a:t>代码完善基础协程库</a:t>
            </a:r>
            <a:endParaRPr lang="en-US" altLang="zh-CN" sz="2000" dirty="0">
              <a:latin typeface="Consolas" panose="020B0609020204030204" pitchFamily="49" charset="0"/>
              <a:cs typeface="Consolas" panose="020B0609020204030204" pitchFamily="49" charset="0"/>
            </a:endParaRPr>
          </a:p>
          <a:p>
            <a:pPr lvl="1">
              <a:lnSpc>
                <a:spcPct val="150000"/>
              </a:lnSpc>
            </a:pPr>
            <a:r>
              <a:rPr kumimoji="1" lang="en-US" altLang="zh-CN" sz="2000" b="1" dirty="0">
                <a:latin typeface="Consolas" panose="020B0609020204030204" pitchFamily="49" charset="0"/>
                <a:cs typeface="Consolas" panose="020B0609020204030204" pitchFamily="49" charset="0"/>
              </a:rPr>
              <a:t>	</a:t>
            </a:r>
            <a:r>
              <a:rPr kumimoji="1" lang="zh-CN" altLang="en-US" sz="2400" b="1" dirty="0">
                <a:latin typeface="Consolas" panose="020B0609020204030204" pitchFamily="49" charset="0"/>
                <a:cs typeface="Consolas" panose="020B0609020204030204" pitchFamily="49" charset="0"/>
              </a:rPr>
              <a:t>调度</a:t>
            </a:r>
            <a:r>
              <a:rPr kumimoji="1" lang="en-US" altLang="zh-CN" sz="2400" b="1" dirty="0">
                <a:latin typeface="Consolas" panose="020B0609020204030204" pitchFamily="49" charset="0"/>
                <a:cs typeface="Consolas" panose="020B0609020204030204" pitchFamily="49" charset="0"/>
              </a:rPr>
              <a:t>+</a:t>
            </a:r>
            <a:r>
              <a:rPr kumimoji="1" lang="zh-CN" altLang="en-US" sz="2400" b="1" dirty="0">
                <a:latin typeface="Consolas" panose="020B0609020204030204" pitchFamily="49" charset="0"/>
                <a:cs typeface="Consolas" panose="020B0609020204030204" pitchFamily="49" charset="0"/>
              </a:rPr>
              <a:t>切出</a:t>
            </a:r>
            <a:r>
              <a:rPr kumimoji="1" lang="en-US" altLang="zh-CN" sz="2400" b="1" dirty="0">
                <a:latin typeface="Consolas" panose="020B0609020204030204" pitchFamily="49" charset="0"/>
                <a:cs typeface="Consolas" panose="020B0609020204030204" pitchFamily="49" charset="0"/>
              </a:rPr>
              <a:t>+</a:t>
            </a:r>
            <a:r>
              <a:rPr kumimoji="1" lang="zh-CN" altLang="en-US" sz="2400" b="1" dirty="0">
                <a:latin typeface="Consolas" panose="020B0609020204030204" pitchFamily="49" charset="0"/>
                <a:cs typeface="Consolas" panose="020B0609020204030204" pitchFamily="49" charset="0"/>
              </a:rPr>
              <a:t>恢复</a:t>
            </a:r>
            <a:endParaRPr kumimoji="1" lang="zh-CN" altLang="en-US" sz="2800" b="1" dirty="0"/>
          </a:p>
        </p:txBody>
      </p:sp>
      <p:sp>
        <p:nvSpPr>
          <p:cNvPr id="12" name="文本框 11">
            <a:extLst>
              <a:ext uri="{FF2B5EF4-FFF2-40B4-BE49-F238E27FC236}">
                <a16:creationId xmlns:a16="http://schemas.microsoft.com/office/drawing/2014/main" id="{28187BE4-187C-4D30-1CDF-F1EFDE641374}"/>
              </a:ext>
            </a:extLst>
          </p:cNvPr>
          <p:cNvSpPr txBox="1"/>
          <p:nvPr/>
        </p:nvSpPr>
        <p:spPr>
          <a:xfrm>
            <a:off x="662189" y="4821401"/>
            <a:ext cx="4743606" cy="872803"/>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【Task.3】</a:t>
            </a:r>
            <a:r>
              <a:rPr kumimoji="1" lang="zh-CN" altLang="en-US" sz="2400" dirty="0">
                <a:solidFill>
                  <a:schemeClr val="accent3"/>
                </a:solidFill>
                <a:latin typeface="Consolas" panose="020B0609020204030204" pitchFamily="49" charset="0"/>
                <a:cs typeface="Consolas" panose="020B0609020204030204" pitchFamily="49" charset="0"/>
              </a:rPr>
              <a:t>使用协程优化程序</a:t>
            </a:r>
            <a:endParaRPr kumimoji="1" lang="en-US" altLang="zh-CN" sz="2400" dirty="0">
              <a:solidFill>
                <a:schemeClr val="accent3"/>
              </a:solidFill>
              <a:latin typeface="Consolas" panose="020B0609020204030204" pitchFamily="49" charset="0"/>
              <a:cs typeface="Consolas" panose="020B0609020204030204" pitchFamily="49" charset="0"/>
            </a:endParaRPr>
          </a:p>
          <a:p>
            <a:pPr lvl="1">
              <a:lnSpc>
                <a:spcPct val="150000"/>
              </a:lnSpc>
            </a:pPr>
            <a:r>
              <a:rPr lang="zh-CN" altLang="en-US" sz="2000" dirty="0">
                <a:latin typeface="Consolas" panose="020B0609020204030204" pitchFamily="49" charset="0"/>
                <a:cs typeface="Consolas" panose="020B0609020204030204" pitchFamily="49" charset="0"/>
              </a:rPr>
              <a:t>使用协程优化二分查找</a:t>
            </a:r>
            <a:endParaRPr lang="en-US" altLang="zh-CN" sz="2000" dirty="0">
              <a:latin typeface="Consolas" panose="020B0609020204030204" pitchFamily="49" charset="0"/>
              <a:cs typeface="Consolas" panose="020B0609020204030204" pitchFamily="49" charset="0"/>
            </a:endParaRPr>
          </a:p>
        </p:txBody>
      </p:sp>
      <p:sp>
        <p:nvSpPr>
          <p:cNvPr id="14" name="矩形 13">
            <a:extLst>
              <a:ext uri="{FF2B5EF4-FFF2-40B4-BE49-F238E27FC236}">
                <a16:creationId xmlns:a16="http://schemas.microsoft.com/office/drawing/2014/main" id="{3F8565A5-9F58-B258-A1AC-F712E251FDE5}"/>
              </a:ext>
            </a:extLst>
          </p:cNvPr>
          <p:cNvSpPr/>
          <p:nvPr/>
        </p:nvSpPr>
        <p:spPr>
          <a:xfrm>
            <a:off x="8411484" y="1556068"/>
            <a:ext cx="2310263" cy="21672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5" name="矩形 14">
            <a:extLst>
              <a:ext uri="{FF2B5EF4-FFF2-40B4-BE49-F238E27FC236}">
                <a16:creationId xmlns:a16="http://schemas.microsoft.com/office/drawing/2014/main" id="{403D330E-5A0E-2A3B-2A09-E313E02FA768}"/>
              </a:ext>
            </a:extLst>
          </p:cNvPr>
          <p:cNvSpPr/>
          <p:nvPr/>
        </p:nvSpPr>
        <p:spPr>
          <a:xfrm>
            <a:off x="8411484" y="2429804"/>
            <a:ext cx="2317372" cy="498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协程调度函数</a:t>
            </a:r>
          </a:p>
        </p:txBody>
      </p:sp>
      <p:sp>
        <p:nvSpPr>
          <p:cNvPr id="16" name="右大括号 15">
            <a:extLst>
              <a:ext uri="{FF2B5EF4-FFF2-40B4-BE49-F238E27FC236}">
                <a16:creationId xmlns:a16="http://schemas.microsoft.com/office/drawing/2014/main" id="{6A204228-C550-769A-C4FB-386E9BD592F7}"/>
              </a:ext>
            </a:extLst>
          </p:cNvPr>
          <p:cNvSpPr/>
          <p:nvPr/>
        </p:nvSpPr>
        <p:spPr>
          <a:xfrm>
            <a:off x="10744903" y="1556068"/>
            <a:ext cx="305666" cy="140715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131D4CAF-B259-B794-C103-0A466E1B4B33}"/>
              </a:ext>
            </a:extLst>
          </p:cNvPr>
          <p:cNvSpPr txBox="1"/>
          <p:nvPr/>
        </p:nvSpPr>
        <p:spPr>
          <a:xfrm>
            <a:off x="11050569" y="1993351"/>
            <a:ext cx="1061615" cy="646331"/>
          </a:xfrm>
          <a:prstGeom prst="rect">
            <a:avLst/>
          </a:prstGeom>
          <a:noFill/>
        </p:spPr>
        <p:txBody>
          <a:bodyPr wrap="square" rtlCol="0">
            <a:spAutoFit/>
          </a:bodyPr>
          <a:lstStyle/>
          <a:p>
            <a:r>
              <a:rPr lang="zh-CN" altLang="en-US" dirty="0"/>
              <a:t>进程栈空间</a:t>
            </a:r>
          </a:p>
        </p:txBody>
      </p:sp>
      <p:sp>
        <p:nvSpPr>
          <p:cNvPr id="18" name="矩形 17">
            <a:extLst>
              <a:ext uri="{FF2B5EF4-FFF2-40B4-BE49-F238E27FC236}">
                <a16:creationId xmlns:a16="http://schemas.microsoft.com/office/drawing/2014/main" id="{386F9776-3B5F-F747-A54D-CE95823EB818}"/>
              </a:ext>
            </a:extLst>
          </p:cNvPr>
          <p:cNvSpPr/>
          <p:nvPr/>
        </p:nvSpPr>
        <p:spPr>
          <a:xfrm>
            <a:off x="8411484" y="3640933"/>
            <a:ext cx="2317372" cy="3910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Shard_library</a:t>
            </a:r>
            <a:endParaRPr lang="zh-CN" altLang="en-US" dirty="0"/>
          </a:p>
        </p:txBody>
      </p:sp>
      <p:sp>
        <p:nvSpPr>
          <p:cNvPr id="20" name="矩形 19">
            <a:extLst>
              <a:ext uri="{FF2B5EF4-FFF2-40B4-BE49-F238E27FC236}">
                <a16:creationId xmlns:a16="http://schemas.microsoft.com/office/drawing/2014/main" id="{3D52515E-9C4C-AD69-D421-359EE8F1DF0C}"/>
              </a:ext>
            </a:extLst>
          </p:cNvPr>
          <p:cNvSpPr/>
          <p:nvPr/>
        </p:nvSpPr>
        <p:spPr>
          <a:xfrm>
            <a:off x="8413172" y="4017075"/>
            <a:ext cx="2317356" cy="2093067"/>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右大括号 20">
            <a:extLst>
              <a:ext uri="{FF2B5EF4-FFF2-40B4-BE49-F238E27FC236}">
                <a16:creationId xmlns:a16="http://schemas.microsoft.com/office/drawing/2014/main" id="{7708DEEA-534A-DA13-B7D7-2B48F8FABB64}"/>
              </a:ext>
            </a:extLst>
          </p:cNvPr>
          <p:cNvSpPr/>
          <p:nvPr/>
        </p:nvSpPr>
        <p:spPr>
          <a:xfrm>
            <a:off x="10744903" y="4035565"/>
            <a:ext cx="305666" cy="187696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3D48DA56-A177-3D33-DE29-5823D834369B}"/>
              </a:ext>
            </a:extLst>
          </p:cNvPr>
          <p:cNvSpPr txBox="1"/>
          <p:nvPr/>
        </p:nvSpPr>
        <p:spPr>
          <a:xfrm>
            <a:off x="11086843" y="4740936"/>
            <a:ext cx="1061615" cy="646331"/>
          </a:xfrm>
          <a:prstGeom prst="rect">
            <a:avLst/>
          </a:prstGeom>
          <a:noFill/>
        </p:spPr>
        <p:txBody>
          <a:bodyPr wrap="square" rtlCol="0">
            <a:spAutoFit/>
          </a:bodyPr>
          <a:lstStyle/>
          <a:p>
            <a:r>
              <a:rPr lang="zh-CN" altLang="en-US" dirty="0"/>
              <a:t>进程堆空间</a:t>
            </a:r>
          </a:p>
        </p:txBody>
      </p:sp>
      <p:sp>
        <p:nvSpPr>
          <p:cNvPr id="23" name="矩形 22">
            <a:extLst>
              <a:ext uri="{FF2B5EF4-FFF2-40B4-BE49-F238E27FC236}">
                <a16:creationId xmlns:a16="http://schemas.microsoft.com/office/drawing/2014/main" id="{BA48EEEC-7A6B-9B2A-9251-D433D031D2D5}"/>
              </a:ext>
            </a:extLst>
          </p:cNvPr>
          <p:cNvSpPr/>
          <p:nvPr/>
        </p:nvSpPr>
        <p:spPr>
          <a:xfrm>
            <a:off x="8422117" y="5369077"/>
            <a:ext cx="2310263" cy="33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协程</a:t>
            </a:r>
            <a:r>
              <a:rPr lang="en-US" altLang="zh-CN" dirty="0"/>
              <a:t>A</a:t>
            </a:r>
            <a:r>
              <a:rPr lang="zh-CN" altLang="en-US" dirty="0"/>
              <a:t>的栈</a:t>
            </a:r>
          </a:p>
        </p:txBody>
      </p:sp>
      <p:sp>
        <p:nvSpPr>
          <p:cNvPr id="24" name="矩形 23">
            <a:extLst>
              <a:ext uri="{FF2B5EF4-FFF2-40B4-BE49-F238E27FC236}">
                <a16:creationId xmlns:a16="http://schemas.microsoft.com/office/drawing/2014/main" id="{DBEB0028-F922-8974-89A6-E1E441531594}"/>
              </a:ext>
            </a:extLst>
          </p:cNvPr>
          <p:cNvSpPr/>
          <p:nvPr/>
        </p:nvSpPr>
        <p:spPr>
          <a:xfrm>
            <a:off x="8404207" y="4947743"/>
            <a:ext cx="2310263" cy="33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协程</a:t>
            </a:r>
            <a:r>
              <a:rPr lang="en-US" altLang="zh-CN" dirty="0"/>
              <a:t>B</a:t>
            </a:r>
            <a:r>
              <a:rPr lang="zh-CN" altLang="en-US" dirty="0"/>
              <a:t>的栈</a:t>
            </a:r>
          </a:p>
        </p:txBody>
      </p:sp>
      <p:sp>
        <p:nvSpPr>
          <p:cNvPr id="25" name="文本框 24">
            <a:extLst>
              <a:ext uri="{FF2B5EF4-FFF2-40B4-BE49-F238E27FC236}">
                <a16:creationId xmlns:a16="http://schemas.microsoft.com/office/drawing/2014/main" id="{4150FC8D-1EA2-3D2A-454F-6F9FAE14D273}"/>
              </a:ext>
            </a:extLst>
          </p:cNvPr>
          <p:cNvSpPr txBox="1"/>
          <p:nvPr/>
        </p:nvSpPr>
        <p:spPr>
          <a:xfrm>
            <a:off x="9349970" y="4208106"/>
            <a:ext cx="461665" cy="275944"/>
          </a:xfrm>
          <a:prstGeom prst="rect">
            <a:avLst/>
          </a:prstGeom>
          <a:noFill/>
        </p:spPr>
        <p:txBody>
          <a:bodyPr vert="eaVert" wrap="square" rtlCol="0">
            <a:spAutoFit/>
          </a:bodyPr>
          <a:lstStyle/>
          <a:p>
            <a:r>
              <a:rPr lang="en-US" altLang="zh-CN" dirty="0"/>
              <a:t>…</a:t>
            </a:r>
            <a:endParaRPr lang="zh-CN" altLang="en-US" dirty="0"/>
          </a:p>
        </p:txBody>
      </p:sp>
      <p:sp>
        <p:nvSpPr>
          <p:cNvPr id="26" name="文本框 25">
            <a:extLst>
              <a:ext uri="{FF2B5EF4-FFF2-40B4-BE49-F238E27FC236}">
                <a16:creationId xmlns:a16="http://schemas.microsoft.com/office/drawing/2014/main" id="{BF5CE13E-08A8-74FA-28EF-305BF26AA82A}"/>
              </a:ext>
            </a:extLst>
          </p:cNvPr>
          <p:cNvSpPr txBox="1"/>
          <p:nvPr/>
        </p:nvSpPr>
        <p:spPr>
          <a:xfrm>
            <a:off x="7055902" y="1484123"/>
            <a:ext cx="1823624" cy="369332"/>
          </a:xfrm>
          <a:prstGeom prst="rect">
            <a:avLst/>
          </a:prstGeom>
          <a:noFill/>
        </p:spPr>
        <p:txBody>
          <a:bodyPr wrap="square" rtlCol="0">
            <a:spAutoFit/>
          </a:bodyPr>
          <a:lstStyle/>
          <a:p>
            <a:r>
              <a:rPr lang="en-US" altLang="zh-CN" dirty="0">
                <a:latin typeface="Consolas" panose="020B0609020204030204" pitchFamily="49" charset="0"/>
                <a:cs typeface="Consolas" panose="020B0609020204030204" pitchFamily="49" charset="0"/>
              </a:rPr>
              <a:t>0xC000000</a:t>
            </a:r>
            <a:endParaRPr lang="zh-CN" altLang="en-US" dirty="0">
              <a:latin typeface="Consolas" panose="020B0609020204030204" pitchFamily="49" charset="0"/>
              <a:cs typeface="Consolas" panose="020B0609020204030204" pitchFamily="49" charset="0"/>
            </a:endParaRPr>
          </a:p>
        </p:txBody>
      </p:sp>
      <p:sp>
        <p:nvSpPr>
          <p:cNvPr id="27" name="文本框 26">
            <a:extLst>
              <a:ext uri="{FF2B5EF4-FFF2-40B4-BE49-F238E27FC236}">
                <a16:creationId xmlns:a16="http://schemas.microsoft.com/office/drawing/2014/main" id="{7453960E-A340-F96C-A995-66EE9AEB0B4A}"/>
              </a:ext>
            </a:extLst>
          </p:cNvPr>
          <p:cNvSpPr txBox="1"/>
          <p:nvPr/>
        </p:nvSpPr>
        <p:spPr>
          <a:xfrm>
            <a:off x="7055902" y="5912533"/>
            <a:ext cx="1692046" cy="369332"/>
          </a:xfrm>
          <a:prstGeom prst="rect">
            <a:avLst/>
          </a:prstGeom>
          <a:noFill/>
        </p:spPr>
        <p:txBody>
          <a:bodyPr wrap="square" rtlCol="0">
            <a:spAutoFit/>
          </a:bodyPr>
          <a:lstStyle/>
          <a:p>
            <a:r>
              <a:rPr lang="en-US" altLang="zh-CN" dirty="0">
                <a:latin typeface="Consolas" panose="020B0609020204030204" pitchFamily="49" charset="0"/>
                <a:cs typeface="Consolas" panose="020B0609020204030204" pitchFamily="49" charset="0"/>
              </a:rPr>
              <a:t>0x08048000</a:t>
            </a:r>
            <a:endParaRPr lang="zh-CN" altLang="en-US" dirty="0">
              <a:latin typeface="Consolas" panose="020B0609020204030204" pitchFamily="49" charset="0"/>
              <a:cs typeface="Consolas" panose="020B0609020204030204" pitchFamily="49" charset="0"/>
            </a:endParaRPr>
          </a:p>
        </p:txBody>
      </p:sp>
      <p:sp>
        <p:nvSpPr>
          <p:cNvPr id="28" name="矩形 27">
            <a:extLst>
              <a:ext uri="{FF2B5EF4-FFF2-40B4-BE49-F238E27FC236}">
                <a16:creationId xmlns:a16="http://schemas.microsoft.com/office/drawing/2014/main" id="{F7CE294E-05E3-0254-DF0C-C7ED9D3B399C}"/>
              </a:ext>
            </a:extLst>
          </p:cNvPr>
          <p:cNvSpPr/>
          <p:nvPr/>
        </p:nvSpPr>
        <p:spPr>
          <a:xfrm>
            <a:off x="8404206" y="4536859"/>
            <a:ext cx="2310263" cy="33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协程</a:t>
            </a:r>
            <a:r>
              <a:rPr lang="en-US" altLang="zh-CN" dirty="0"/>
              <a:t>C</a:t>
            </a:r>
            <a:r>
              <a:rPr lang="zh-CN" altLang="en-US" dirty="0"/>
              <a:t>的栈</a:t>
            </a:r>
          </a:p>
        </p:txBody>
      </p:sp>
      <p:sp>
        <p:nvSpPr>
          <p:cNvPr id="32" name="文本框 31">
            <a:extLst>
              <a:ext uri="{FF2B5EF4-FFF2-40B4-BE49-F238E27FC236}">
                <a16:creationId xmlns:a16="http://schemas.microsoft.com/office/drawing/2014/main" id="{C46CCB5E-0F1B-3F9F-F65B-7733748701E6}"/>
              </a:ext>
            </a:extLst>
          </p:cNvPr>
          <p:cNvSpPr txBox="1"/>
          <p:nvPr/>
        </p:nvSpPr>
        <p:spPr>
          <a:xfrm>
            <a:off x="662189" y="3336329"/>
            <a:ext cx="5070619" cy="871777"/>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【Task.2】</a:t>
            </a:r>
            <a:r>
              <a:rPr kumimoji="1" lang="zh-CN" altLang="en-US" sz="2400" dirty="0">
                <a:solidFill>
                  <a:schemeClr val="accent3"/>
                </a:solidFill>
                <a:latin typeface="Consolas" panose="020B0609020204030204" pitchFamily="49" charset="0"/>
                <a:cs typeface="Consolas" panose="020B0609020204030204" pitchFamily="49" charset="0"/>
              </a:rPr>
              <a:t>完善功能</a:t>
            </a:r>
            <a:endParaRPr kumimoji="1" lang="en-US" altLang="zh-CN" sz="2400" dirty="0">
              <a:solidFill>
                <a:schemeClr val="accent3"/>
              </a:solidFill>
              <a:latin typeface="Consolas" panose="020B0609020204030204" pitchFamily="49" charset="0"/>
              <a:cs typeface="Consolas" panose="020B0609020204030204" pitchFamily="49" charset="0"/>
            </a:endParaRPr>
          </a:p>
          <a:p>
            <a:pPr lvl="1">
              <a:lnSpc>
                <a:spcPct val="150000"/>
              </a:lnSpc>
            </a:pPr>
            <a:r>
              <a:rPr kumimoji="1" lang="zh-CN" altLang="en-US" sz="2000" dirty="0">
                <a:latin typeface="Consolas" panose="020B0609020204030204" pitchFamily="49" charset="0"/>
                <a:cs typeface="Consolas" panose="020B0609020204030204" pitchFamily="49" charset="0"/>
              </a:rPr>
              <a:t>完成</a:t>
            </a:r>
            <a:r>
              <a:rPr kumimoji="1" lang="en-US" altLang="zh-CN" sz="2000" dirty="0">
                <a:latin typeface="Consolas" panose="020B0609020204030204" pitchFamily="49" charset="0"/>
                <a:cs typeface="Consolas" panose="020B0609020204030204" pitchFamily="49" charset="0"/>
              </a:rPr>
              <a:t>sleep</a:t>
            </a:r>
            <a:r>
              <a:rPr kumimoji="1" lang="zh-CN" altLang="en-US" sz="2000" dirty="0">
                <a:latin typeface="Consolas" panose="020B0609020204030204" pitchFamily="49" charset="0"/>
                <a:cs typeface="Consolas" panose="020B0609020204030204" pitchFamily="49" charset="0"/>
              </a:rPr>
              <a:t>函数，通过</a:t>
            </a:r>
            <a:r>
              <a:rPr kumimoji="1" lang="en-US" altLang="zh-CN" sz="2000" dirty="0" err="1">
                <a:latin typeface="Consolas" panose="020B0609020204030204" pitchFamily="49" charset="0"/>
                <a:cs typeface="Consolas" panose="020B0609020204030204" pitchFamily="49" charset="0"/>
              </a:rPr>
              <a:t>sleep_sort</a:t>
            </a:r>
            <a:r>
              <a:rPr kumimoji="1" lang="zh-CN" altLang="en-US" sz="2000" dirty="0">
                <a:latin typeface="Consolas" panose="020B0609020204030204" pitchFamily="49" charset="0"/>
                <a:cs typeface="Consolas" panose="020B0609020204030204" pitchFamily="49" charset="0"/>
              </a:rPr>
              <a:t>测试</a:t>
            </a:r>
            <a:endParaRPr kumimoji="1" lang="zh-CN" altLang="en-US" sz="2800" dirty="0"/>
          </a:p>
        </p:txBody>
      </p:sp>
    </p:spTree>
    <p:extLst>
      <p:ext uri="{BB962C8B-B14F-4D97-AF65-F5344CB8AC3E}">
        <p14:creationId xmlns:p14="http://schemas.microsoft.com/office/powerpoint/2010/main" val="178888780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2646878" cy="584775"/>
          </a:xfrm>
          <a:prstGeom prst="rect">
            <a:avLst/>
          </a:prstGeom>
          <a:noFill/>
        </p:spPr>
        <p:txBody>
          <a:bodyPr wrap="none" rtlCol="0">
            <a:spAutoFit/>
          </a:bodyPr>
          <a:lstStyle/>
          <a:p>
            <a:r>
              <a:rPr kumimoji="1" lang="zh-CN" altLang="en-US" sz="3200" b="1" dirty="0">
                <a:solidFill>
                  <a:schemeClr val="accent3"/>
                </a:solidFill>
              </a:rPr>
              <a:t>实验注意事项</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503D5EBB-0908-C943-7BA6-F4945DC10447}"/>
              </a:ext>
            </a:extLst>
          </p:cNvPr>
          <p:cNvSpPr txBox="1"/>
          <p:nvPr/>
        </p:nvSpPr>
        <p:spPr>
          <a:xfrm>
            <a:off x="661835" y="1975902"/>
            <a:ext cx="5317481" cy="2985433"/>
          </a:xfrm>
          <a:prstGeom prst="rect">
            <a:avLst/>
          </a:prstGeom>
          <a:noFill/>
        </p:spPr>
        <p:txBody>
          <a:bodyPr wrap="none" rtlCol="0">
            <a:spAutoFit/>
          </a:bodyPr>
          <a:lstStyle/>
          <a:p>
            <a:r>
              <a:rPr kumimoji="1" lang="zh-CN" altLang="en-US" sz="2400" b="1" dirty="0">
                <a:latin typeface="Consolas" panose="020B0609020204030204" pitchFamily="49" charset="0"/>
                <a:cs typeface="Consolas" panose="020B0609020204030204" pitchFamily="49" charset="0"/>
              </a:rPr>
              <a:t>需要做的事情：</a:t>
            </a:r>
            <a:endParaRPr kumimoji="1" lang="en-US" altLang="zh-CN" sz="2400" b="1" dirty="0">
              <a:latin typeface="Consolas" panose="020B0609020204030204" pitchFamily="49" charset="0"/>
              <a:cs typeface="Consolas" panose="020B0609020204030204" pitchFamily="49" charset="0"/>
            </a:endParaRPr>
          </a:p>
          <a:p>
            <a:endParaRPr kumimoji="1" lang="en-US" altLang="zh-CN" sz="2000" b="1" dirty="0">
              <a:latin typeface="Consolas" panose="020B0609020204030204" pitchFamily="49" charset="0"/>
              <a:cs typeface="Consolas" panose="020B0609020204030204" pitchFamily="49" charset="0"/>
            </a:endParaRPr>
          </a:p>
          <a:p>
            <a:pPr marL="342900" indent="-342900">
              <a:buAutoNum type="arabicPeriod"/>
            </a:pPr>
            <a:r>
              <a:rPr kumimoji="1" lang="zh-CN" altLang="en-US" sz="2400" dirty="0">
                <a:latin typeface="Consolas" panose="020B0609020204030204" pitchFamily="49" charset="0"/>
                <a:cs typeface="Consolas" panose="020B0609020204030204" pitchFamily="49" charset="0"/>
              </a:rPr>
              <a:t>下载代码包，阅读代码逻辑 并完善</a:t>
            </a:r>
            <a:endParaRPr kumimoji="1" lang="en-US" altLang="zh-CN" sz="2400" dirty="0">
              <a:latin typeface="Consolas" panose="020B0609020204030204" pitchFamily="49" charset="0"/>
              <a:cs typeface="Consolas" panose="020B0609020204030204" pitchFamily="49" charset="0"/>
            </a:endParaRPr>
          </a:p>
          <a:p>
            <a:pPr marL="342900" indent="-342900">
              <a:buAutoNum type="arabicPeriod"/>
            </a:pPr>
            <a:endParaRPr kumimoji="1" lang="en-US" altLang="zh-CN" sz="2400" dirty="0">
              <a:latin typeface="Consolas" panose="020B0609020204030204" pitchFamily="49" charset="0"/>
              <a:cs typeface="Consolas" panose="020B0609020204030204" pitchFamily="49" charset="0"/>
            </a:endParaRPr>
          </a:p>
          <a:p>
            <a:pPr marL="342900" indent="-342900">
              <a:buAutoNum type="arabicPeriod"/>
            </a:pPr>
            <a:r>
              <a:rPr kumimoji="1" lang="zh-CN" altLang="en-US" sz="2400" dirty="0">
                <a:latin typeface="Consolas" panose="020B0609020204030204" pitchFamily="49" charset="0"/>
                <a:cs typeface="Consolas" panose="020B0609020204030204" pitchFamily="49" charset="0"/>
              </a:rPr>
              <a:t>编写实验报告（不超过</a:t>
            </a:r>
            <a:r>
              <a:rPr kumimoji="1" lang="en-US" altLang="zh-CN" sz="2400" dirty="0">
                <a:latin typeface="Consolas" panose="020B0609020204030204" pitchFamily="49" charset="0"/>
                <a:cs typeface="Consolas" panose="020B0609020204030204" pitchFamily="49" charset="0"/>
              </a:rPr>
              <a:t>8</a:t>
            </a:r>
            <a:r>
              <a:rPr kumimoji="1" lang="zh-CN" altLang="en-US" sz="2400" dirty="0">
                <a:latin typeface="Consolas" panose="020B0609020204030204" pitchFamily="49" charset="0"/>
                <a:cs typeface="Consolas" panose="020B0609020204030204" pitchFamily="49" charset="0"/>
              </a:rPr>
              <a:t>页）</a:t>
            </a:r>
            <a:endParaRPr kumimoji="1" lang="en-US" altLang="zh-CN" sz="2400" dirty="0">
              <a:latin typeface="Consolas" panose="020B0609020204030204" pitchFamily="49" charset="0"/>
              <a:cs typeface="Consolas" panose="020B0609020204030204" pitchFamily="49" charset="0"/>
            </a:endParaRPr>
          </a:p>
          <a:p>
            <a:pPr marL="342900" indent="-342900">
              <a:buAutoNum type="arabicPeriod"/>
            </a:pPr>
            <a:endParaRPr kumimoji="1" lang="en-US" altLang="zh-CN" sz="2400" dirty="0">
              <a:latin typeface="Consolas" panose="020B0609020204030204" pitchFamily="49" charset="0"/>
              <a:cs typeface="Consolas" panose="020B0609020204030204" pitchFamily="49" charset="0"/>
            </a:endParaRPr>
          </a:p>
          <a:p>
            <a:pPr marL="342900" indent="-342900">
              <a:buAutoNum type="arabicPeriod"/>
            </a:pPr>
            <a:r>
              <a:rPr kumimoji="1" lang="zh-CN" altLang="en-US" sz="2400" dirty="0">
                <a:latin typeface="Consolas" panose="020B0609020204030204" pitchFamily="49" charset="0"/>
                <a:cs typeface="Consolas" panose="020B0609020204030204" pitchFamily="49" charset="0"/>
              </a:rPr>
              <a:t>将整个  </a:t>
            </a:r>
            <a:r>
              <a:rPr kumimoji="1" lang="zh-CN" altLang="en-US" sz="2400" dirty="0">
                <a:solidFill>
                  <a:srgbClr val="FF0000"/>
                </a:solidFill>
                <a:latin typeface="Consolas" panose="020B0609020204030204" pitchFamily="49" charset="0"/>
                <a:cs typeface="Consolas" panose="020B0609020204030204" pitchFamily="49" charset="0"/>
              </a:rPr>
              <a:t>代码包</a:t>
            </a:r>
            <a:r>
              <a:rPr kumimoji="1" lang="en-US" altLang="zh-CN" sz="2400" dirty="0">
                <a:solidFill>
                  <a:srgbClr val="FF0000"/>
                </a:solidFill>
                <a:latin typeface="Consolas" panose="020B0609020204030204" pitchFamily="49" charset="0"/>
                <a:cs typeface="Consolas" panose="020B0609020204030204" pitchFamily="49" charset="0"/>
              </a:rPr>
              <a:t>+</a:t>
            </a:r>
            <a:r>
              <a:rPr kumimoji="1" lang="zh-CN" altLang="en-US" sz="2400" dirty="0">
                <a:solidFill>
                  <a:srgbClr val="FF0000"/>
                </a:solidFill>
                <a:latin typeface="Consolas" panose="020B0609020204030204" pitchFamily="49" charset="0"/>
                <a:cs typeface="Consolas" panose="020B0609020204030204" pitchFamily="49" charset="0"/>
              </a:rPr>
              <a:t>实验报告</a:t>
            </a:r>
            <a:endParaRPr kumimoji="1" lang="en-US" altLang="zh-CN" sz="2400" dirty="0">
              <a:solidFill>
                <a:srgbClr val="FF0000"/>
              </a:solidFill>
              <a:latin typeface="Consolas" panose="020B0609020204030204" pitchFamily="49" charset="0"/>
              <a:cs typeface="Consolas" panose="020B0609020204030204" pitchFamily="49" charset="0"/>
            </a:endParaRPr>
          </a:p>
          <a:p>
            <a:r>
              <a:rPr kumimoji="1" lang="zh-CN" altLang="en-US" sz="2400" dirty="0">
                <a:latin typeface="Consolas" panose="020B0609020204030204" pitchFamily="49" charset="0"/>
                <a:cs typeface="Consolas" panose="020B0609020204030204" pitchFamily="49" charset="0"/>
              </a:rPr>
              <a:t>  打包成</a:t>
            </a:r>
            <a:r>
              <a:rPr kumimoji="1" lang="en-US" altLang="zh-CN" sz="2400" dirty="0">
                <a:latin typeface="Consolas" panose="020B0609020204030204" pitchFamily="49" charset="0"/>
                <a:cs typeface="Consolas" panose="020B0609020204030204" pitchFamily="49" charset="0"/>
              </a:rPr>
              <a:t>zip</a:t>
            </a:r>
            <a:r>
              <a:rPr kumimoji="1" lang="zh-CN" altLang="en-US" sz="2400" dirty="0">
                <a:latin typeface="Consolas" panose="020B0609020204030204" pitchFamily="49" charset="0"/>
                <a:cs typeface="Consolas" panose="020B0609020204030204" pitchFamily="49" charset="0"/>
              </a:rPr>
              <a:t>格式上传网络学堂</a:t>
            </a:r>
            <a:endParaRPr kumimoji="1" lang="zh-CN" altLang="en-US" dirty="0">
              <a:latin typeface="Consolas" panose="020B0609020204030204" pitchFamily="49" charset="0"/>
              <a:cs typeface="Consolas" panose="020B0609020204030204" pitchFamily="49" charset="0"/>
            </a:endParaRPr>
          </a:p>
        </p:txBody>
      </p:sp>
      <p:sp>
        <p:nvSpPr>
          <p:cNvPr id="8" name="文本框 7">
            <a:extLst>
              <a:ext uri="{FF2B5EF4-FFF2-40B4-BE49-F238E27FC236}">
                <a16:creationId xmlns:a16="http://schemas.microsoft.com/office/drawing/2014/main" id="{A1EC1D7C-CD01-F494-1705-49D1C802C31B}"/>
              </a:ext>
            </a:extLst>
          </p:cNvPr>
          <p:cNvSpPr txBox="1"/>
          <p:nvPr/>
        </p:nvSpPr>
        <p:spPr>
          <a:xfrm>
            <a:off x="7127713" y="1369365"/>
            <a:ext cx="3756156" cy="646331"/>
          </a:xfrm>
          <a:prstGeom prst="rect">
            <a:avLst/>
          </a:prstGeom>
          <a:noFill/>
          <a:ln>
            <a:solidFill>
              <a:schemeClr val="tx1"/>
            </a:solidFill>
          </a:ln>
        </p:spPr>
        <p:txBody>
          <a:bodyPr wrap="square" rtlCol="0">
            <a:spAutoFit/>
          </a:bodyPr>
          <a:lstStyle/>
          <a:p>
            <a:r>
              <a:rPr kumimoji="1" lang="zh-CN" altLang="en-US" b="1" dirty="0">
                <a:solidFill>
                  <a:schemeClr val="accent3"/>
                </a:solidFill>
                <a:latin typeface="Consolas" panose="020B0609020204030204" pitchFamily="49" charset="0"/>
                <a:cs typeface="Consolas" panose="020B0609020204030204" pitchFamily="49" charset="0"/>
              </a:rPr>
              <a:t>注：</a:t>
            </a:r>
            <a:r>
              <a:rPr kumimoji="1" lang="zh-CN" altLang="en-US" dirty="0">
                <a:latin typeface="Consolas" panose="020B0609020204030204" pitchFamily="49" charset="0"/>
                <a:cs typeface="Consolas" panose="020B0609020204030204" pitchFamily="49" charset="0"/>
              </a:rPr>
              <a:t>每</a:t>
            </a:r>
            <a:r>
              <a:rPr kumimoji="1" lang="en-US" altLang="zh-CN" dirty="0">
                <a:latin typeface="Consolas" panose="020B0609020204030204" pitchFamily="49" charset="0"/>
                <a:cs typeface="Consolas" panose="020B0609020204030204" pitchFamily="49" charset="0"/>
              </a:rPr>
              <a:t>Task</a:t>
            </a:r>
            <a:r>
              <a:rPr kumimoji="1" lang="zh-CN" altLang="en-US" dirty="0">
                <a:latin typeface="Consolas" panose="020B0609020204030204" pitchFamily="49" charset="0"/>
                <a:cs typeface="Consolas" panose="020B0609020204030204" pitchFamily="49" charset="0"/>
              </a:rPr>
              <a:t>需要完善的代码可以</a:t>
            </a:r>
            <a:endParaRPr kumimoji="1" lang="en-US" altLang="zh-CN" dirty="0">
              <a:latin typeface="Consolas" panose="020B0609020204030204" pitchFamily="49" charset="0"/>
              <a:cs typeface="Consolas" panose="020B0609020204030204" pitchFamily="49" charset="0"/>
            </a:endParaRPr>
          </a:p>
          <a:p>
            <a:r>
              <a:rPr kumimoji="1" lang="zh-CN" altLang="en-US" dirty="0">
                <a:latin typeface="Consolas" panose="020B0609020204030204" pitchFamily="49" charset="0"/>
                <a:cs typeface="Consolas" panose="020B0609020204030204" pitchFamily="49" charset="0"/>
              </a:rPr>
              <a:t>在整个代码包中搜索</a:t>
            </a:r>
            <a:r>
              <a:rPr kumimoji="1" lang="en-US" altLang="zh-CN" dirty="0">
                <a:latin typeface="Consolas" panose="020B0609020204030204" pitchFamily="49" charset="0"/>
                <a:cs typeface="Consolas" panose="020B0609020204030204" pitchFamily="49" charset="0"/>
              </a:rPr>
              <a:t>:</a:t>
            </a:r>
            <a:r>
              <a:rPr lang="en" altLang="zh-CN" b="0" i="0" u="none" strike="noStrike" dirty="0">
                <a:solidFill>
                  <a:srgbClr val="000000"/>
                </a:solidFill>
                <a:effectLst/>
                <a:latin typeface="-webkit-standard"/>
              </a:rPr>
              <a:t> TODO: Task </a:t>
            </a:r>
            <a:r>
              <a:rPr lang="en-US" altLang="zh-CN" dirty="0">
                <a:solidFill>
                  <a:srgbClr val="000000"/>
                </a:solidFill>
                <a:latin typeface="-webkit-standard"/>
              </a:rPr>
              <a:t>X</a:t>
            </a:r>
            <a:endParaRPr kumimoji="1" lang="en-US" altLang="zh-CN" dirty="0">
              <a:latin typeface="Consolas" panose="020B0609020204030204" pitchFamily="49" charset="0"/>
              <a:cs typeface="Consolas" panose="020B0609020204030204" pitchFamily="49" charset="0"/>
            </a:endParaRPr>
          </a:p>
        </p:txBody>
      </p:sp>
      <p:sp>
        <p:nvSpPr>
          <p:cNvPr id="9" name="文本框 8">
            <a:extLst>
              <a:ext uri="{FF2B5EF4-FFF2-40B4-BE49-F238E27FC236}">
                <a16:creationId xmlns:a16="http://schemas.microsoft.com/office/drawing/2014/main" id="{90D846E1-162C-A36D-09EB-82BD570979F1}"/>
              </a:ext>
            </a:extLst>
          </p:cNvPr>
          <p:cNvSpPr txBox="1"/>
          <p:nvPr/>
        </p:nvSpPr>
        <p:spPr>
          <a:xfrm>
            <a:off x="7127712" y="2015696"/>
            <a:ext cx="3756156" cy="4300088"/>
          </a:xfrm>
          <a:prstGeom prst="rect">
            <a:avLst/>
          </a:prstGeom>
          <a:noFill/>
          <a:ln w="19050">
            <a:solidFill>
              <a:schemeClr val="tx1"/>
            </a:solidFill>
          </a:ln>
        </p:spPr>
        <p:txBody>
          <a:bodyPr wrap="none" rtlCol="0">
            <a:spAutoFit/>
          </a:bodyPr>
          <a:lstStyle/>
          <a:p>
            <a:r>
              <a:rPr kumimoji="1" lang="zh-CN" altLang="en-US" sz="2400" b="1" dirty="0"/>
              <a:t>代码包目录：</a:t>
            </a:r>
            <a:endParaRPr kumimoji="1" lang="en-US" altLang="zh-CN" sz="2400" b="1" dirty="0"/>
          </a:p>
          <a:p>
            <a:pPr marL="285750" indent="-285750">
              <a:lnSpc>
                <a:spcPct val="150000"/>
              </a:lnSpc>
              <a:buFont typeface="Arial" panose="020B0604020202020204" pitchFamily="34" charset="0"/>
              <a:buChar char="•"/>
            </a:pPr>
            <a:r>
              <a:rPr kumimoji="1" lang="en-US" altLang="zh-CN" dirty="0">
                <a:latin typeface="Consolas" panose="020B0609020204030204" pitchFamily="49" charset="0"/>
                <a:cs typeface="Consolas" panose="020B0609020204030204" pitchFamily="49" charset="0"/>
              </a:rPr>
              <a:t>Bin</a:t>
            </a:r>
            <a:r>
              <a:rPr kumimoji="1" lang="zh-CN" altLang="en-US" dirty="0">
                <a:latin typeface="Consolas" panose="020B0609020204030204" pitchFamily="49" charset="0"/>
                <a:cs typeface="Consolas" panose="020B0609020204030204" pitchFamily="49" charset="0"/>
              </a:rPr>
              <a:t>：可执行文件</a:t>
            </a:r>
            <a:endParaRPr kumimoji="1" lang="en-US" altLang="zh-CN" dirty="0">
              <a:latin typeface="Consolas" panose="020B0609020204030204" pitchFamily="49" charset="0"/>
              <a:cs typeface="Consolas" panose="020B0609020204030204" pitchFamily="49" charset="0"/>
            </a:endParaRPr>
          </a:p>
          <a:p>
            <a:pPr marL="285750" indent="-285750">
              <a:lnSpc>
                <a:spcPct val="150000"/>
              </a:lnSpc>
              <a:buFont typeface="Arial" panose="020B0604020202020204" pitchFamily="34" charset="0"/>
              <a:buChar char="•"/>
            </a:pPr>
            <a:r>
              <a:rPr kumimoji="1" lang="en-US" altLang="zh-CN" dirty="0">
                <a:latin typeface="Consolas" panose="020B0609020204030204" pitchFamily="49" charset="0"/>
                <a:cs typeface="Consolas" panose="020B0609020204030204" pitchFamily="49" charset="0"/>
              </a:rPr>
              <a:t>Inc</a:t>
            </a:r>
            <a:r>
              <a:rPr kumimoji="1" lang="zh-CN" altLang="en-US" dirty="0">
                <a:latin typeface="Consolas" panose="020B0609020204030204" pitchFamily="49" charset="0"/>
                <a:cs typeface="Consolas" panose="020B0609020204030204" pitchFamily="49" charset="0"/>
              </a:rPr>
              <a:t>：协程库</a:t>
            </a:r>
            <a:endParaRPr kumimoji="1" lang="en-US" altLang="zh-CN"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err="1">
                <a:latin typeface="Consolas" panose="020B0609020204030204" pitchFamily="49" charset="0"/>
                <a:cs typeface="Consolas" panose="020B0609020204030204" pitchFamily="49" charset="0"/>
              </a:rPr>
              <a:t>Common.h</a:t>
            </a:r>
            <a:r>
              <a:rPr kumimoji="1" lang="zh-CN" altLang="en-US" sz="1600" dirty="0">
                <a:latin typeface="Consolas" panose="020B0609020204030204" pitchFamily="49" charset="0"/>
                <a:cs typeface="Consolas" panose="020B0609020204030204" pitchFamily="49" charset="0"/>
              </a:rPr>
              <a:t> 协程功能函数</a:t>
            </a:r>
            <a:endParaRPr kumimoji="1" lang="en-US" altLang="zh-CN" sz="1600"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err="1">
                <a:latin typeface="Consolas" panose="020B0609020204030204" pitchFamily="49" charset="0"/>
                <a:cs typeface="Consolas" panose="020B0609020204030204" pitchFamily="49" charset="0"/>
              </a:rPr>
              <a:t>Context.h</a:t>
            </a:r>
            <a:r>
              <a:rPr kumimoji="1" lang="zh-CN" altLang="en-US" sz="1600" dirty="0">
                <a:latin typeface="Consolas" panose="020B0609020204030204" pitchFamily="49" charset="0"/>
                <a:cs typeface="Consolas" panose="020B0609020204030204" pitchFamily="49" charset="0"/>
              </a:rPr>
              <a:t> 执行现场定义</a:t>
            </a:r>
            <a:endParaRPr kumimoji="1" lang="en-US" altLang="zh-CN" sz="1600"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err="1">
                <a:latin typeface="Consolas" panose="020B0609020204030204" pitchFamily="49" charset="0"/>
                <a:cs typeface="Consolas" panose="020B0609020204030204" pitchFamily="49" charset="0"/>
              </a:rPr>
              <a:t>Corutine_pool.h</a:t>
            </a:r>
            <a:r>
              <a:rPr kumimoji="1" lang="zh-CN" altLang="en-US" sz="1600" dirty="0">
                <a:latin typeface="Consolas" panose="020B0609020204030204" pitchFamily="49" charset="0"/>
                <a:cs typeface="Consolas" panose="020B0609020204030204" pitchFamily="49" charset="0"/>
              </a:rPr>
              <a:t> 协程调度器</a:t>
            </a:r>
            <a:endParaRPr kumimoji="1" lang="en-US" altLang="zh-CN" sz="1600" dirty="0">
              <a:latin typeface="Consolas" panose="020B0609020204030204" pitchFamily="49" charset="0"/>
              <a:cs typeface="Consolas" panose="020B0609020204030204" pitchFamily="49" charset="0"/>
            </a:endParaRPr>
          </a:p>
          <a:p>
            <a:pPr marL="285750" indent="-285750">
              <a:lnSpc>
                <a:spcPct val="150000"/>
              </a:lnSpc>
              <a:buFont typeface="Arial" panose="020B0604020202020204" pitchFamily="34" charset="0"/>
              <a:buChar char="•"/>
            </a:pPr>
            <a:r>
              <a:rPr kumimoji="1" lang="en-US" altLang="zh-CN" dirty="0">
                <a:latin typeface="Consolas" panose="020B0609020204030204" pitchFamily="49" charset="0"/>
                <a:cs typeface="Consolas" panose="020B0609020204030204" pitchFamily="49" charset="0"/>
              </a:rPr>
              <a:t>Lib</a:t>
            </a:r>
            <a:r>
              <a:rPr kumimoji="1" lang="zh-CN" altLang="en-US" dirty="0">
                <a:latin typeface="Consolas" panose="020B0609020204030204" pitchFamily="49" charset="0"/>
                <a:cs typeface="Consolas" panose="020B0609020204030204" pitchFamily="49" charset="0"/>
              </a:rPr>
              <a:t>：切换汇编实现</a:t>
            </a:r>
            <a:endParaRPr kumimoji="1" lang="en-US" altLang="zh-CN" dirty="0">
              <a:latin typeface="Consolas" panose="020B0609020204030204" pitchFamily="49" charset="0"/>
              <a:cs typeface="Consolas" panose="020B0609020204030204" pitchFamily="49" charset="0"/>
            </a:endParaRPr>
          </a:p>
          <a:p>
            <a:pPr marL="285750" indent="-285750">
              <a:lnSpc>
                <a:spcPct val="150000"/>
              </a:lnSpc>
              <a:buFont typeface="Arial" panose="020B0604020202020204" pitchFamily="34" charset="0"/>
              <a:buChar char="•"/>
            </a:pPr>
            <a:r>
              <a:rPr kumimoji="1" lang="en-US" altLang="zh-CN" dirty="0" err="1">
                <a:latin typeface="Consolas" panose="020B0609020204030204" pitchFamily="49" charset="0"/>
                <a:cs typeface="Consolas" panose="020B0609020204030204" pitchFamily="49" charset="0"/>
              </a:rPr>
              <a:t>Src</a:t>
            </a:r>
            <a:r>
              <a:rPr kumimoji="1" lang="zh-CN" altLang="en-US" dirty="0">
                <a:latin typeface="Consolas" panose="020B0609020204030204" pitchFamily="49" charset="0"/>
                <a:cs typeface="Consolas" panose="020B0609020204030204" pitchFamily="49" charset="0"/>
              </a:rPr>
              <a:t>：三个任务的</a:t>
            </a:r>
            <a:r>
              <a:rPr kumimoji="1" lang="en-US" altLang="zh-CN" dirty="0">
                <a:latin typeface="Consolas" panose="020B0609020204030204" pitchFamily="49" charset="0"/>
                <a:cs typeface="Consolas" panose="020B0609020204030204" pitchFamily="49" charset="0"/>
              </a:rPr>
              <a:t>main</a:t>
            </a:r>
            <a:r>
              <a:rPr kumimoji="1" lang="zh-CN" altLang="en-US" dirty="0">
                <a:latin typeface="Consolas" panose="020B0609020204030204" pitchFamily="49" charset="0"/>
                <a:cs typeface="Consolas" panose="020B0609020204030204" pitchFamily="49" charset="0"/>
              </a:rPr>
              <a:t>入口</a:t>
            </a:r>
            <a:endParaRPr kumimoji="1" lang="en-US" altLang="zh-CN"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a:latin typeface="Consolas" panose="020B0609020204030204" pitchFamily="49" charset="0"/>
                <a:cs typeface="Consolas" panose="020B0609020204030204" pitchFamily="49" charset="0"/>
              </a:rPr>
              <a:t>Task1</a:t>
            </a:r>
            <a:r>
              <a:rPr kumimoji="1" lang="zh-CN" altLang="en-US" sz="1600" dirty="0">
                <a:latin typeface="Consolas" panose="020B0609020204030204" pitchFamily="49" charset="0"/>
                <a:cs typeface="Consolas" panose="020B0609020204030204" pitchFamily="49" charset="0"/>
              </a:rPr>
              <a:t>：</a:t>
            </a:r>
            <a:r>
              <a:rPr kumimoji="1" lang="en-US" altLang="zh-CN" sz="1600" dirty="0" err="1">
                <a:latin typeface="Consolas" panose="020B0609020204030204" pitchFamily="49" charset="0"/>
                <a:cs typeface="Consolas" panose="020B0609020204030204" pitchFamily="49" charset="0"/>
              </a:rPr>
              <a:t>sample.cpp</a:t>
            </a:r>
            <a:endParaRPr kumimoji="1" lang="en-US" altLang="zh-CN" sz="1600"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a:latin typeface="Consolas" panose="020B0609020204030204" pitchFamily="49" charset="0"/>
                <a:cs typeface="Consolas" panose="020B0609020204030204" pitchFamily="49" charset="0"/>
              </a:rPr>
              <a:t>Task2:</a:t>
            </a:r>
            <a:r>
              <a:rPr kumimoji="1" lang="zh-CN" altLang="en-US" sz="1600" dirty="0">
                <a:latin typeface="Consolas" panose="020B0609020204030204" pitchFamily="49" charset="0"/>
                <a:cs typeface="Consolas" panose="020B0609020204030204" pitchFamily="49" charset="0"/>
              </a:rPr>
              <a:t> </a:t>
            </a:r>
            <a:r>
              <a:rPr kumimoji="1" lang="en-US" altLang="zh-CN" sz="1600" dirty="0" err="1">
                <a:latin typeface="Consolas" panose="020B0609020204030204" pitchFamily="49" charset="0"/>
                <a:cs typeface="Consolas" panose="020B0609020204030204" pitchFamily="49" charset="0"/>
              </a:rPr>
              <a:t>sleep_sort.cpp</a:t>
            </a:r>
            <a:endParaRPr kumimoji="1" lang="en-US" altLang="zh-CN" sz="1600" dirty="0">
              <a:latin typeface="Consolas" panose="020B0609020204030204" pitchFamily="49" charset="0"/>
              <a:cs typeface="Consolas" panose="020B0609020204030204" pitchFamily="49" charset="0"/>
            </a:endParaRPr>
          </a:p>
          <a:p>
            <a:pPr marL="742950" lvl="1" indent="-285750">
              <a:lnSpc>
                <a:spcPct val="150000"/>
              </a:lnSpc>
              <a:buFont typeface="Arial" panose="020B0604020202020204" pitchFamily="34" charset="0"/>
              <a:buChar char="•"/>
            </a:pPr>
            <a:r>
              <a:rPr kumimoji="1" lang="en-US" altLang="zh-CN" sz="1600" dirty="0">
                <a:latin typeface="Consolas" panose="020B0609020204030204" pitchFamily="49" charset="0"/>
                <a:cs typeface="Consolas" panose="020B0609020204030204" pitchFamily="49" charset="0"/>
              </a:rPr>
              <a:t>Task3:</a:t>
            </a:r>
            <a:r>
              <a:rPr kumimoji="1" lang="zh-CN" altLang="en-US" sz="1600" dirty="0">
                <a:latin typeface="Consolas" panose="020B0609020204030204" pitchFamily="49" charset="0"/>
                <a:cs typeface="Consolas" panose="020B0609020204030204" pitchFamily="49" charset="0"/>
              </a:rPr>
              <a:t> </a:t>
            </a:r>
            <a:r>
              <a:rPr kumimoji="1" lang="en-US" altLang="zh-CN" sz="1600" dirty="0" err="1">
                <a:latin typeface="Consolas" panose="020B0609020204030204" pitchFamily="49" charset="0"/>
                <a:cs typeface="Consolas" panose="020B0609020204030204" pitchFamily="49" charset="0"/>
              </a:rPr>
              <a:t>binary_search.cpp</a:t>
            </a:r>
            <a:endParaRPr kumimoji="1" lang="en-US" altLang="zh-CN"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19658293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38438" y="299762"/>
            <a:ext cx="3262432" cy="707886"/>
          </a:xfrm>
          <a:prstGeom prst="rect">
            <a:avLst/>
          </a:prstGeom>
          <a:noFill/>
        </p:spPr>
        <p:txBody>
          <a:bodyPr wrap="none" rtlCol="0">
            <a:spAutoFit/>
          </a:bodyPr>
          <a:lstStyle/>
          <a:p>
            <a:r>
              <a:rPr kumimoji="1" lang="zh-CN" altLang="en-US" sz="4000" b="1" dirty="0">
                <a:solidFill>
                  <a:schemeClr val="accent3"/>
                </a:solidFill>
              </a:rPr>
              <a:t>协程框架导读</a:t>
            </a:r>
            <a:endParaRPr kumimoji="1" lang="zh-CN" altLang="en-US" sz="2400" b="1" dirty="0">
              <a:solidFill>
                <a:schemeClr val="accent3"/>
              </a:solidFill>
            </a:endParaRP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837191" y="1007648"/>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圆角矩形 1">
            <a:extLst>
              <a:ext uri="{FF2B5EF4-FFF2-40B4-BE49-F238E27FC236}">
                <a16:creationId xmlns:a16="http://schemas.microsoft.com/office/drawing/2014/main" id="{75014BB2-0C25-B806-B361-D03118C9A332}"/>
              </a:ext>
            </a:extLst>
          </p:cNvPr>
          <p:cNvSpPr/>
          <p:nvPr/>
        </p:nvSpPr>
        <p:spPr>
          <a:xfrm>
            <a:off x="527847" y="1144409"/>
            <a:ext cx="11136304" cy="5413829"/>
          </a:xfrm>
          <a:prstGeom prst="roundRect">
            <a:avLst>
              <a:gd name="adj" fmla="val 3729"/>
            </a:avLst>
          </a:prstGeom>
          <a:solidFill>
            <a:schemeClr val="accent5">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118E8640-D8CC-475D-0829-ED260E8BDD69}"/>
              </a:ext>
            </a:extLst>
          </p:cNvPr>
          <p:cNvSpPr txBox="1"/>
          <p:nvPr/>
        </p:nvSpPr>
        <p:spPr>
          <a:xfrm>
            <a:off x="527847" y="1169985"/>
            <a:ext cx="5557932" cy="461665"/>
          </a:xfrm>
          <a:prstGeom prst="rect">
            <a:avLst/>
          </a:prstGeom>
          <a:noFill/>
        </p:spPr>
        <p:txBody>
          <a:bodyPr wrap="none" rtlCol="0">
            <a:spAutoFit/>
          </a:bodyPr>
          <a:lstStyle/>
          <a:p>
            <a:r>
              <a:rPr lang="en" altLang="zh-CN" sz="2400" b="1" dirty="0" err="1">
                <a:solidFill>
                  <a:srgbClr val="FF0000"/>
                </a:solidFill>
                <a:effectLst/>
                <a:latin typeface="Menlo" panose="020B0609030804020204" pitchFamily="49" charset="0"/>
              </a:rPr>
              <a:t>coroutine_pool</a:t>
            </a:r>
            <a:r>
              <a:rPr lang="zh-CN" altLang="en-US" sz="2400" b="1" dirty="0">
                <a:solidFill>
                  <a:srgbClr val="FF0000"/>
                </a:solidFill>
                <a:effectLst/>
                <a:latin typeface="Menlo" panose="020B0609030804020204" pitchFamily="49" charset="0"/>
              </a:rPr>
              <a:t>（协程池</a:t>
            </a:r>
            <a:r>
              <a:rPr lang="zh-CN" altLang="en-US" sz="2400" b="1" dirty="0">
                <a:solidFill>
                  <a:srgbClr val="FF0000"/>
                </a:solidFill>
                <a:latin typeface="Menlo" panose="020B0609030804020204" pitchFamily="49" charset="0"/>
              </a:rPr>
              <a:t>、</a:t>
            </a:r>
            <a:r>
              <a:rPr lang="zh-CN" altLang="en-US" sz="2400" b="1" dirty="0">
                <a:solidFill>
                  <a:srgbClr val="FF0000"/>
                </a:solidFill>
                <a:effectLst/>
                <a:latin typeface="Menlo" panose="020B0609030804020204" pitchFamily="49" charset="0"/>
              </a:rPr>
              <a:t>调度器）</a:t>
            </a:r>
            <a:endParaRPr lang="en" altLang="zh-CN" sz="2400" b="1" dirty="0">
              <a:solidFill>
                <a:srgbClr val="FF0000"/>
              </a:solidFill>
              <a:effectLst/>
              <a:latin typeface="Menlo" panose="020B0609030804020204" pitchFamily="49" charset="0"/>
            </a:endParaRPr>
          </a:p>
        </p:txBody>
      </p:sp>
      <p:sp>
        <p:nvSpPr>
          <p:cNvPr id="6" name="文本框 5">
            <a:extLst>
              <a:ext uri="{FF2B5EF4-FFF2-40B4-BE49-F238E27FC236}">
                <a16:creationId xmlns:a16="http://schemas.microsoft.com/office/drawing/2014/main" id="{69244B25-9509-46E4-DBA2-6FDADD1BB433}"/>
              </a:ext>
            </a:extLst>
          </p:cNvPr>
          <p:cNvSpPr txBox="1"/>
          <p:nvPr/>
        </p:nvSpPr>
        <p:spPr>
          <a:xfrm>
            <a:off x="540842" y="1570095"/>
            <a:ext cx="5484194" cy="1151405"/>
          </a:xfrm>
          <a:prstGeom prst="rect">
            <a:avLst/>
          </a:prstGeom>
          <a:noFill/>
        </p:spPr>
        <p:txBody>
          <a:bodyPr wrap="none" rtlCol="0">
            <a:spAutoFit/>
          </a:bodyPr>
          <a:lstStyle/>
          <a:p>
            <a:r>
              <a:rPr kumimoji="1" lang="zh-CN" altLang="en-US" b="1" dirty="0"/>
              <a:t>主要成员变量：</a:t>
            </a:r>
            <a:endParaRPr kumimoji="1" lang="en-US" altLang="zh-CN" dirty="0"/>
          </a:p>
          <a:p>
            <a:pPr>
              <a:lnSpc>
                <a:spcPct val="150000"/>
              </a:lnSpc>
            </a:pPr>
            <a:r>
              <a:rPr kumimoji="1" lang="en-US" altLang="zh-CN" b="1" dirty="0">
                <a:effectLst/>
                <a:latin typeface="Menlo" panose="020B0609030804020204" pitchFamily="49" charset="0"/>
              </a:rPr>
              <a:t>1.</a:t>
            </a:r>
            <a:r>
              <a:rPr kumimoji="1" lang="zh-CN" altLang="en-US" b="1" dirty="0">
                <a:effectLst/>
                <a:latin typeface="Menlo" panose="020B0609030804020204" pitchFamily="49" charset="0"/>
              </a:rPr>
              <a:t> </a:t>
            </a:r>
            <a:r>
              <a:rPr lang="en" altLang="zh-CN" b="0" dirty="0">
                <a:effectLst/>
                <a:latin typeface="Menlo" panose="020B0609030804020204" pitchFamily="49" charset="0"/>
              </a:rPr>
              <a:t>vector&lt;</a:t>
            </a:r>
            <a:r>
              <a:rPr lang="en" altLang="zh-CN" b="0" dirty="0" err="1">
                <a:effectLst/>
                <a:latin typeface="Menlo" panose="020B0609030804020204" pitchFamily="49" charset="0"/>
              </a:rPr>
              <a:t>basic_context</a:t>
            </a:r>
            <a:r>
              <a:rPr lang="en" altLang="zh-CN" b="0" dirty="0">
                <a:effectLst/>
                <a:latin typeface="Menlo" panose="020B0609030804020204" pitchFamily="49" charset="0"/>
              </a:rPr>
              <a:t> *&gt; coroutines;</a:t>
            </a:r>
          </a:p>
          <a:p>
            <a:pPr>
              <a:lnSpc>
                <a:spcPct val="150000"/>
              </a:lnSpc>
            </a:pPr>
            <a:r>
              <a:rPr kumimoji="1" lang="en-US" altLang="zh-CN" b="1" dirty="0"/>
              <a:t>2.</a:t>
            </a:r>
            <a:r>
              <a:rPr kumimoji="1" lang="zh-CN" altLang="en-US" b="1" dirty="0"/>
              <a:t>   </a:t>
            </a:r>
            <a:r>
              <a:rPr lang="en" altLang="zh-CN" b="0" dirty="0" err="1">
                <a:effectLst/>
                <a:latin typeface="Menlo" panose="020B0609030804020204" pitchFamily="49" charset="0"/>
              </a:rPr>
              <a:t>context_id</a:t>
            </a:r>
            <a:r>
              <a:rPr lang="zh-CN" altLang="en-US" b="0" dirty="0">
                <a:effectLst/>
                <a:latin typeface="Menlo" panose="020B0609030804020204" pitchFamily="49" charset="0"/>
              </a:rPr>
              <a:t>   （正在执行的协程</a:t>
            </a:r>
            <a:r>
              <a:rPr lang="en-US" altLang="zh-CN" b="0" dirty="0">
                <a:effectLst/>
                <a:latin typeface="Menlo" panose="020B0609030804020204" pitchFamily="49" charset="0"/>
              </a:rPr>
              <a:t>ID</a:t>
            </a:r>
            <a:r>
              <a:rPr lang="zh-CN" altLang="en-US" b="0" dirty="0">
                <a:effectLst/>
                <a:latin typeface="Menlo" panose="020B0609030804020204" pitchFamily="49" charset="0"/>
              </a:rPr>
              <a:t>）</a:t>
            </a:r>
            <a:endParaRPr lang="en" altLang="zh-CN" b="0" dirty="0">
              <a:effectLst/>
              <a:latin typeface="Menlo" panose="020B0609030804020204" pitchFamily="49" charset="0"/>
            </a:endParaRPr>
          </a:p>
        </p:txBody>
      </p:sp>
      <p:sp>
        <p:nvSpPr>
          <p:cNvPr id="7" name="矩形 6">
            <a:extLst>
              <a:ext uri="{FF2B5EF4-FFF2-40B4-BE49-F238E27FC236}">
                <a16:creationId xmlns:a16="http://schemas.microsoft.com/office/drawing/2014/main" id="{E6EB2D75-0B7A-E9C4-A615-2095F64F2312}"/>
              </a:ext>
            </a:extLst>
          </p:cNvPr>
          <p:cNvSpPr/>
          <p:nvPr/>
        </p:nvSpPr>
        <p:spPr>
          <a:xfrm>
            <a:off x="527847" y="1169985"/>
            <a:ext cx="5397940" cy="1638795"/>
          </a:xfrm>
          <a:prstGeom prst="rect">
            <a:avLst/>
          </a:prstGeom>
          <a:noFill/>
          <a:ln w="28575">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a:extLst>
              <a:ext uri="{FF2B5EF4-FFF2-40B4-BE49-F238E27FC236}">
                <a16:creationId xmlns:a16="http://schemas.microsoft.com/office/drawing/2014/main" id="{711C7E48-0052-5AF7-1679-A02A74BADE80}"/>
              </a:ext>
            </a:extLst>
          </p:cNvPr>
          <p:cNvSpPr/>
          <p:nvPr/>
        </p:nvSpPr>
        <p:spPr>
          <a:xfrm>
            <a:off x="782649" y="3024224"/>
            <a:ext cx="2630904" cy="3363521"/>
          </a:xfrm>
          <a:prstGeom prst="roundRect">
            <a:avLst>
              <a:gd name="adj" fmla="val 6079"/>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2AFD3109-087F-13F8-6786-A3556D59400A}"/>
              </a:ext>
            </a:extLst>
          </p:cNvPr>
          <p:cNvSpPr txBox="1"/>
          <p:nvPr/>
        </p:nvSpPr>
        <p:spPr>
          <a:xfrm>
            <a:off x="806313" y="3032063"/>
            <a:ext cx="2590774" cy="369332"/>
          </a:xfrm>
          <a:prstGeom prst="rect">
            <a:avLst/>
          </a:prstGeom>
          <a:noFill/>
        </p:spPr>
        <p:txBody>
          <a:bodyPr wrap="none" rtlCol="0">
            <a:spAutoFit/>
          </a:bodyPr>
          <a:lstStyle/>
          <a:p>
            <a:r>
              <a:rPr kumimoji="1" lang="en-US" altLang="zh-CN" b="1" dirty="0" err="1">
                <a:latin typeface="Consolas" panose="020B0609020204030204" pitchFamily="49" charset="0"/>
                <a:cs typeface="Consolas" panose="020B0609020204030204" pitchFamily="49" charset="0"/>
              </a:rPr>
              <a:t>coroutine_context</a:t>
            </a:r>
            <a:r>
              <a:rPr kumimoji="1" lang="zh-CN" altLang="en-US" b="1" dirty="0">
                <a:latin typeface="Consolas" panose="020B0609020204030204" pitchFamily="49" charset="0"/>
                <a:cs typeface="Consolas" panose="020B0609020204030204" pitchFamily="49" charset="0"/>
              </a:rPr>
              <a:t> </a:t>
            </a:r>
            <a:r>
              <a:rPr kumimoji="1" lang="en-US" altLang="zh-CN" b="1" dirty="0">
                <a:latin typeface="Consolas" panose="020B0609020204030204" pitchFamily="49" charset="0"/>
                <a:cs typeface="Consolas" panose="020B0609020204030204" pitchFamily="49" charset="0"/>
              </a:rPr>
              <a:t>1</a:t>
            </a:r>
            <a:endParaRPr kumimoji="1" lang="zh-CN" altLang="en-US" b="1" dirty="0">
              <a:latin typeface="Consolas" panose="020B0609020204030204" pitchFamily="49" charset="0"/>
              <a:cs typeface="Consolas" panose="020B0609020204030204" pitchFamily="49" charset="0"/>
            </a:endParaRPr>
          </a:p>
        </p:txBody>
      </p:sp>
      <p:cxnSp>
        <p:nvCxnSpPr>
          <p:cNvPr id="15" name="直接连接符 79">
            <a:extLst>
              <a:ext uri="{FF2B5EF4-FFF2-40B4-BE49-F238E27FC236}">
                <a16:creationId xmlns:a16="http://schemas.microsoft.com/office/drawing/2014/main" id="{0D175F58-DD93-B5E3-3907-40C99A467BC5}"/>
              </a:ext>
            </a:extLst>
          </p:cNvPr>
          <p:cNvCxnSpPr>
            <a:cxnSpLocks/>
          </p:cNvCxnSpPr>
          <p:nvPr/>
        </p:nvCxnSpPr>
        <p:spPr>
          <a:xfrm flipV="1">
            <a:off x="782649" y="3393556"/>
            <a:ext cx="2630903" cy="35444"/>
          </a:xfrm>
          <a:prstGeom prst="line">
            <a:avLst/>
          </a:prstGeom>
          <a:ln w="38100" cap="rnd">
            <a:solidFill>
              <a:srgbClr val="7030A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8" name="表格 18">
            <a:extLst>
              <a:ext uri="{FF2B5EF4-FFF2-40B4-BE49-F238E27FC236}">
                <a16:creationId xmlns:a16="http://schemas.microsoft.com/office/drawing/2014/main" id="{5E94480E-CBA8-928C-0087-56E44CD3046E}"/>
              </a:ext>
            </a:extLst>
          </p:cNvPr>
          <p:cNvGraphicFramePr>
            <a:graphicFrameLocks noGrp="1"/>
          </p:cNvGraphicFramePr>
          <p:nvPr/>
        </p:nvGraphicFramePr>
        <p:xfrm>
          <a:off x="1102991" y="4482434"/>
          <a:ext cx="811536" cy="1828800"/>
        </p:xfrm>
        <a:graphic>
          <a:graphicData uri="http://schemas.openxmlformats.org/drawingml/2006/table">
            <a:tbl>
              <a:tblPr firstRow="1" bandRow="1">
                <a:tableStyleId>{5C22544A-7EE6-4342-B048-85BDC9FD1C3A}</a:tableStyleId>
              </a:tblPr>
              <a:tblGrid>
                <a:gridCol w="811536">
                  <a:extLst>
                    <a:ext uri="{9D8B030D-6E8A-4147-A177-3AD203B41FA5}">
                      <a16:colId xmlns:a16="http://schemas.microsoft.com/office/drawing/2014/main" val="2240501488"/>
                    </a:ext>
                  </a:extLst>
                </a:gridCol>
              </a:tblGrid>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656416"/>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648371"/>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00938"/>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492596"/>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253131"/>
                  </a:ext>
                </a:extLst>
              </a:tr>
            </a:tbl>
          </a:graphicData>
        </a:graphic>
      </p:graphicFrame>
      <p:sp>
        <p:nvSpPr>
          <p:cNvPr id="19" name="文本框 18">
            <a:extLst>
              <a:ext uri="{FF2B5EF4-FFF2-40B4-BE49-F238E27FC236}">
                <a16:creationId xmlns:a16="http://schemas.microsoft.com/office/drawing/2014/main" id="{A4EFC3A8-B06F-92D2-6BD9-4C941AE0BCEB}"/>
              </a:ext>
            </a:extLst>
          </p:cNvPr>
          <p:cNvSpPr txBox="1"/>
          <p:nvPr/>
        </p:nvSpPr>
        <p:spPr>
          <a:xfrm>
            <a:off x="1102991" y="4113101"/>
            <a:ext cx="723275" cy="369332"/>
          </a:xfrm>
          <a:prstGeom prst="rect">
            <a:avLst/>
          </a:prstGeom>
          <a:noFill/>
        </p:spPr>
        <p:txBody>
          <a:bodyPr wrap="none" rtlCol="0">
            <a:spAutoFit/>
          </a:bodyPr>
          <a:lstStyle/>
          <a:p>
            <a:r>
              <a:rPr kumimoji="1" lang="en-US" altLang="zh-CN" dirty="0">
                <a:latin typeface=""/>
              </a:rPr>
              <a:t>stack</a:t>
            </a:r>
            <a:endParaRPr kumimoji="1" lang="zh-CN" altLang="en-US" dirty="0">
              <a:latin typeface=""/>
            </a:endParaRPr>
          </a:p>
        </p:txBody>
      </p:sp>
      <p:sp>
        <p:nvSpPr>
          <p:cNvPr id="26" name="矩形 25">
            <a:extLst>
              <a:ext uri="{FF2B5EF4-FFF2-40B4-BE49-F238E27FC236}">
                <a16:creationId xmlns:a16="http://schemas.microsoft.com/office/drawing/2014/main" id="{1CF23B02-FAEE-0A66-015B-C3F2AB533133}"/>
              </a:ext>
            </a:extLst>
          </p:cNvPr>
          <p:cNvSpPr/>
          <p:nvPr/>
        </p:nvSpPr>
        <p:spPr>
          <a:xfrm>
            <a:off x="2073243" y="4711760"/>
            <a:ext cx="1242164"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Caller</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28" name="矩形 27">
            <a:extLst>
              <a:ext uri="{FF2B5EF4-FFF2-40B4-BE49-F238E27FC236}">
                <a16:creationId xmlns:a16="http://schemas.microsoft.com/office/drawing/2014/main" id="{043D0021-A890-5962-5814-FCDC99C6FFE5}"/>
              </a:ext>
            </a:extLst>
          </p:cNvPr>
          <p:cNvSpPr/>
          <p:nvPr/>
        </p:nvSpPr>
        <p:spPr>
          <a:xfrm>
            <a:off x="2073242" y="5571846"/>
            <a:ext cx="1238837"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Callee</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37" name="文本框 36">
            <a:extLst>
              <a:ext uri="{FF2B5EF4-FFF2-40B4-BE49-F238E27FC236}">
                <a16:creationId xmlns:a16="http://schemas.microsoft.com/office/drawing/2014/main" id="{ADED64D9-9BC8-6411-9660-91721891BD66}"/>
              </a:ext>
            </a:extLst>
          </p:cNvPr>
          <p:cNvSpPr txBox="1"/>
          <p:nvPr/>
        </p:nvSpPr>
        <p:spPr>
          <a:xfrm>
            <a:off x="8599477" y="5854819"/>
            <a:ext cx="800219" cy="461665"/>
          </a:xfrm>
          <a:prstGeom prst="rect">
            <a:avLst/>
          </a:prstGeom>
          <a:noFill/>
        </p:spPr>
        <p:txBody>
          <a:bodyPr wrap="none" rtlCol="0">
            <a:spAutoFit/>
          </a:bodyPr>
          <a:lstStyle/>
          <a:p>
            <a:r>
              <a:rPr kumimoji="1" lang="en-US" altLang="zh-CN" sz="2400" dirty="0"/>
              <a:t>……</a:t>
            </a:r>
            <a:endParaRPr kumimoji="1" lang="zh-CN" altLang="en-US" dirty="0"/>
          </a:p>
        </p:txBody>
      </p:sp>
      <p:sp>
        <p:nvSpPr>
          <p:cNvPr id="46" name="文本框 45">
            <a:extLst>
              <a:ext uri="{FF2B5EF4-FFF2-40B4-BE49-F238E27FC236}">
                <a16:creationId xmlns:a16="http://schemas.microsoft.com/office/drawing/2014/main" id="{2C570D54-0399-60F3-666B-36D5FF2B1487}"/>
              </a:ext>
            </a:extLst>
          </p:cNvPr>
          <p:cNvSpPr txBox="1"/>
          <p:nvPr/>
        </p:nvSpPr>
        <p:spPr>
          <a:xfrm>
            <a:off x="1060835" y="3585260"/>
            <a:ext cx="1483098" cy="369332"/>
          </a:xfrm>
          <a:prstGeom prst="rect">
            <a:avLst/>
          </a:prstGeom>
          <a:noFill/>
        </p:spPr>
        <p:txBody>
          <a:bodyPr wrap="none" rtlCol="0">
            <a:spAutoFit/>
          </a:bodyPr>
          <a:lstStyle/>
          <a:p>
            <a:r>
              <a:rPr kumimoji="1" lang="en-US" altLang="zh-CN" dirty="0" err="1">
                <a:latin typeface="Consolas" panose="020B0609020204030204" pitchFamily="49" charset="0"/>
                <a:cs typeface="Consolas" panose="020B0609020204030204" pitchFamily="49" charset="0"/>
              </a:rPr>
              <a:t>Func</a:t>
            </a:r>
            <a:r>
              <a:rPr kumimoji="1" lang="zh-CN" altLang="en-US" dirty="0">
                <a:latin typeface="Consolas" panose="020B0609020204030204" pitchFamily="49" charset="0"/>
                <a:cs typeface="Consolas" panose="020B0609020204030204" pitchFamily="49" charset="0"/>
              </a:rPr>
              <a:t> </a:t>
            </a:r>
            <a:r>
              <a:rPr kumimoji="1" lang="en-US" altLang="zh-CN" dirty="0"/>
              <a:t>+</a:t>
            </a:r>
            <a:r>
              <a:rPr kumimoji="1" lang="zh-CN" altLang="en-US" dirty="0"/>
              <a:t> 参数</a:t>
            </a:r>
          </a:p>
        </p:txBody>
      </p:sp>
      <p:sp>
        <p:nvSpPr>
          <p:cNvPr id="47" name="圆角矩形 46">
            <a:extLst>
              <a:ext uri="{FF2B5EF4-FFF2-40B4-BE49-F238E27FC236}">
                <a16:creationId xmlns:a16="http://schemas.microsoft.com/office/drawing/2014/main" id="{AB88A815-A3F0-3E5F-A83B-9ED7DB0DB2D1}"/>
              </a:ext>
            </a:extLst>
          </p:cNvPr>
          <p:cNvSpPr/>
          <p:nvPr/>
        </p:nvSpPr>
        <p:spPr>
          <a:xfrm>
            <a:off x="3696696" y="3024224"/>
            <a:ext cx="2630904" cy="3363521"/>
          </a:xfrm>
          <a:prstGeom prst="roundRect">
            <a:avLst>
              <a:gd name="adj" fmla="val 6079"/>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文本框 47">
            <a:extLst>
              <a:ext uri="{FF2B5EF4-FFF2-40B4-BE49-F238E27FC236}">
                <a16:creationId xmlns:a16="http://schemas.microsoft.com/office/drawing/2014/main" id="{FF07C096-7535-197F-0F5F-F55B3E6F8D87}"/>
              </a:ext>
            </a:extLst>
          </p:cNvPr>
          <p:cNvSpPr txBox="1"/>
          <p:nvPr/>
        </p:nvSpPr>
        <p:spPr>
          <a:xfrm>
            <a:off x="3720360" y="3032063"/>
            <a:ext cx="2590774" cy="369332"/>
          </a:xfrm>
          <a:prstGeom prst="rect">
            <a:avLst/>
          </a:prstGeom>
          <a:noFill/>
        </p:spPr>
        <p:txBody>
          <a:bodyPr wrap="none" rtlCol="0">
            <a:spAutoFit/>
          </a:bodyPr>
          <a:lstStyle/>
          <a:p>
            <a:r>
              <a:rPr kumimoji="1" lang="en-US" altLang="zh-CN" b="1" dirty="0" err="1">
                <a:latin typeface="Consolas" panose="020B0609020204030204" pitchFamily="49" charset="0"/>
                <a:cs typeface="Consolas" panose="020B0609020204030204" pitchFamily="49" charset="0"/>
              </a:rPr>
              <a:t>coroutine_context</a:t>
            </a:r>
            <a:r>
              <a:rPr kumimoji="1" lang="zh-CN" altLang="en-US" b="1" dirty="0">
                <a:latin typeface="Consolas" panose="020B0609020204030204" pitchFamily="49" charset="0"/>
                <a:cs typeface="Consolas" panose="020B0609020204030204" pitchFamily="49" charset="0"/>
              </a:rPr>
              <a:t> </a:t>
            </a:r>
            <a:r>
              <a:rPr kumimoji="1" lang="en-US" altLang="zh-CN" b="1" dirty="0">
                <a:latin typeface="Consolas" panose="020B0609020204030204" pitchFamily="49" charset="0"/>
                <a:cs typeface="Consolas" panose="020B0609020204030204" pitchFamily="49" charset="0"/>
              </a:rPr>
              <a:t>2</a:t>
            </a:r>
            <a:endParaRPr kumimoji="1" lang="zh-CN" altLang="en-US" b="1" dirty="0">
              <a:latin typeface="Consolas" panose="020B0609020204030204" pitchFamily="49" charset="0"/>
              <a:cs typeface="Consolas" panose="020B0609020204030204" pitchFamily="49" charset="0"/>
            </a:endParaRPr>
          </a:p>
        </p:txBody>
      </p:sp>
      <p:cxnSp>
        <p:nvCxnSpPr>
          <p:cNvPr id="49" name="直接连接符 79">
            <a:extLst>
              <a:ext uri="{FF2B5EF4-FFF2-40B4-BE49-F238E27FC236}">
                <a16:creationId xmlns:a16="http://schemas.microsoft.com/office/drawing/2014/main" id="{6820716C-DDDB-C742-4A74-669F2F4EE6C6}"/>
              </a:ext>
            </a:extLst>
          </p:cNvPr>
          <p:cNvCxnSpPr>
            <a:cxnSpLocks/>
          </p:cNvCxnSpPr>
          <p:nvPr/>
        </p:nvCxnSpPr>
        <p:spPr>
          <a:xfrm flipV="1">
            <a:off x="3696696" y="3393556"/>
            <a:ext cx="2630903" cy="35444"/>
          </a:xfrm>
          <a:prstGeom prst="line">
            <a:avLst/>
          </a:prstGeom>
          <a:ln w="38100" cap="rnd">
            <a:solidFill>
              <a:srgbClr val="7030A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0" name="表格 18">
            <a:extLst>
              <a:ext uri="{FF2B5EF4-FFF2-40B4-BE49-F238E27FC236}">
                <a16:creationId xmlns:a16="http://schemas.microsoft.com/office/drawing/2014/main" id="{8F24197B-83B7-0B54-3D79-13F310C41FAF}"/>
              </a:ext>
            </a:extLst>
          </p:cNvPr>
          <p:cNvGraphicFramePr>
            <a:graphicFrameLocks noGrp="1"/>
          </p:cNvGraphicFramePr>
          <p:nvPr/>
        </p:nvGraphicFramePr>
        <p:xfrm>
          <a:off x="4017038" y="4482434"/>
          <a:ext cx="811536" cy="1828800"/>
        </p:xfrm>
        <a:graphic>
          <a:graphicData uri="http://schemas.openxmlformats.org/drawingml/2006/table">
            <a:tbl>
              <a:tblPr firstRow="1" bandRow="1">
                <a:tableStyleId>{5C22544A-7EE6-4342-B048-85BDC9FD1C3A}</a:tableStyleId>
              </a:tblPr>
              <a:tblGrid>
                <a:gridCol w="811536">
                  <a:extLst>
                    <a:ext uri="{9D8B030D-6E8A-4147-A177-3AD203B41FA5}">
                      <a16:colId xmlns:a16="http://schemas.microsoft.com/office/drawing/2014/main" val="2240501488"/>
                    </a:ext>
                  </a:extLst>
                </a:gridCol>
              </a:tblGrid>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656416"/>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648371"/>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00938"/>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492596"/>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253131"/>
                  </a:ext>
                </a:extLst>
              </a:tr>
            </a:tbl>
          </a:graphicData>
        </a:graphic>
      </p:graphicFrame>
      <p:sp>
        <p:nvSpPr>
          <p:cNvPr id="51" name="文本框 50">
            <a:extLst>
              <a:ext uri="{FF2B5EF4-FFF2-40B4-BE49-F238E27FC236}">
                <a16:creationId xmlns:a16="http://schemas.microsoft.com/office/drawing/2014/main" id="{183C6F40-A742-351C-11E8-EA4FCCE3DA94}"/>
              </a:ext>
            </a:extLst>
          </p:cNvPr>
          <p:cNvSpPr txBox="1"/>
          <p:nvPr/>
        </p:nvSpPr>
        <p:spPr>
          <a:xfrm>
            <a:off x="4017038" y="4113101"/>
            <a:ext cx="723275" cy="369332"/>
          </a:xfrm>
          <a:prstGeom prst="rect">
            <a:avLst/>
          </a:prstGeom>
          <a:noFill/>
        </p:spPr>
        <p:txBody>
          <a:bodyPr wrap="none" rtlCol="0">
            <a:spAutoFit/>
          </a:bodyPr>
          <a:lstStyle/>
          <a:p>
            <a:r>
              <a:rPr kumimoji="1" lang="en-US" altLang="zh-CN" dirty="0">
                <a:latin typeface=""/>
              </a:rPr>
              <a:t>stack</a:t>
            </a:r>
            <a:endParaRPr kumimoji="1" lang="zh-CN" altLang="en-US" dirty="0">
              <a:latin typeface=""/>
            </a:endParaRPr>
          </a:p>
        </p:txBody>
      </p:sp>
      <p:sp>
        <p:nvSpPr>
          <p:cNvPr id="54" name="文本框 53">
            <a:extLst>
              <a:ext uri="{FF2B5EF4-FFF2-40B4-BE49-F238E27FC236}">
                <a16:creationId xmlns:a16="http://schemas.microsoft.com/office/drawing/2014/main" id="{4FE26C63-5557-5854-8BBD-AD00B9CAF4C7}"/>
              </a:ext>
            </a:extLst>
          </p:cNvPr>
          <p:cNvSpPr txBox="1"/>
          <p:nvPr/>
        </p:nvSpPr>
        <p:spPr>
          <a:xfrm>
            <a:off x="3974882" y="3585260"/>
            <a:ext cx="1483098" cy="369332"/>
          </a:xfrm>
          <a:prstGeom prst="rect">
            <a:avLst/>
          </a:prstGeom>
          <a:noFill/>
        </p:spPr>
        <p:txBody>
          <a:bodyPr wrap="none" rtlCol="0">
            <a:spAutoFit/>
          </a:bodyPr>
          <a:lstStyle/>
          <a:p>
            <a:r>
              <a:rPr kumimoji="1" lang="en-US" altLang="zh-CN" dirty="0" err="1">
                <a:latin typeface="Consolas" panose="020B0609020204030204" pitchFamily="49" charset="0"/>
                <a:cs typeface="Consolas" panose="020B0609020204030204" pitchFamily="49" charset="0"/>
              </a:rPr>
              <a:t>Func</a:t>
            </a:r>
            <a:r>
              <a:rPr kumimoji="1" lang="zh-CN" altLang="en-US" dirty="0">
                <a:latin typeface="Consolas" panose="020B0609020204030204" pitchFamily="49" charset="0"/>
                <a:cs typeface="Consolas" panose="020B0609020204030204" pitchFamily="49" charset="0"/>
              </a:rPr>
              <a:t> </a:t>
            </a:r>
            <a:r>
              <a:rPr kumimoji="1" lang="en-US" altLang="zh-CN" dirty="0"/>
              <a:t>+</a:t>
            </a:r>
            <a:r>
              <a:rPr kumimoji="1" lang="zh-CN" altLang="en-US" dirty="0"/>
              <a:t> 参数</a:t>
            </a:r>
          </a:p>
        </p:txBody>
      </p:sp>
      <p:sp>
        <p:nvSpPr>
          <p:cNvPr id="63" name="圆角矩形 62">
            <a:extLst>
              <a:ext uri="{FF2B5EF4-FFF2-40B4-BE49-F238E27FC236}">
                <a16:creationId xmlns:a16="http://schemas.microsoft.com/office/drawing/2014/main" id="{877724A0-E814-40B6-5E6E-BC409E6829A2}"/>
              </a:ext>
            </a:extLst>
          </p:cNvPr>
          <p:cNvSpPr/>
          <p:nvPr/>
        </p:nvSpPr>
        <p:spPr>
          <a:xfrm>
            <a:off x="8444002" y="3024224"/>
            <a:ext cx="2630904" cy="3363521"/>
          </a:xfrm>
          <a:prstGeom prst="roundRect">
            <a:avLst>
              <a:gd name="adj" fmla="val 6079"/>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24" name="文本框 1023">
            <a:extLst>
              <a:ext uri="{FF2B5EF4-FFF2-40B4-BE49-F238E27FC236}">
                <a16:creationId xmlns:a16="http://schemas.microsoft.com/office/drawing/2014/main" id="{02E7A39C-B49F-B6F6-9217-1A07E1B7543B}"/>
              </a:ext>
            </a:extLst>
          </p:cNvPr>
          <p:cNvSpPr txBox="1"/>
          <p:nvPr/>
        </p:nvSpPr>
        <p:spPr>
          <a:xfrm>
            <a:off x="8467666" y="3032063"/>
            <a:ext cx="2590774" cy="369332"/>
          </a:xfrm>
          <a:prstGeom prst="rect">
            <a:avLst/>
          </a:prstGeom>
          <a:noFill/>
        </p:spPr>
        <p:txBody>
          <a:bodyPr wrap="none" rtlCol="0">
            <a:spAutoFit/>
          </a:bodyPr>
          <a:lstStyle/>
          <a:p>
            <a:r>
              <a:rPr kumimoji="1" lang="en-US" altLang="zh-CN" b="1" dirty="0" err="1">
                <a:latin typeface="Consolas" panose="020B0609020204030204" pitchFamily="49" charset="0"/>
                <a:cs typeface="Consolas" panose="020B0609020204030204" pitchFamily="49" charset="0"/>
              </a:rPr>
              <a:t>coroutine_context</a:t>
            </a:r>
            <a:r>
              <a:rPr kumimoji="1" lang="zh-CN" altLang="en-US" b="1" dirty="0">
                <a:latin typeface="Consolas" panose="020B0609020204030204" pitchFamily="49" charset="0"/>
                <a:cs typeface="Consolas" panose="020B0609020204030204" pitchFamily="49" charset="0"/>
              </a:rPr>
              <a:t> </a:t>
            </a:r>
            <a:r>
              <a:rPr kumimoji="1" lang="en-US" altLang="zh-CN" b="1" dirty="0">
                <a:latin typeface="Consolas" panose="020B0609020204030204" pitchFamily="49" charset="0"/>
                <a:cs typeface="Consolas" panose="020B0609020204030204" pitchFamily="49" charset="0"/>
              </a:rPr>
              <a:t>n</a:t>
            </a:r>
            <a:endParaRPr kumimoji="1" lang="zh-CN" altLang="en-US" b="1" dirty="0">
              <a:latin typeface="Consolas" panose="020B0609020204030204" pitchFamily="49" charset="0"/>
              <a:cs typeface="Consolas" panose="020B0609020204030204" pitchFamily="49" charset="0"/>
            </a:endParaRPr>
          </a:p>
        </p:txBody>
      </p:sp>
      <p:cxnSp>
        <p:nvCxnSpPr>
          <p:cNvPr id="1025" name="直接连接符 79">
            <a:extLst>
              <a:ext uri="{FF2B5EF4-FFF2-40B4-BE49-F238E27FC236}">
                <a16:creationId xmlns:a16="http://schemas.microsoft.com/office/drawing/2014/main" id="{64FE37A8-2583-F8B8-B908-D88CDD8F9AF7}"/>
              </a:ext>
            </a:extLst>
          </p:cNvPr>
          <p:cNvCxnSpPr>
            <a:cxnSpLocks/>
          </p:cNvCxnSpPr>
          <p:nvPr/>
        </p:nvCxnSpPr>
        <p:spPr>
          <a:xfrm flipV="1">
            <a:off x="8444002" y="3393556"/>
            <a:ext cx="2630903" cy="35444"/>
          </a:xfrm>
          <a:prstGeom prst="line">
            <a:avLst/>
          </a:prstGeom>
          <a:ln w="38100" cap="rnd">
            <a:solidFill>
              <a:srgbClr val="7030A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027" name="表格 18">
            <a:extLst>
              <a:ext uri="{FF2B5EF4-FFF2-40B4-BE49-F238E27FC236}">
                <a16:creationId xmlns:a16="http://schemas.microsoft.com/office/drawing/2014/main" id="{25C69BF6-D07C-4F92-0603-668D58ADAA46}"/>
              </a:ext>
            </a:extLst>
          </p:cNvPr>
          <p:cNvGraphicFramePr>
            <a:graphicFrameLocks noGrp="1"/>
          </p:cNvGraphicFramePr>
          <p:nvPr/>
        </p:nvGraphicFramePr>
        <p:xfrm>
          <a:off x="8764344" y="4482434"/>
          <a:ext cx="811536" cy="1828800"/>
        </p:xfrm>
        <a:graphic>
          <a:graphicData uri="http://schemas.openxmlformats.org/drawingml/2006/table">
            <a:tbl>
              <a:tblPr firstRow="1" bandRow="1">
                <a:tableStyleId>{5C22544A-7EE6-4342-B048-85BDC9FD1C3A}</a:tableStyleId>
              </a:tblPr>
              <a:tblGrid>
                <a:gridCol w="811536">
                  <a:extLst>
                    <a:ext uri="{9D8B030D-6E8A-4147-A177-3AD203B41FA5}">
                      <a16:colId xmlns:a16="http://schemas.microsoft.com/office/drawing/2014/main" val="2240501488"/>
                    </a:ext>
                  </a:extLst>
                </a:gridCol>
              </a:tblGrid>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656416"/>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648371"/>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00938"/>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492596"/>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253131"/>
                  </a:ext>
                </a:extLst>
              </a:tr>
            </a:tbl>
          </a:graphicData>
        </a:graphic>
      </p:graphicFrame>
      <p:sp>
        <p:nvSpPr>
          <p:cNvPr id="1028" name="文本框 1027">
            <a:extLst>
              <a:ext uri="{FF2B5EF4-FFF2-40B4-BE49-F238E27FC236}">
                <a16:creationId xmlns:a16="http://schemas.microsoft.com/office/drawing/2014/main" id="{593273D9-D2A5-35B1-FBE4-BF48128F69C7}"/>
              </a:ext>
            </a:extLst>
          </p:cNvPr>
          <p:cNvSpPr txBox="1"/>
          <p:nvPr/>
        </p:nvSpPr>
        <p:spPr>
          <a:xfrm>
            <a:off x="8764344" y="4113101"/>
            <a:ext cx="723275" cy="369332"/>
          </a:xfrm>
          <a:prstGeom prst="rect">
            <a:avLst/>
          </a:prstGeom>
          <a:noFill/>
        </p:spPr>
        <p:txBody>
          <a:bodyPr wrap="none" rtlCol="0">
            <a:spAutoFit/>
          </a:bodyPr>
          <a:lstStyle/>
          <a:p>
            <a:r>
              <a:rPr kumimoji="1" lang="en-US" altLang="zh-CN" dirty="0">
                <a:latin typeface=""/>
              </a:rPr>
              <a:t>stack</a:t>
            </a:r>
            <a:endParaRPr kumimoji="1" lang="zh-CN" altLang="en-US" dirty="0">
              <a:latin typeface=""/>
            </a:endParaRPr>
          </a:p>
        </p:txBody>
      </p:sp>
      <p:sp>
        <p:nvSpPr>
          <p:cNvPr id="1031" name="文本框 1030">
            <a:extLst>
              <a:ext uri="{FF2B5EF4-FFF2-40B4-BE49-F238E27FC236}">
                <a16:creationId xmlns:a16="http://schemas.microsoft.com/office/drawing/2014/main" id="{F03F529E-5594-2ED7-922F-B5B5216B1A9B}"/>
              </a:ext>
            </a:extLst>
          </p:cNvPr>
          <p:cNvSpPr txBox="1"/>
          <p:nvPr/>
        </p:nvSpPr>
        <p:spPr>
          <a:xfrm>
            <a:off x="8722188" y="3585260"/>
            <a:ext cx="1483098" cy="369332"/>
          </a:xfrm>
          <a:prstGeom prst="rect">
            <a:avLst/>
          </a:prstGeom>
          <a:noFill/>
        </p:spPr>
        <p:txBody>
          <a:bodyPr wrap="none" rtlCol="0">
            <a:spAutoFit/>
          </a:bodyPr>
          <a:lstStyle/>
          <a:p>
            <a:r>
              <a:rPr kumimoji="1" lang="en-US" altLang="zh-CN" dirty="0" err="1">
                <a:latin typeface="Consolas" panose="020B0609020204030204" pitchFamily="49" charset="0"/>
                <a:cs typeface="Consolas" panose="020B0609020204030204" pitchFamily="49" charset="0"/>
              </a:rPr>
              <a:t>Func</a:t>
            </a:r>
            <a:r>
              <a:rPr kumimoji="1" lang="zh-CN" altLang="en-US" dirty="0">
                <a:latin typeface="Consolas" panose="020B0609020204030204" pitchFamily="49" charset="0"/>
                <a:cs typeface="Consolas" panose="020B0609020204030204" pitchFamily="49" charset="0"/>
              </a:rPr>
              <a:t> </a:t>
            </a:r>
            <a:r>
              <a:rPr kumimoji="1" lang="en-US" altLang="zh-CN" dirty="0"/>
              <a:t>+</a:t>
            </a:r>
            <a:r>
              <a:rPr kumimoji="1" lang="zh-CN" altLang="en-US" dirty="0"/>
              <a:t> 参数</a:t>
            </a:r>
          </a:p>
        </p:txBody>
      </p:sp>
      <p:sp>
        <p:nvSpPr>
          <p:cNvPr id="1032" name="文本框 1031">
            <a:extLst>
              <a:ext uri="{FF2B5EF4-FFF2-40B4-BE49-F238E27FC236}">
                <a16:creationId xmlns:a16="http://schemas.microsoft.com/office/drawing/2014/main" id="{2343B9D0-1115-0E84-9816-3F47A19F0172}"/>
              </a:ext>
            </a:extLst>
          </p:cNvPr>
          <p:cNvSpPr txBox="1"/>
          <p:nvPr/>
        </p:nvSpPr>
        <p:spPr>
          <a:xfrm>
            <a:off x="6942152" y="4482433"/>
            <a:ext cx="800219" cy="461665"/>
          </a:xfrm>
          <a:prstGeom prst="rect">
            <a:avLst/>
          </a:prstGeom>
          <a:noFill/>
        </p:spPr>
        <p:txBody>
          <a:bodyPr wrap="none" rtlCol="0">
            <a:spAutoFit/>
          </a:bodyPr>
          <a:lstStyle/>
          <a:p>
            <a:r>
              <a:rPr kumimoji="1" lang="en-US" altLang="zh-CN" sz="2400" b="1" dirty="0"/>
              <a:t>……</a:t>
            </a:r>
            <a:endParaRPr kumimoji="1" lang="zh-CN" altLang="en-US" b="1" dirty="0"/>
          </a:p>
        </p:txBody>
      </p:sp>
      <p:cxnSp>
        <p:nvCxnSpPr>
          <p:cNvPr id="1033" name="直接连接符 79">
            <a:extLst>
              <a:ext uri="{FF2B5EF4-FFF2-40B4-BE49-F238E27FC236}">
                <a16:creationId xmlns:a16="http://schemas.microsoft.com/office/drawing/2014/main" id="{5EC2C360-F464-58D8-43CB-5461C1F469BE}"/>
              </a:ext>
            </a:extLst>
          </p:cNvPr>
          <p:cNvCxnSpPr>
            <a:cxnSpLocks/>
          </p:cNvCxnSpPr>
          <p:nvPr/>
        </p:nvCxnSpPr>
        <p:spPr>
          <a:xfrm flipV="1">
            <a:off x="963535" y="4010386"/>
            <a:ext cx="2291768" cy="15640"/>
          </a:xfrm>
          <a:prstGeom prst="line">
            <a:avLst/>
          </a:prstGeom>
          <a:ln w="38100"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36" name="直接连接符 79">
            <a:extLst>
              <a:ext uri="{FF2B5EF4-FFF2-40B4-BE49-F238E27FC236}">
                <a16:creationId xmlns:a16="http://schemas.microsoft.com/office/drawing/2014/main" id="{9457697B-DDD3-A316-E1F2-6DFD6E3215FE}"/>
              </a:ext>
            </a:extLst>
          </p:cNvPr>
          <p:cNvCxnSpPr>
            <a:cxnSpLocks/>
          </p:cNvCxnSpPr>
          <p:nvPr/>
        </p:nvCxnSpPr>
        <p:spPr>
          <a:xfrm flipV="1">
            <a:off x="3866263" y="3974568"/>
            <a:ext cx="2291768" cy="15640"/>
          </a:xfrm>
          <a:prstGeom prst="line">
            <a:avLst/>
          </a:prstGeom>
          <a:ln w="38100"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37" name="直接连接符 79">
            <a:extLst>
              <a:ext uri="{FF2B5EF4-FFF2-40B4-BE49-F238E27FC236}">
                <a16:creationId xmlns:a16="http://schemas.microsoft.com/office/drawing/2014/main" id="{839A5ECA-EAAB-A83A-AD31-E8B36825403B}"/>
              </a:ext>
            </a:extLst>
          </p:cNvPr>
          <p:cNvCxnSpPr>
            <a:cxnSpLocks/>
          </p:cNvCxnSpPr>
          <p:nvPr/>
        </p:nvCxnSpPr>
        <p:spPr>
          <a:xfrm flipV="1">
            <a:off x="8588711" y="3992810"/>
            <a:ext cx="2291768" cy="15640"/>
          </a:xfrm>
          <a:prstGeom prst="line">
            <a:avLst/>
          </a:prstGeom>
          <a:ln w="38100"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38" name="矩形 1037">
            <a:extLst>
              <a:ext uri="{FF2B5EF4-FFF2-40B4-BE49-F238E27FC236}">
                <a16:creationId xmlns:a16="http://schemas.microsoft.com/office/drawing/2014/main" id="{92D75B40-8D7F-1A3E-3A34-7D603291865C}"/>
              </a:ext>
            </a:extLst>
          </p:cNvPr>
          <p:cNvSpPr/>
          <p:nvPr/>
        </p:nvSpPr>
        <p:spPr>
          <a:xfrm>
            <a:off x="4941241" y="4748507"/>
            <a:ext cx="1242164"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Caller</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1039" name="矩形 1038">
            <a:extLst>
              <a:ext uri="{FF2B5EF4-FFF2-40B4-BE49-F238E27FC236}">
                <a16:creationId xmlns:a16="http://schemas.microsoft.com/office/drawing/2014/main" id="{69552194-C680-D16C-CB34-0AF0CFFF1A52}"/>
              </a:ext>
            </a:extLst>
          </p:cNvPr>
          <p:cNvSpPr/>
          <p:nvPr/>
        </p:nvSpPr>
        <p:spPr>
          <a:xfrm>
            <a:off x="4941240" y="5608593"/>
            <a:ext cx="1238837"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Callee</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1040" name="矩形 1039">
            <a:extLst>
              <a:ext uri="{FF2B5EF4-FFF2-40B4-BE49-F238E27FC236}">
                <a16:creationId xmlns:a16="http://schemas.microsoft.com/office/drawing/2014/main" id="{FE49004D-8446-9F62-03B2-5B529B98D071}"/>
              </a:ext>
            </a:extLst>
          </p:cNvPr>
          <p:cNvSpPr/>
          <p:nvPr/>
        </p:nvSpPr>
        <p:spPr>
          <a:xfrm>
            <a:off x="9764982" y="4748507"/>
            <a:ext cx="1242164"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Caller</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1041" name="矩形 1040">
            <a:extLst>
              <a:ext uri="{FF2B5EF4-FFF2-40B4-BE49-F238E27FC236}">
                <a16:creationId xmlns:a16="http://schemas.microsoft.com/office/drawing/2014/main" id="{ED0B49F0-4101-A262-F3D7-929027415106}"/>
              </a:ext>
            </a:extLst>
          </p:cNvPr>
          <p:cNvSpPr/>
          <p:nvPr/>
        </p:nvSpPr>
        <p:spPr>
          <a:xfrm>
            <a:off x="9764981" y="5608593"/>
            <a:ext cx="1238837"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Callee</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3076919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E5CDA4AD-D0AD-68D8-EBAA-E68DCC6287EC}"/>
              </a:ext>
            </a:extLst>
          </p:cNvPr>
          <p:cNvSpPr/>
          <p:nvPr/>
        </p:nvSpPr>
        <p:spPr>
          <a:xfrm>
            <a:off x="8376145" y="1453332"/>
            <a:ext cx="2630904" cy="3363521"/>
          </a:xfrm>
          <a:prstGeom prst="roundRect">
            <a:avLst>
              <a:gd name="adj" fmla="val 6079"/>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32B4275B-55F3-EF3A-17EB-5465893B253E}"/>
              </a:ext>
            </a:extLst>
          </p:cNvPr>
          <p:cNvSpPr txBox="1"/>
          <p:nvPr/>
        </p:nvSpPr>
        <p:spPr>
          <a:xfrm>
            <a:off x="8399809" y="1461171"/>
            <a:ext cx="2590774" cy="369332"/>
          </a:xfrm>
          <a:prstGeom prst="rect">
            <a:avLst/>
          </a:prstGeom>
          <a:noFill/>
        </p:spPr>
        <p:txBody>
          <a:bodyPr wrap="none" rtlCol="0">
            <a:spAutoFit/>
          </a:bodyPr>
          <a:lstStyle/>
          <a:p>
            <a:r>
              <a:rPr kumimoji="1" lang="en-US" altLang="zh-CN" b="1" dirty="0" err="1">
                <a:latin typeface="Consolas" panose="020B0609020204030204" pitchFamily="49" charset="0"/>
                <a:cs typeface="Consolas" panose="020B0609020204030204" pitchFamily="49" charset="0"/>
              </a:rPr>
              <a:t>coroutine_context</a:t>
            </a:r>
            <a:r>
              <a:rPr kumimoji="1" lang="zh-CN" altLang="en-US" b="1" dirty="0">
                <a:latin typeface="Consolas" panose="020B0609020204030204" pitchFamily="49" charset="0"/>
                <a:cs typeface="Consolas" panose="020B0609020204030204" pitchFamily="49" charset="0"/>
              </a:rPr>
              <a:t> </a:t>
            </a:r>
            <a:r>
              <a:rPr kumimoji="1" lang="en-US" altLang="zh-CN" b="1" dirty="0">
                <a:latin typeface="Consolas" panose="020B0609020204030204" pitchFamily="49" charset="0"/>
                <a:cs typeface="Consolas" panose="020B0609020204030204" pitchFamily="49" charset="0"/>
              </a:rPr>
              <a:t>1</a:t>
            </a:r>
            <a:endParaRPr kumimoji="1" lang="zh-CN" altLang="en-US" b="1" dirty="0">
              <a:latin typeface="Consolas" panose="020B0609020204030204" pitchFamily="49" charset="0"/>
              <a:cs typeface="Consolas" panose="020B0609020204030204" pitchFamily="49" charset="0"/>
            </a:endParaRPr>
          </a:p>
        </p:txBody>
      </p:sp>
      <p:cxnSp>
        <p:nvCxnSpPr>
          <p:cNvPr id="4" name="直接连接符 79">
            <a:extLst>
              <a:ext uri="{FF2B5EF4-FFF2-40B4-BE49-F238E27FC236}">
                <a16:creationId xmlns:a16="http://schemas.microsoft.com/office/drawing/2014/main" id="{3E91CDB7-8F52-1979-39E2-94C4A66A1D0E}"/>
              </a:ext>
            </a:extLst>
          </p:cNvPr>
          <p:cNvCxnSpPr>
            <a:cxnSpLocks/>
          </p:cNvCxnSpPr>
          <p:nvPr/>
        </p:nvCxnSpPr>
        <p:spPr>
          <a:xfrm flipV="1">
            <a:off x="8376145" y="1822664"/>
            <a:ext cx="2630903" cy="35444"/>
          </a:xfrm>
          <a:prstGeom prst="line">
            <a:avLst/>
          </a:prstGeom>
          <a:ln w="38100" cap="rnd">
            <a:solidFill>
              <a:srgbClr val="7030A0"/>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表格 18">
            <a:extLst>
              <a:ext uri="{FF2B5EF4-FFF2-40B4-BE49-F238E27FC236}">
                <a16:creationId xmlns:a16="http://schemas.microsoft.com/office/drawing/2014/main" id="{ADCF60FF-72C5-916F-C903-74C02ED78422}"/>
              </a:ext>
            </a:extLst>
          </p:cNvPr>
          <p:cNvGraphicFramePr>
            <a:graphicFrameLocks noGrp="1"/>
          </p:cNvGraphicFramePr>
          <p:nvPr/>
        </p:nvGraphicFramePr>
        <p:xfrm>
          <a:off x="8696487" y="2911542"/>
          <a:ext cx="811536" cy="1828800"/>
        </p:xfrm>
        <a:graphic>
          <a:graphicData uri="http://schemas.openxmlformats.org/drawingml/2006/table">
            <a:tbl>
              <a:tblPr firstRow="1" bandRow="1">
                <a:tableStyleId>{5C22544A-7EE6-4342-B048-85BDC9FD1C3A}</a:tableStyleId>
              </a:tblPr>
              <a:tblGrid>
                <a:gridCol w="811536">
                  <a:extLst>
                    <a:ext uri="{9D8B030D-6E8A-4147-A177-3AD203B41FA5}">
                      <a16:colId xmlns:a16="http://schemas.microsoft.com/office/drawing/2014/main" val="2240501488"/>
                    </a:ext>
                  </a:extLst>
                </a:gridCol>
              </a:tblGrid>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656416"/>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648371"/>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00938"/>
                  </a:ext>
                </a:extLst>
              </a:tr>
              <a:tr h="319684">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492596"/>
                  </a:ext>
                </a:extLst>
              </a:tr>
              <a:tr h="319684">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253131"/>
                  </a:ext>
                </a:extLst>
              </a:tr>
            </a:tbl>
          </a:graphicData>
        </a:graphic>
      </p:graphicFrame>
      <p:sp>
        <p:nvSpPr>
          <p:cNvPr id="6" name="文本框 5">
            <a:extLst>
              <a:ext uri="{FF2B5EF4-FFF2-40B4-BE49-F238E27FC236}">
                <a16:creationId xmlns:a16="http://schemas.microsoft.com/office/drawing/2014/main" id="{D80E7045-4B60-84AA-6B94-83FB35D9CE39}"/>
              </a:ext>
            </a:extLst>
          </p:cNvPr>
          <p:cNvSpPr txBox="1"/>
          <p:nvPr/>
        </p:nvSpPr>
        <p:spPr>
          <a:xfrm>
            <a:off x="8696487" y="2542209"/>
            <a:ext cx="723275" cy="369332"/>
          </a:xfrm>
          <a:prstGeom prst="rect">
            <a:avLst/>
          </a:prstGeom>
          <a:noFill/>
        </p:spPr>
        <p:txBody>
          <a:bodyPr wrap="none" rtlCol="0">
            <a:spAutoFit/>
          </a:bodyPr>
          <a:lstStyle/>
          <a:p>
            <a:r>
              <a:rPr kumimoji="1" lang="en-US" altLang="zh-CN" dirty="0">
                <a:latin typeface=""/>
              </a:rPr>
              <a:t>stack</a:t>
            </a:r>
            <a:endParaRPr kumimoji="1" lang="zh-CN" altLang="en-US" dirty="0">
              <a:latin typeface=""/>
            </a:endParaRPr>
          </a:p>
        </p:txBody>
      </p:sp>
      <p:sp>
        <p:nvSpPr>
          <p:cNvPr id="7" name="矩形 6">
            <a:extLst>
              <a:ext uri="{FF2B5EF4-FFF2-40B4-BE49-F238E27FC236}">
                <a16:creationId xmlns:a16="http://schemas.microsoft.com/office/drawing/2014/main" id="{586A6C5C-C1AC-A9C2-10A9-BD8F3C3000FC}"/>
              </a:ext>
            </a:extLst>
          </p:cNvPr>
          <p:cNvSpPr/>
          <p:nvPr/>
        </p:nvSpPr>
        <p:spPr>
          <a:xfrm>
            <a:off x="9666739" y="3140868"/>
            <a:ext cx="1242164"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Caller</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8" name="矩形 7">
            <a:extLst>
              <a:ext uri="{FF2B5EF4-FFF2-40B4-BE49-F238E27FC236}">
                <a16:creationId xmlns:a16="http://schemas.microsoft.com/office/drawing/2014/main" id="{E59CD966-835D-C29E-72C4-1432F91C62D9}"/>
              </a:ext>
            </a:extLst>
          </p:cNvPr>
          <p:cNvSpPr/>
          <p:nvPr/>
        </p:nvSpPr>
        <p:spPr>
          <a:xfrm>
            <a:off x="9666738" y="4000954"/>
            <a:ext cx="1238837" cy="598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latin typeface="Consolas" panose="020B0609020204030204" pitchFamily="49" charset="0"/>
                <a:cs typeface="Consolas" panose="020B0609020204030204" pitchFamily="49" charset="0"/>
              </a:rPr>
              <a:t>Callee</a:t>
            </a:r>
          </a:p>
          <a:p>
            <a:pPr algn="ctr"/>
            <a:r>
              <a:rPr kumimoji="1" lang="en-US" altLang="zh-CN" sz="1600" dirty="0">
                <a:latin typeface="Consolas" panose="020B0609020204030204" pitchFamily="49" charset="0"/>
                <a:cs typeface="Consolas" panose="020B0609020204030204" pitchFamily="49" charset="0"/>
              </a:rPr>
              <a:t>registers</a:t>
            </a:r>
            <a:endParaRPr kumimoji="1" lang="zh-CN" altLang="en-US" sz="1600" dirty="0">
              <a:latin typeface="Consolas" panose="020B0609020204030204" pitchFamily="49" charset="0"/>
              <a:cs typeface="Consolas" panose="020B0609020204030204" pitchFamily="49" charset="0"/>
            </a:endParaRPr>
          </a:p>
        </p:txBody>
      </p:sp>
      <p:sp>
        <p:nvSpPr>
          <p:cNvPr id="9" name="文本框 8">
            <a:extLst>
              <a:ext uri="{FF2B5EF4-FFF2-40B4-BE49-F238E27FC236}">
                <a16:creationId xmlns:a16="http://schemas.microsoft.com/office/drawing/2014/main" id="{D4CF7280-95BC-862D-8022-4946EF1E192A}"/>
              </a:ext>
            </a:extLst>
          </p:cNvPr>
          <p:cNvSpPr txBox="1"/>
          <p:nvPr/>
        </p:nvSpPr>
        <p:spPr>
          <a:xfrm>
            <a:off x="8654331" y="2014368"/>
            <a:ext cx="1483098" cy="369332"/>
          </a:xfrm>
          <a:prstGeom prst="rect">
            <a:avLst/>
          </a:prstGeom>
          <a:noFill/>
        </p:spPr>
        <p:txBody>
          <a:bodyPr wrap="none" rtlCol="0">
            <a:spAutoFit/>
          </a:bodyPr>
          <a:lstStyle/>
          <a:p>
            <a:r>
              <a:rPr kumimoji="1" lang="en-US" altLang="zh-CN" dirty="0" err="1">
                <a:latin typeface="Consolas" panose="020B0609020204030204" pitchFamily="49" charset="0"/>
                <a:cs typeface="Consolas" panose="020B0609020204030204" pitchFamily="49" charset="0"/>
              </a:rPr>
              <a:t>Func</a:t>
            </a:r>
            <a:r>
              <a:rPr kumimoji="1" lang="zh-CN" altLang="en-US" dirty="0">
                <a:latin typeface="Consolas" panose="020B0609020204030204" pitchFamily="49" charset="0"/>
                <a:cs typeface="Consolas" panose="020B0609020204030204" pitchFamily="49" charset="0"/>
              </a:rPr>
              <a:t> </a:t>
            </a:r>
            <a:r>
              <a:rPr kumimoji="1" lang="en-US" altLang="zh-CN" dirty="0"/>
              <a:t>+</a:t>
            </a:r>
            <a:r>
              <a:rPr kumimoji="1" lang="zh-CN" altLang="en-US" dirty="0"/>
              <a:t> 参数</a:t>
            </a:r>
          </a:p>
        </p:txBody>
      </p:sp>
      <p:cxnSp>
        <p:nvCxnSpPr>
          <p:cNvPr id="10" name="直接连接符 79">
            <a:extLst>
              <a:ext uri="{FF2B5EF4-FFF2-40B4-BE49-F238E27FC236}">
                <a16:creationId xmlns:a16="http://schemas.microsoft.com/office/drawing/2014/main" id="{6F429605-7279-EC63-576A-95B6A16B8526}"/>
              </a:ext>
            </a:extLst>
          </p:cNvPr>
          <p:cNvCxnSpPr>
            <a:cxnSpLocks/>
          </p:cNvCxnSpPr>
          <p:nvPr/>
        </p:nvCxnSpPr>
        <p:spPr>
          <a:xfrm flipV="1">
            <a:off x="8557031" y="2439494"/>
            <a:ext cx="2291768" cy="15640"/>
          </a:xfrm>
          <a:prstGeom prst="line">
            <a:avLst/>
          </a:prstGeom>
          <a:ln w="38100"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0DD1B2FD-E6FD-56E7-6B08-67CF91867612}"/>
              </a:ext>
            </a:extLst>
          </p:cNvPr>
          <p:cNvSpPr txBox="1"/>
          <p:nvPr/>
        </p:nvSpPr>
        <p:spPr>
          <a:xfrm>
            <a:off x="638438" y="299762"/>
            <a:ext cx="4801314" cy="707886"/>
          </a:xfrm>
          <a:prstGeom prst="rect">
            <a:avLst/>
          </a:prstGeom>
          <a:noFill/>
        </p:spPr>
        <p:txBody>
          <a:bodyPr wrap="none" rtlCol="0">
            <a:spAutoFit/>
          </a:bodyPr>
          <a:lstStyle/>
          <a:p>
            <a:r>
              <a:rPr kumimoji="1" lang="zh-CN" altLang="en-US" sz="4000" b="1" dirty="0">
                <a:solidFill>
                  <a:schemeClr val="accent3"/>
                </a:solidFill>
              </a:rPr>
              <a:t>协程状态怎么存的？</a:t>
            </a:r>
            <a:endParaRPr kumimoji="1" lang="zh-CN" altLang="en-US" sz="2400" b="1" dirty="0">
              <a:solidFill>
                <a:schemeClr val="accent3"/>
              </a:solidFill>
            </a:endParaRPr>
          </a:p>
        </p:txBody>
      </p:sp>
      <p:cxnSp>
        <p:nvCxnSpPr>
          <p:cNvPr id="12" name="直接连接符 79">
            <a:extLst>
              <a:ext uri="{FF2B5EF4-FFF2-40B4-BE49-F238E27FC236}">
                <a16:creationId xmlns:a16="http://schemas.microsoft.com/office/drawing/2014/main" id="{B02A5BA7-CBEA-8E05-14DB-8E68454D7183}"/>
              </a:ext>
            </a:extLst>
          </p:cNvPr>
          <p:cNvCxnSpPr>
            <a:cxnSpLocks/>
          </p:cNvCxnSpPr>
          <p:nvPr/>
        </p:nvCxnSpPr>
        <p:spPr>
          <a:xfrm>
            <a:off x="837191" y="1007648"/>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4D5AE755-DECB-D03D-1BCE-CDED674DECF6}"/>
              </a:ext>
            </a:extLst>
          </p:cNvPr>
          <p:cNvPicPr>
            <a:picLocks noChangeAspect="1"/>
          </p:cNvPicPr>
          <p:nvPr/>
        </p:nvPicPr>
        <p:blipFill>
          <a:blip r:embed="rId2"/>
          <a:stretch>
            <a:fillRect/>
          </a:stretch>
        </p:blipFill>
        <p:spPr>
          <a:xfrm>
            <a:off x="1184951" y="1200059"/>
            <a:ext cx="4911049" cy="2494639"/>
          </a:xfrm>
          <a:prstGeom prst="rect">
            <a:avLst/>
          </a:prstGeom>
        </p:spPr>
      </p:pic>
      <p:sp>
        <p:nvSpPr>
          <p:cNvPr id="16" name="文本框 15">
            <a:extLst>
              <a:ext uri="{FF2B5EF4-FFF2-40B4-BE49-F238E27FC236}">
                <a16:creationId xmlns:a16="http://schemas.microsoft.com/office/drawing/2014/main" id="{83C0473E-B968-5B2A-DAAC-87C4359E3764}"/>
              </a:ext>
            </a:extLst>
          </p:cNvPr>
          <p:cNvSpPr txBox="1"/>
          <p:nvPr/>
        </p:nvSpPr>
        <p:spPr>
          <a:xfrm>
            <a:off x="931986" y="3788442"/>
            <a:ext cx="6734906" cy="17088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dirty="0">
                <a:latin typeface="Consolas" panose="020B0609020204030204" pitchFamily="49" charset="0"/>
                <a:cs typeface="Consolas" panose="020B0609020204030204" pitchFamily="49" charset="0"/>
              </a:rPr>
              <a:t>*</a:t>
            </a:r>
            <a:r>
              <a:rPr kumimoji="1" lang="en-US" altLang="zh-CN" dirty="0">
                <a:latin typeface="Consolas" panose="020B0609020204030204" pitchFamily="49" charset="0"/>
                <a:cs typeface="Consolas" panose="020B0609020204030204" pitchFamily="49" charset="0"/>
              </a:rPr>
              <a:t>stack</a:t>
            </a:r>
            <a:r>
              <a:rPr kumimoji="1" lang="zh-CN" altLang="en-US" dirty="0">
                <a:latin typeface="Consolas" panose="020B0609020204030204" pitchFamily="49" charset="0"/>
                <a:cs typeface="Consolas" panose="020B0609020204030204" pitchFamily="49" charset="0"/>
              </a:rPr>
              <a:t>是一个指向一段堆区的指针（为了方便表示，右图的</a:t>
            </a:r>
            <a:r>
              <a:rPr kumimoji="1" lang="en-US" altLang="zh-CN" dirty="0">
                <a:latin typeface="Consolas" panose="020B0609020204030204" pitchFamily="49" charset="0"/>
                <a:cs typeface="Consolas" panose="020B0609020204030204" pitchFamily="49" charset="0"/>
              </a:rPr>
              <a:t>stack</a:t>
            </a:r>
            <a:r>
              <a:rPr kumimoji="1" lang="zh-CN" altLang="en-US" dirty="0">
                <a:latin typeface="Consolas" panose="020B0609020204030204" pitchFamily="49" charset="0"/>
                <a:cs typeface="Consolas" panose="020B0609020204030204" pitchFamily="49" charset="0"/>
              </a:rPr>
              <a:t>直接放在了</a:t>
            </a:r>
            <a:r>
              <a:rPr kumimoji="1" lang="en-US" altLang="zh-CN" dirty="0">
                <a:latin typeface="Consolas" panose="020B0609020204030204" pitchFamily="49" charset="0"/>
                <a:cs typeface="Consolas" panose="020B0609020204030204" pitchFamily="49" charset="0"/>
              </a:rPr>
              <a:t>context</a:t>
            </a:r>
            <a:r>
              <a:rPr kumimoji="1" lang="zh-CN" altLang="en-US" dirty="0">
                <a:latin typeface="Consolas" panose="020B0609020204030204" pitchFamily="49" charset="0"/>
                <a:cs typeface="Consolas" panose="020B0609020204030204" pitchFamily="49" charset="0"/>
              </a:rPr>
              <a:t>里）</a:t>
            </a:r>
            <a:endParaRPr kumimoji="1" lang="en-US" altLang="zh-CN" dirty="0">
              <a:latin typeface="Consolas" panose="020B0609020204030204" pitchFamily="49" charset="0"/>
              <a:cs typeface="Consolas" panose="020B0609020204030204" pitchFamily="49" charset="0"/>
            </a:endParaRPr>
          </a:p>
          <a:p>
            <a:pPr marL="285750" indent="-285750">
              <a:lnSpc>
                <a:spcPct val="150000"/>
              </a:lnSpc>
              <a:buFont typeface="Arial" panose="020B0604020202020204" pitchFamily="34" charset="0"/>
              <a:buChar char="•"/>
            </a:pPr>
            <a:r>
              <a:rPr kumimoji="1" lang="en-US" altLang="zh-CN" dirty="0" err="1">
                <a:latin typeface="Consolas" panose="020B0609020204030204" pitchFamily="49" charset="0"/>
                <a:cs typeface="Consolas" panose="020B0609020204030204" pitchFamily="49" charset="0"/>
              </a:rPr>
              <a:t>Caller_registers</a:t>
            </a:r>
            <a:r>
              <a:rPr kumimoji="1" lang="zh-CN" altLang="en-US" dirty="0">
                <a:latin typeface="Consolas" panose="020B0609020204030204" pitchFamily="49" charset="0"/>
                <a:cs typeface="Consolas" panose="020B0609020204030204" pitchFamily="49" charset="0"/>
              </a:rPr>
              <a:t>是</a:t>
            </a:r>
            <a:r>
              <a:rPr kumimoji="1" lang="zh-CN" altLang="en-US" dirty="0">
                <a:solidFill>
                  <a:srgbClr val="FF0000"/>
                </a:solidFill>
                <a:latin typeface="Consolas" panose="020B0609020204030204" pitchFamily="49" charset="0"/>
                <a:cs typeface="Consolas" panose="020B0609020204030204" pitchFamily="49" charset="0"/>
              </a:rPr>
              <a:t>调用者（调度器）</a:t>
            </a:r>
            <a:r>
              <a:rPr kumimoji="1" lang="zh-CN" altLang="en-US" dirty="0">
                <a:latin typeface="Consolas" panose="020B0609020204030204" pitchFamily="49" charset="0"/>
                <a:cs typeface="Consolas" panose="020B0609020204030204" pitchFamily="49" charset="0"/>
              </a:rPr>
              <a:t>的寄存器值暂存区</a:t>
            </a:r>
            <a:endParaRPr kumimoji="1" lang="en-US" altLang="zh-CN" dirty="0">
              <a:latin typeface="Consolas" panose="020B0609020204030204" pitchFamily="49" charset="0"/>
              <a:cs typeface="Consolas" panose="020B0609020204030204" pitchFamily="49" charset="0"/>
            </a:endParaRPr>
          </a:p>
          <a:p>
            <a:pPr marL="285750" indent="-285750">
              <a:lnSpc>
                <a:spcPct val="150000"/>
              </a:lnSpc>
              <a:buFont typeface="Arial" panose="020B0604020202020204" pitchFamily="34" charset="0"/>
              <a:buChar char="•"/>
            </a:pPr>
            <a:r>
              <a:rPr kumimoji="1" lang="en-US" altLang="zh-CN" dirty="0" err="1">
                <a:latin typeface="Consolas" panose="020B0609020204030204" pitchFamily="49" charset="0"/>
                <a:cs typeface="Consolas" panose="020B0609020204030204" pitchFamily="49" charset="0"/>
              </a:rPr>
              <a:t>Callee_registers</a:t>
            </a:r>
            <a:r>
              <a:rPr kumimoji="1" lang="zh-CN" altLang="en-US" dirty="0">
                <a:latin typeface="Consolas" panose="020B0609020204030204" pitchFamily="49" charset="0"/>
                <a:cs typeface="Consolas" panose="020B0609020204030204" pitchFamily="49" charset="0"/>
              </a:rPr>
              <a:t>是</a:t>
            </a:r>
            <a:r>
              <a:rPr kumimoji="1" lang="zh-CN" altLang="en-US" dirty="0">
                <a:solidFill>
                  <a:srgbClr val="FF0000"/>
                </a:solidFill>
                <a:latin typeface="Consolas" panose="020B0609020204030204" pitchFamily="49" charset="0"/>
                <a:cs typeface="Consolas" panose="020B0609020204030204" pitchFamily="49" charset="0"/>
              </a:rPr>
              <a:t>被调者（当前协程）</a:t>
            </a:r>
            <a:r>
              <a:rPr kumimoji="1" lang="zh-CN" altLang="en-US" dirty="0">
                <a:latin typeface="Consolas" panose="020B0609020204030204" pitchFamily="49" charset="0"/>
                <a:cs typeface="Consolas" panose="020B0609020204030204" pitchFamily="49" charset="0"/>
              </a:rPr>
              <a:t>的寄存器值暂存区</a:t>
            </a:r>
          </a:p>
        </p:txBody>
      </p:sp>
      <p:sp>
        <p:nvSpPr>
          <p:cNvPr id="17" name="文本框 16">
            <a:extLst>
              <a:ext uri="{FF2B5EF4-FFF2-40B4-BE49-F238E27FC236}">
                <a16:creationId xmlns:a16="http://schemas.microsoft.com/office/drawing/2014/main" id="{C25533C5-81F6-51B6-2FC1-5E9745E41FB9}"/>
              </a:ext>
            </a:extLst>
          </p:cNvPr>
          <p:cNvSpPr txBox="1"/>
          <p:nvPr/>
        </p:nvSpPr>
        <p:spPr>
          <a:xfrm>
            <a:off x="931986" y="5856750"/>
            <a:ext cx="10689145" cy="369332"/>
          </a:xfrm>
          <a:prstGeom prst="rect">
            <a:avLst/>
          </a:prstGeom>
          <a:noFill/>
          <a:ln w="38100">
            <a:solidFill>
              <a:schemeClr val="tx1"/>
            </a:solidFill>
          </a:ln>
        </p:spPr>
        <p:txBody>
          <a:bodyPr wrap="none" rtlCol="0">
            <a:spAutoFit/>
          </a:bodyPr>
          <a:lstStyle/>
          <a:p>
            <a:r>
              <a:rPr kumimoji="1" lang="zh-CN" altLang="en-US" dirty="0"/>
              <a:t>注：这里的</a:t>
            </a:r>
            <a:r>
              <a:rPr kumimoji="1" lang="en-US" altLang="zh-CN" dirty="0" err="1"/>
              <a:t>callxx_registers</a:t>
            </a:r>
            <a:r>
              <a:rPr kumimoji="1" lang="zh-CN" altLang="en-US" dirty="0"/>
              <a:t>并不是真的寄存器，而是每个单元格是</a:t>
            </a:r>
            <a:r>
              <a:rPr kumimoji="1" lang="en-US" altLang="zh-CN" dirty="0"/>
              <a:t>64</a:t>
            </a:r>
            <a:r>
              <a:rPr kumimoji="1" lang="zh-CN" altLang="en-US" dirty="0"/>
              <a:t>位的数组，只作为值的暂存区。</a:t>
            </a:r>
          </a:p>
        </p:txBody>
      </p:sp>
    </p:spTree>
    <p:extLst>
      <p:ext uri="{BB962C8B-B14F-4D97-AF65-F5344CB8AC3E}">
        <p14:creationId xmlns:p14="http://schemas.microsoft.com/office/powerpoint/2010/main" val="144040488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5711820" cy="584775"/>
          </a:xfrm>
          <a:prstGeom prst="rect">
            <a:avLst/>
          </a:prstGeom>
          <a:noFill/>
        </p:spPr>
        <p:txBody>
          <a:bodyPr wrap="none" rtlCol="0">
            <a:spAutoFit/>
          </a:bodyPr>
          <a:lstStyle/>
          <a:p>
            <a:r>
              <a:rPr kumimoji="1" lang="en-US" altLang="zh-CN" sz="3200" b="1" dirty="0">
                <a:solidFill>
                  <a:schemeClr val="accent3"/>
                </a:solidFill>
              </a:rPr>
              <a:t>Task</a:t>
            </a:r>
            <a:r>
              <a:rPr kumimoji="1" lang="zh-CN" altLang="en-US" sz="3200" b="1" dirty="0">
                <a:solidFill>
                  <a:schemeClr val="accent3"/>
                </a:solidFill>
              </a:rPr>
              <a:t> </a:t>
            </a:r>
            <a:r>
              <a:rPr kumimoji="1" lang="en-US" altLang="zh-CN" sz="3200" b="1" dirty="0">
                <a:solidFill>
                  <a:schemeClr val="accent3"/>
                </a:solidFill>
              </a:rPr>
              <a:t>1</a:t>
            </a:r>
            <a:r>
              <a:rPr kumimoji="1" lang="zh-CN" altLang="en-US" sz="3200" b="1" dirty="0">
                <a:solidFill>
                  <a:schemeClr val="accent3"/>
                </a:solidFill>
              </a:rPr>
              <a:t>  </a:t>
            </a:r>
            <a:r>
              <a:rPr kumimoji="1" lang="en-US" altLang="zh-CN" sz="3200" b="1" dirty="0">
                <a:solidFill>
                  <a:schemeClr val="accent3"/>
                </a:solidFill>
              </a:rPr>
              <a:t>:</a:t>
            </a:r>
            <a:r>
              <a:rPr kumimoji="1" lang="zh-CN" altLang="en-US" sz="3200" b="1" dirty="0">
                <a:solidFill>
                  <a:schemeClr val="accent3"/>
                </a:solidFill>
              </a:rPr>
              <a:t>  完善协程库（</a:t>
            </a:r>
            <a:r>
              <a:rPr kumimoji="1" lang="en-US" altLang="zh-CN" sz="3200" b="1" dirty="0">
                <a:solidFill>
                  <a:schemeClr val="accent3"/>
                </a:solidFill>
              </a:rPr>
              <a:t>65</a:t>
            </a:r>
            <a:r>
              <a:rPr kumimoji="1" lang="zh-CN" altLang="en-US" sz="3200" b="1" dirty="0">
                <a:solidFill>
                  <a:schemeClr val="accent3"/>
                </a:solidFill>
              </a:rPr>
              <a:t>分）</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F2B009C-D5B4-B82D-CF45-18232066273F}"/>
              </a:ext>
            </a:extLst>
          </p:cNvPr>
          <p:cNvSpPr txBox="1"/>
          <p:nvPr/>
        </p:nvSpPr>
        <p:spPr>
          <a:xfrm>
            <a:off x="662189" y="1497540"/>
            <a:ext cx="7662675" cy="1261884"/>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【1】</a:t>
            </a:r>
            <a:r>
              <a:rPr kumimoji="1" lang="zh-CN" altLang="en-US" sz="2400" dirty="0">
                <a:solidFill>
                  <a:schemeClr val="accent3"/>
                </a:solidFill>
                <a:latin typeface="Consolas" panose="020B0609020204030204" pitchFamily="49" charset="0"/>
                <a:cs typeface="Consolas" panose="020B0609020204030204" pitchFamily="49" charset="0"/>
              </a:rPr>
              <a:t>调度（</a:t>
            </a:r>
            <a:r>
              <a:rPr kumimoji="1" lang="en-US" altLang="zh-CN" sz="2400" dirty="0">
                <a:solidFill>
                  <a:schemeClr val="accent3"/>
                </a:solidFill>
                <a:latin typeface="Consolas" panose="020B0609020204030204" pitchFamily="49" charset="0"/>
                <a:cs typeface="Consolas" panose="020B0609020204030204" pitchFamily="49" charset="0"/>
              </a:rPr>
              <a:t>15</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en-US" altLang="zh-CN" sz="2400" dirty="0">
              <a:solidFill>
                <a:schemeClr val="accent3"/>
              </a:solidFill>
              <a:latin typeface="Consolas" panose="020B0609020204030204" pitchFamily="49" charset="0"/>
              <a:cs typeface="Consolas" panose="020B0609020204030204" pitchFamily="49" charset="0"/>
            </a:endParaRPr>
          </a:p>
          <a:p>
            <a:r>
              <a:rPr kumimoji="1" lang="zh-CN" altLang="en-US" sz="2400" dirty="0">
                <a:solidFill>
                  <a:schemeClr val="accent3"/>
                </a:solidFill>
                <a:latin typeface="Consolas" panose="020B0609020204030204" pitchFamily="49" charset="0"/>
                <a:cs typeface="Consolas" panose="020B0609020204030204" pitchFamily="49" charset="0"/>
              </a:rPr>
              <a:t>   </a:t>
            </a:r>
            <a:r>
              <a:rPr lang="en-US" altLang="zh-CN" sz="2000" dirty="0" err="1">
                <a:latin typeface="Consolas" panose="020B0609020204030204" pitchFamily="49" charset="0"/>
                <a:cs typeface="Consolas" panose="020B0609020204030204" pitchFamily="49" charset="0"/>
              </a:rPr>
              <a:t>coroutine_pool</a:t>
            </a:r>
            <a:r>
              <a:rPr lang="en-US" altLang="zh-CN" sz="2000" dirty="0">
                <a:latin typeface="Consolas" panose="020B0609020204030204" pitchFamily="49" charset="0"/>
                <a:cs typeface="Consolas" panose="020B0609020204030204" pitchFamily="49" charset="0"/>
              </a:rPr>
              <a:t>::</a:t>
            </a:r>
            <a:r>
              <a:rPr lang="en-US" altLang="zh-CN" sz="2000" dirty="0" err="1">
                <a:latin typeface="Consolas" panose="020B0609020204030204" pitchFamily="49" charset="0"/>
                <a:cs typeface="Consolas" panose="020B0609020204030204" pitchFamily="49" charset="0"/>
              </a:rPr>
              <a:t>serial_execute_all</a:t>
            </a:r>
            <a:endParaRPr kumimoji="1" lang="en-US" altLang="zh-CN" sz="2400" b="1" dirty="0">
              <a:solidFill>
                <a:schemeClr val="accent3"/>
              </a:solidFill>
              <a:latin typeface="Consolas" panose="020B0609020204030204" pitchFamily="49" charset="0"/>
              <a:cs typeface="Consolas" panose="020B0609020204030204" pitchFamily="49" charset="0"/>
            </a:endParaRPr>
          </a:p>
          <a:p>
            <a:r>
              <a:rPr kumimoji="1" lang="zh-CN" altLang="en-US" sz="2800" b="1" dirty="0">
                <a:solidFill>
                  <a:schemeClr val="accent3"/>
                </a:solidFill>
                <a:latin typeface="Consolas" panose="020B0609020204030204" pitchFamily="49" charset="0"/>
                <a:cs typeface="Consolas" panose="020B0609020204030204" pitchFamily="49" charset="0"/>
              </a:rPr>
              <a:t>   </a:t>
            </a:r>
            <a:r>
              <a:rPr kumimoji="1" lang="zh-CN" altLang="en-US" sz="2000" b="1" dirty="0"/>
              <a:t>选择一个协程开始执行 （完善并调用该协程的</a:t>
            </a:r>
            <a:r>
              <a:rPr kumimoji="1" lang="en-US" altLang="zh-CN" sz="2000" b="1" dirty="0"/>
              <a:t>resume</a:t>
            </a:r>
            <a:r>
              <a:rPr kumimoji="1" lang="zh-CN" altLang="en-US" sz="2000" b="1" dirty="0"/>
              <a:t>函数）</a:t>
            </a:r>
            <a:endParaRPr kumimoji="1" lang="zh-CN" altLang="en-US" sz="2800" b="1" dirty="0"/>
          </a:p>
        </p:txBody>
      </p:sp>
      <p:sp>
        <p:nvSpPr>
          <p:cNvPr id="6" name="文本框 5">
            <a:extLst>
              <a:ext uri="{FF2B5EF4-FFF2-40B4-BE49-F238E27FC236}">
                <a16:creationId xmlns:a16="http://schemas.microsoft.com/office/drawing/2014/main" id="{E63B89AF-833D-2D5C-5806-CF0F5FB143FD}"/>
              </a:ext>
            </a:extLst>
          </p:cNvPr>
          <p:cNvSpPr txBox="1"/>
          <p:nvPr/>
        </p:nvSpPr>
        <p:spPr>
          <a:xfrm>
            <a:off x="662189" y="2828835"/>
            <a:ext cx="5865708" cy="1200329"/>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a:t>
            </a:r>
            <a:r>
              <a:rPr kumimoji="1" lang="en-US" altLang="zh-CN" sz="2400">
                <a:solidFill>
                  <a:schemeClr val="accent3"/>
                </a:solidFill>
                <a:latin typeface="Consolas" panose="020B0609020204030204" pitchFamily="49" charset="0"/>
                <a:cs typeface="Consolas" panose="020B0609020204030204" pitchFamily="49" charset="0"/>
              </a:rPr>
              <a:t>2】swap</a:t>
            </a:r>
            <a:r>
              <a:rPr kumimoji="1" lang="zh-CN" altLang="en-US" sz="2400">
                <a:solidFill>
                  <a:schemeClr val="accent3"/>
                </a:solidFill>
                <a:latin typeface="Consolas" panose="020B0609020204030204" pitchFamily="49" charset="0"/>
                <a:cs typeface="Consolas" panose="020B0609020204030204" pitchFamily="49" charset="0"/>
              </a:rPr>
              <a:t>（</a:t>
            </a:r>
            <a:r>
              <a:rPr kumimoji="1" lang="en-US" altLang="zh-CN" sz="2400" dirty="0">
                <a:solidFill>
                  <a:schemeClr val="accent3"/>
                </a:solidFill>
                <a:latin typeface="Consolas" panose="020B0609020204030204" pitchFamily="49" charset="0"/>
                <a:cs typeface="Consolas" panose="020B0609020204030204" pitchFamily="49" charset="0"/>
              </a:rPr>
              <a:t>20</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en-US" altLang="zh-CN" sz="2400" dirty="0">
              <a:solidFill>
                <a:schemeClr val="accent3"/>
              </a:solidFill>
              <a:latin typeface="Consolas" panose="020B0609020204030204" pitchFamily="49" charset="0"/>
              <a:cs typeface="Consolas" panose="020B0609020204030204" pitchFamily="49" charset="0"/>
            </a:endParaRPr>
          </a:p>
          <a:p>
            <a:r>
              <a:rPr kumimoji="1" lang="zh-CN" altLang="en-US" sz="2000" dirty="0">
                <a:latin typeface="Consolas" panose="020B0609020204030204" pitchFamily="49" charset="0"/>
                <a:cs typeface="Consolas" panose="020B0609020204030204" pitchFamily="49" charset="0"/>
              </a:rPr>
              <a:t>    </a:t>
            </a:r>
            <a:r>
              <a:rPr kumimoji="1" lang="en-US" altLang="zh-CN" sz="2000" dirty="0" err="1">
                <a:latin typeface="Consolas" panose="020B0609020204030204" pitchFamily="49" charset="0"/>
                <a:cs typeface="Consolas" panose="020B0609020204030204" pitchFamily="49" charset="0"/>
              </a:rPr>
              <a:t>context.S</a:t>
            </a:r>
            <a:r>
              <a:rPr kumimoji="1" lang="zh-CN" altLang="en-US" sz="2000" dirty="0">
                <a:latin typeface="Consolas" panose="020B0609020204030204" pitchFamily="49" charset="0"/>
                <a:cs typeface="Consolas" panose="020B0609020204030204" pitchFamily="49" charset="0"/>
              </a:rPr>
              <a:t>中编写汇编代码，实现上下文切换</a:t>
            </a:r>
            <a:endParaRPr kumimoji="1" lang="en-US" altLang="zh-CN" sz="2000" dirty="0">
              <a:latin typeface="Consolas" panose="020B0609020204030204" pitchFamily="49" charset="0"/>
              <a:cs typeface="Consolas" panose="020B0609020204030204" pitchFamily="49" charset="0"/>
            </a:endParaRPr>
          </a:p>
          <a:p>
            <a:pPr marL="457200" indent="-457200">
              <a:buFont typeface="Arial" panose="020B0604020202020204" pitchFamily="34" charset="0"/>
              <a:buChar char="•"/>
            </a:pPr>
            <a:endParaRPr kumimoji="1" lang="zh-CN" altLang="en-US" sz="2800" b="1" dirty="0"/>
          </a:p>
        </p:txBody>
      </p:sp>
      <p:sp>
        <p:nvSpPr>
          <p:cNvPr id="7" name="文本框 6">
            <a:extLst>
              <a:ext uri="{FF2B5EF4-FFF2-40B4-BE49-F238E27FC236}">
                <a16:creationId xmlns:a16="http://schemas.microsoft.com/office/drawing/2014/main" id="{E37D34CA-3CAD-AF2A-B027-13F4E7916A02}"/>
              </a:ext>
            </a:extLst>
          </p:cNvPr>
          <p:cNvSpPr txBox="1"/>
          <p:nvPr/>
        </p:nvSpPr>
        <p:spPr>
          <a:xfrm>
            <a:off x="662189" y="3743978"/>
            <a:ext cx="6058069" cy="1200329"/>
          </a:xfrm>
          <a:prstGeom prst="rect">
            <a:avLst/>
          </a:prstGeom>
          <a:noFill/>
        </p:spPr>
        <p:txBody>
          <a:bodyPr wrap="none" rtlCol="0">
            <a:spAutoFit/>
          </a:bodyPr>
          <a:lstStyle/>
          <a:p>
            <a:pPr marL="457200" indent="-457200">
              <a:buFont typeface="Arial" panose="020B0604020202020204" pitchFamily="34" charset="0"/>
              <a:buChar char="•"/>
            </a:pPr>
            <a:r>
              <a:rPr kumimoji="1" lang="en-US" altLang="zh-CN" sz="2400" dirty="0">
                <a:solidFill>
                  <a:schemeClr val="accent3"/>
                </a:solidFill>
                <a:latin typeface="Consolas" panose="020B0609020204030204" pitchFamily="49" charset="0"/>
                <a:cs typeface="Consolas" panose="020B0609020204030204" pitchFamily="49" charset="0"/>
              </a:rPr>
              <a:t>【3】</a:t>
            </a:r>
            <a:r>
              <a:rPr kumimoji="1" lang="zh-CN" altLang="en-US" sz="2400" dirty="0">
                <a:solidFill>
                  <a:schemeClr val="accent3"/>
                </a:solidFill>
                <a:latin typeface="Consolas" panose="020B0609020204030204" pitchFamily="49" charset="0"/>
                <a:cs typeface="Consolas" panose="020B0609020204030204" pitchFamily="49" charset="0"/>
              </a:rPr>
              <a:t>主动切出（</a:t>
            </a:r>
            <a:r>
              <a:rPr kumimoji="1" lang="en-US" altLang="zh-CN" sz="2400" dirty="0">
                <a:solidFill>
                  <a:schemeClr val="accent3"/>
                </a:solidFill>
                <a:latin typeface="Consolas" panose="020B0609020204030204" pitchFamily="49" charset="0"/>
                <a:cs typeface="Consolas" panose="020B0609020204030204" pitchFamily="49" charset="0"/>
              </a:rPr>
              <a:t>10</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en-US" altLang="zh-CN" sz="2400" dirty="0">
              <a:solidFill>
                <a:schemeClr val="accent3"/>
              </a:solidFill>
              <a:latin typeface="Consolas" panose="020B0609020204030204" pitchFamily="49" charset="0"/>
              <a:cs typeface="Consolas" panose="020B0609020204030204" pitchFamily="49" charset="0"/>
            </a:endParaRPr>
          </a:p>
          <a:p>
            <a:r>
              <a:rPr kumimoji="1" lang="zh-CN" altLang="en-US" sz="2000" dirty="0">
                <a:latin typeface="Consolas" panose="020B0609020204030204" pitchFamily="49" charset="0"/>
                <a:cs typeface="Consolas" panose="020B0609020204030204" pitchFamily="49" charset="0"/>
              </a:rPr>
              <a:t>    </a:t>
            </a:r>
            <a:r>
              <a:rPr kumimoji="1" lang="en-US" altLang="zh-CN" sz="2000" dirty="0" err="1">
                <a:latin typeface="Consolas" panose="020B0609020204030204" pitchFamily="49" charset="0"/>
                <a:cs typeface="Consolas" panose="020B0609020204030204" pitchFamily="49" charset="0"/>
              </a:rPr>
              <a:t>common.h</a:t>
            </a:r>
            <a:r>
              <a:rPr kumimoji="1" lang="zh-CN" altLang="en-US" sz="2000" dirty="0">
                <a:latin typeface="Consolas" panose="020B0609020204030204" pitchFamily="49" charset="0"/>
                <a:cs typeface="Consolas" panose="020B0609020204030204" pitchFamily="49" charset="0"/>
              </a:rPr>
              <a:t> 完成</a:t>
            </a:r>
            <a:r>
              <a:rPr kumimoji="1" lang="en-US" altLang="zh-CN" sz="2000" dirty="0">
                <a:latin typeface="Consolas" panose="020B0609020204030204" pitchFamily="49" charset="0"/>
                <a:cs typeface="Consolas" panose="020B0609020204030204" pitchFamily="49" charset="0"/>
              </a:rPr>
              <a:t>yield</a:t>
            </a:r>
            <a:r>
              <a:rPr kumimoji="1" lang="zh-CN" altLang="en-US" sz="2000" dirty="0">
                <a:latin typeface="Consolas" panose="020B0609020204030204" pitchFamily="49" charset="0"/>
                <a:cs typeface="Consolas" panose="020B0609020204030204" pitchFamily="49" charset="0"/>
              </a:rPr>
              <a:t>函数，实现当前协程切出</a:t>
            </a:r>
            <a:endParaRPr kumimoji="1" lang="en-US" altLang="zh-CN" sz="2000" dirty="0">
              <a:latin typeface="Consolas" panose="020B0609020204030204" pitchFamily="49" charset="0"/>
              <a:cs typeface="Consolas" panose="020B0609020204030204" pitchFamily="49" charset="0"/>
            </a:endParaRPr>
          </a:p>
          <a:p>
            <a:pPr marL="457200" indent="-457200">
              <a:buFont typeface="Arial" panose="020B0604020202020204" pitchFamily="34" charset="0"/>
              <a:buChar char="•"/>
            </a:pPr>
            <a:endParaRPr kumimoji="1" lang="zh-CN" altLang="en-US" sz="2800" b="1" dirty="0"/>
          </a:p>
        </p:txBody>
      </p:sp>
      <p:sp>
        <p:nvSpPr>
          <p:cNvPr id="8" name="文本框 7">
            <a:extLst>
              <a:ext uri="{FF2B5EF4-FFF2-40B4-BE49-F238E27FC236}">
                <a16:creationId xmlns:a16="http://schemas.microsoft.com/office/drawing/2014/main" id="{D56421D1-0F87-C489-FA23-7718B760998F}"/>
              </a:ext>
            </a:extLst>
          </p:cNvPr>
          <p:cNvSpPr txBox="1"/>
          <p:nvPr/>
        </p:nvSpPr>
        <p:spPr>
          <a:xfrm>
            <a:off x="8336090" y="1559095"/>
            <a:ext cx="1447832" cy="1200329"/>
          </a:xfrm>
          <a:prstGeom prst="rect">
            <a:avLst/>
          </a:prstGeom>
          <a:noFill/>
        </p:spPr>
        <p:txBody>
          <a:bodyPr wrap="none" rtlCol="0">
            <a:spAutoFit/>
          </a:bodyPr>
          <a:lstStyle/>
          <a:p>
            <a:r>
              <a:rPr kumimoji="1" lang="zh-CN" altLang="en-US" dirty="0"/>
              <a:t>完成后运行</a:t>
            </a:r>
            <a:endParaRPr kumimoji="1" lang="en-US" altLang="zh-CN" dirty="0"/>
          </a:p>
          <a:p>
            <a:r>
              <a:rPr kumimoji="1" lang="en-US" altLang="zh-CN" dirty="0"/>
              <a:t>bin/sample</a:t>
            </a:r>
          </a:p>
          <a:p>
            <a:endParaRPr kumimoji="1" lang="en-US" altLang="zh-CN" dirty="0"/>
          </a:p>
          <a:p>
            <a:r>
              <a:rPr kumimoji="1" lang="zh-CN" altLang="en-US" dirty="0"/>
              <a:t>期望输出：</a:t>
            </a:r>
            <a:endParaRPr kumimoji="1" lang="en-US" altLang="zh-CN" dirty="0"/>
          </a:p>
        </p:txBody>
      </p:sp>
      <p:pic>
        <p:nvPicPr>
          <p:cNvPr id="9" name="图片 8">
            <a:extLst>
              <a:ext uri="{FF2B5EF4-FFF2-40B4-BE49-F238E27FC236}">
                <a16:creationId xmlns:a16="http://schemas.microsoft.com/office/drawing/2014/main" id="{9E76D42E-8FE0-D60A-687E-FCFCA210F53E}"/>
              </a:ext>
            </a:extLst>
          </p:cNvPr>
          <p:cNvPicPr>
            <a:picLocks noChangeAspect="1"/>
          </p:cNvPicPr>
          <p:nvPr/>
        </p:nvPicPr>
        <p:blipFill>
          <a:blip r:embed="rId2"/>
          <a:stretch>
            <a:fillRect/>
          </a:stretch>
        </p:blipFill>
        <p:spPr>
          <a:xfrm>
            <a:off x="9956903" y="1714080"/>
            <a:ext cx="1572908" cy="4684027"/>
          </a:xfrm>
          <a:prstGeom prst="rect">
            <a:avLst/>
          </a:prstGeom>
          <a:ln>
            <a:solidFill>
              <a:schemeClr val="tx1"/>
            </a:solidFill>
          </a:ln>
        </p:spPr>
      </p:pic>
      <p:sp>
        <p:nvSpPr>
          <p:cNvPr id="12" name="文本框 11">
            <a:extLst>
              <a:ext uri="{FF2B5EF4-FFF2-40B4-BE49-F238E27FC236}">
                <a16:creationId xmlns:a16="http://schemas.microsoft.com/office/drawing/2014/main" id="{9945EF1B-26B7-C197-BD63-896E215FF70C}"/>
              </a:ext>
            </a:extLst>
          </p:cNvPr>
          <p:cNvSpPr txBox="1"/>
          <p:nvPr/>
        </p:nvSpPr>
        <p:spPr>
          <a:xfrm>
            <a:off x="662189" y="5013718"/>
            <a:ext cx="8853952" cy="1437958"/>
          </a:xfrm>
          <a:prstGeom prst="rect">
            <a:avLst/>
          </a:prstGeom>
          <a:noFill/>
          <a:ln>
            <a:solidFill>
              <a:schemeClr val="tx1"/>
            </a:solidFill>
          </a:ln>
        </p:spPr>
        <p:txBody>
          <a:bodyPr wrap="square" rtlCol="0">
            <a:spAutoFit/>
          </a:bodyPr>
          <a:lstStyle/>
          <a:p>
            <a:r>
              <a:rPr kumimoji="1" lang="zh-CN" altLang="en-US" b="1" dirty="0"/>
              <a:t>实验报告额外要求（</a:t>
            </a:r>
            <a:r>
              <a:rPr kumimoji="1" lang="en-US" altLang="zh-CN" b="1" dirty="0"/>
              <a:t>20</a:t>
            </a:r>
            <a:r>
              <a:rPr kumimoji="1" lang="zh-CN" altLang="en-US" b="1" dirty="0"/>
              <a:t>分）：</a:t>
            </a:r>
            <a:endParaRPr kumimoji="1" lang="en-US" altLang="zh-CN" b="1" dirty="0"/>
          </a:p>
          <a:p>
            <a:pPr marL="342900" indent="-342900">
              <a:lnSpc>
                <a:spcPct val="150000"/>
              </a:lnSpc>
              <a:buAutoNum type="arabicPeriod"/>
            </a:pPr>
            <a:r>
              <a:rPr kumimoji="1" lang="zh-CN" altLang="en-US" sz="1600" dirty="0"/>
              <a:t>绘制协程切换时，栈的变化过程</a:t>
            </a:r>
            <a:endParaRPr kumimoji="1" lang="en-US" altLang="zh-CN" sz="1600" dirty="0"/>
          </a:p>
          <a:p>
            <a:pPr marL="342900" indent="-342900">
              <a:lnSpc>
                <a:spcPct val="150000"/>
              </a:lnSpc>
              <a:buAutoNum type="arabicPeriod"/>
            </a:pPr>
            <a:r>
              <a:rPr kumimoji="1" lang="zh-CN" altLang="en-US" sz="1600" dirty="0"/>
              <a:t>分析源代码，解释协程是如何跑起来的，</a:t>
            </a:r>
            <a:r>
              <a:rPr lang="zh-CN" altLang="en-US" sz="1600" b="0" i="0" u="none" strike="noStrike" dirty="0">
                <a:solidFill>
                  <a:srgbClr val="000000"/>
                </a:solidFill>
                <a:effectLst/>
                <a:latin typeface="-webkit-standard"/>
              </a:rPr>
              <a:t>包括 </a:t>
            </a:r>
            <a:r>
              <a:rPr lang="en" altLang="zh-CN" sz="1600" dirty="0" err="1"/>
              <a:t>coroutine_entry</a:t>
            </a:r>
            <a:r>
              <a:rPr lang="en" altLang="zh-CN" sz="1600" b="0" i="0" u="none" strike="noStrike" dirty="0">
                <a:solidFill>
                  <a:srgbClr val="000000"/>
                </a:solidFill>
                <a:effectLst/>
                <a:latin typeface="-webkit-standard"/>
              </a:rPr>
              <a:t> </a:t>
            </a:r>
            <a:r>
              <a:rPr lang="zh-CN" altLang="en-US" sz="1600" b="0" i="0" u="none" strike="noStrike" dirty="0">
                <a:solidFill>
                  <a:srgbClr val="000000"/>
                </a:solidFill>
                <a:effectLst/>
                <a:latin typeface="-webkit-standard"/>
              </a:rPr>
              <a:t>和 </a:t>
            </a:r>
            <a:r>
              <a:rPr lang="en" altLang="zh-CN" sz="1600" dirty="0" err="1"/>
              <a:t>coroutine_main</a:t>
            </a:r>
            <a:r>
              <a:rPr lang="en" altLang="zh-CN" sz="1600" b="0" i="0" u="none" strike="noStrike" dirty="0">
                <a:solidFill>
                  <a:srgbClr val="000000"/>
                </a:solidFill>
                <a:effectLst/>
                <a:latin typeface="-webkit-standard"/>
              </a:rPr>
              <a:t> </a:t>
            </a:r>
            <a:r>
              <a:rPr lang="zh-CN" altLang="en-US" sz="1600" b="0" i="0" u="none" strike="noStrike" dirty="0">
                <a:solidFill>
                  <a:srgbClr val="000000"/>
                </a:solidFill>
                <a:effectLst/>
                <a:latin typeface="-webkit-standard"/>
              </a:rPr>
              <a:t>函数以及初始的协程状态；</a:t>
            </a:r>
            <a:endParaRPr lang="en-US" altLang="zh-CN" sz="1600" b="0" i="0" u="none" strike="noStrike" dirty="0">
              <a:solidFill>
                <a:srgbClr val="000000"/>
              </a:solidFill>
              <a:effectLst/>
              <a:latin typeface="-webkit-standard"/>
            </a:endParaRPr>
          </a:p>
        </p:txBody>
      </p:sp>
    </p:spTree>
    <p:extLst>
      <p:ext uri="{BB962C8B-B14F-4D97-AF65-F5344CB8AC3E}">
        <p14:creationId xmlns:p14="http://schemas.microsoft.com/office/powerpoint/2010/main" val="842207991"/>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51356" y="511217"/>
            <a:ext cx="2214068" cy="584775"/>
          </a:xfrm>
          <a:prstGeom prst="rect">
            <a:avLst/>
          </a:prstGeom>
          <a:noFill/>
        </p:spPr>
        <p:txBody>
          <a:bodyPr wrap="none" rtlCol="0">
            <a:spAutoFit/>
          </a:bodyPr>
          <a:lstStyle/>
          <a:p>
            <a:r>
              <a:rPr kumimoji="1" lang="en-US" altLang="zh-CN" sz="3200" b="1" dirty="0">
                <a:solidFill>
                  <a:schemeClr val="accent3"/>
                </a:solidFill>
              </a:rPr>
              <a:t>Task1</a:t>
            </a:r>
            <a:r>
              <a:rPr kumimoji="1" lang="zh-CN" altLang="en-US" sz="3200" b="1" dirty="0">
                <a:solidFill>
                  <a:schemeClr val="accent3"/>
                </a:solidFill>
              </a:rPr>
              <a:t> 流程</a:t>
            </a:r>
            <a:endParaRPr kumimoji="1" lang="zh-CN" altLang="en-US" b="1" dirty="0">
              <a:solidFill>
                <a:schemeClr val="accent3"/>
              </a:solidFill>
            </a:endParaRPr>
          </a:p>
        </p:txBody>
      </p:sp>
      <p:cxnSp>
        <p:nvCxnSpPr>
          <p:cNvPr id="2" name="直接连接符 79">
            <a:extLst>
              <a:ext uri="{FF2B5EF4-FFF2-40B4-BE49-F238E27FC236}">
                <a16:creationId xmlns:a16="http://schemas.microsoft.com/office/drawing/2014/main" id="{3D67B22D-151C-5EDC-3B68-30FA27BCA6E5}"/>
              </a:ext>
            </a:extLst>
          </p:cNvPr>
          <p:cNvCxnSpPr>
            <a:cxnSpLocks/>
          </p:cNvCxnSpPr>
          <p:nvPr/>
        </p:nvCxnSpPr>
        <p:spPr>
          <a:xfrm>
            <a:off x="677052" y="1084358"/>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0" name="圆角矩形 9">
            <a:extLst>
              <a:ext uri="{FF2B5EF4-FFF2-40B4-BE49-F238E27FC236}">
                <a16:creationId xmlns:a16="http://schemas.microsoft.com/office/drawing/2014/main" id="{12C6B63F-1617-106B-42D0-6BD63FCF0AA2}"/>
              </a:ext>
            </a:extLst>
          </p:cNvPr>
          <p:cNvSpPr/>
          <p:nvPr/>
        </p:nvSpPr>
        <p:spPr>
          <a:xfrm>
            <a:off x="677051" y="1349297"/>
            <a:ext cx="2501047" cy="93670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err="1">
                <a:solidFill>
                  <a:schemeClr val="accent5"/>
                </a:solidFill>
                <a:latin typeface="Consolas" panose="020B0609020204030204" pitchFamily="49" charset="0"/>
                <a:cs typeface="Consolas" panose="020B0609020204030204" pitchFamily="49" charset="0"/>
              </a:rPr>
              <a:t>Sample.cpp</a:t>
            </a:r>
            <a:endParaRPr kumimoji="1" lang="en-US" altLang="zh-CN" b="1" dirty="0">
              <a:solidFill>
                <a:schemeClr val="accent5"/>
              </a:solidFill>
              <a:latin typeface="Consolas" panose="020B0609020204030204" pitchFamily="49" charset="0"/>
              <a:cs typeface="Consolas" panose="020B0609020204030204" pitchFamily="49" charset="0"/>
            </a:endParaRPr>
          </a:p>
          <a:p>
            <a:pPr algn="ctr"/>
            <a:r>
              <a:rPr kumimoji="1" lang="en-US" altLang="zh-CN" dirty="0">
                <a:solidFill>
                  <a:schemeClr val="tx1"/>
                </a:solidFill>
                <a:latin typeface="Consolas" panose="020B0609020204030204" pitchFamily="49" charset="0"/>
                <a:cs typeface="Consolas" panose="020B0609020204030204" pitchFamily="49" charset="0"/>
              </a:rPr>
              <a:t>1.</a:t>
            </a:r>
            <a:r>
              <a:rPr kumimoji="1" lang="zh-CN" altLang="en-US" dirty="0">
                <a:solidFill>
                  <a:schemeClr val="tx1"/>
                </a:solidFill>
                <a:latin typeface="Consolas" panose="020B0609020204030204" pitchFamily="49" charset="0"/>
                <a:cs typeface="Consolas" panose="020B0609020204030204" pitchFamily="49" charset="0"/>
              </a:rPr>
              <a:t> 定义调度器</a:t>
            </a:r>
            <a:endParaRPr kumimoji="1" lang="en-US" altLang="zh-CN" dirty="0">
              <a:solidFill>
                <a:schemeClr val="tx1"/>
              </a:solidFill>
              <a:latin typeface="Consolas" panose="020B0609020204030204" pitchFamily="49" charset="0"/>
              <a:cs typeface="Consolas" panose="020B0609020204030204" pitchFamily="49" charset="0"/>
            </a:endParaRPr>
          </a:p>
          <a:p>
            <a:pPr algn="ctr"/>
            <a:r>
              <a:rPr kumimoji="1" lang="en-US" altLang="zh-CN" dirty="0">
                <a:solidFill>
                  <a:schemeClr val="tx1"/>
                </a:solidFill>
                <a:latin typeface="Consolas" panose="020B0609020204030204" pitchFamily="49" charset="0"/>
                <a:cs typeface="Consolas" panose="020B0609020204030204" pitchFamily="49" charset="0"/>
              </a:rPr>
              <a:t>2.</a:t>
            </a:r>
            <a:r>
              <a:rPr kumimoji="1" lang="zh-CN" altLang="en-US" dirty="0">
                <a:solidFill>
                  <a:schemeClr val="tx1"/>
                </a:solidFill>
                <a:latin typeface="Consolas" panose="020B0609020204030204" pitchFamily="49" charset="0"/>
                <a:cs typeface="Consolas" panose="020B0609020204030204" pitchFamily="49" charset="0"/>
              </a:rPr>
              <a:t> </a:t>
            </a:r>
            <a:r>
              <a:rPr kumimoji="1" lang="en-US" altLang="zh-CN" dirty="0">
                <a:solidFill>
                  <a:schemeClr val="tx1"/>
                </a:solidFill>
                <a:latin typeface="Consolas" panose="020B0609020204030204" pitchFamily="49" charset="0"/>
                <a:cs typeface="Consolas" panose="020B0609020204030204" pitchFamily="49" charset="0"/>
              </a:rPr>
              <a:t>Pool</a:t>
            </a:r>
            <a:r>
              <a:rPr kumimoji="1" lang="zh-CN" altLang="en-US" dirty="0">
                <a:solidFill>
                  <a:schemeClr val="tx1"/>
                </a:solidFill>
                <a:latin typeface="Consolas" panose="020B0609020204030204" pitchFamily="49" charset="0"/>
                <a:cs typeface="Consolas" panose="020B0609020204030204" pitchFamily="49" charset="0"/>
              </a:rPr>
              <a:t>注册函数</a:t>
            </a:r>
            <a:endParaRPr kumimoji="1" lang="en-US" altLang="zh-CN" dirty="0">
              <a:solidFill>
                <a:schemeClr val="tx1"/>
              </a:solidFill>
              <a:latin typeface="Consolas" panose="020B0609020204030204" pitchFamily="49" charset="0"/>
              <a:cs typeface="Consolas" panose="020B0609020204030204" pitchFamily="49" charset="0"/>
            </a:endParaRPr>
          </a:p>
        </p:txBody>
      </p:sp>
      <p:sp>
        <p:nvSpPr>
          <p:cNvPr id="11" name="圆角矩形 10">
            <a:extLst>
              <a:ext uri="{FF2B5EF4-FFF2-40B4-BE49-F238E27FC236}">
                <a16:creationId xmlns:a16="http://schemas.microsoft.com/office/drawing/2014/main" id="{47F660B3-DC99-AD50-4B76-9E57BE7E0FE9}"/>
              </a:ext>
            </a:extLst>
          </p:cNvPr>
          <p:cNvSpPr/>
          <p:nvPr/>
        </p:nvSpPr>
        <p:spPr>
          <a:xfrm>
            <a:off x="774773" y="3029796"/>
            <a:ext cx="2299605" cy="120252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err="1">
                <a:solidFill>
                  <a:schemeClr val="accent5"/>
                </a:solidFill>
                <a:latin typeface="Consolas" panose="020B0609020204030204" pitchFamily="49" charset="0"/>
                <a:cs typeface="Consolas" panose="020B0609020204030204" pitchFamily="49" charset="0"/>
              </a:rPr>
              <a:t>Serial_execute</a:t>
            </a:r>
            <a:endParaRPr kumimoji="1" lang="en-US" altLang="zh-CN" b="1" dirty="0">
              <a:solidFill>
                <a:schemeClr val="accent5"/>
              </a:solidFill>
              <a:latin typeface="Consolas" panose="020B0609020204030204" pitchFamily="49" charset="0"/>
              <a:cs typeface="Consolas" panose="020B0609020204030204" pitchFamily="49" charset="0"/>
            </a:endParaRPr>
          </a:p>
          <a:p>
            <a:pPr algn="ctr"/>
            <a:endParaRPr kumimoji="1" lang="en-US" altLang="zh-CN" dirty="0">
              <a:solidFill>
                <a:schemeClr val="accent5"/>
              </a:solidFill>
              <a:latin typeface="Consolas" panose="020B0609020204030204" pitchFamily="49" charset="0"/>
              <a:cs typeface="Consolas" panose="020B0609020204030204" pitchFamily="49" charset="0"/>
            </a:endParaRPr>
          </a:p>
          <a:p>
            <a:pPr algn="ctr"/>
            <a:r>
              <a:rPr kumimoji="1" lang="zh-CN" altLang="en-US" dirty="0">
                <a:solidFill>
                  <a:schemeClr val="tx1"/>
                </a:solidFill>
                <a:latin typeface="Consolas" panose="020B0609020204030204" pitchFamily="49" charset="0"/>
                <a:cs typeface="Consolas" panose="020B0609020204030204" pitchFamily="49" charset="0"/>
              </a:rPr>
              <a:t>调度器</a:t>
            </a:r>
            <a:endParaRPr kumimoji="1" lang="en-US" altLang="zh-CN" dirty="0">
              <a:solidFill>
                <a:schemeClr val="tx1"/>
              </a:solidFill>
              <a:latin typeface="Consolas" panose="020B0609020204030204" pitchFamily="49" charset="0"/>
              <a:cs typeface="Consolas" panose="020B0609020204030204" pitchFamily="49" charset="0"/>
            </a:endParaRPr>
          </a:p>
          <a:p>
            <a:pPr algn="ctr"/>
            <a:r>
              <a:rPr kumimoji="1" lang="zh-CN" altLang="en-US" dirty="0">
                <a:solidFill>
                  <a:schemeClr val="tx1"/>
                </a:solidFill>
                <a:latin typeface="Consolas" panose="020B0609020204030204" pitchFamily="49" charset="0"/>
                <a:cs typeface="Consolas" panose="020B0609020204030204" pitchFamily="49" charset="0"/>
              </a:rPr>
              <a:t>选择协程</a:t>
            </a:r>
          </a:p>
        </p:txBody>
      </p:sp>
      <p:sp>
        <p:nvSpPr>
          <p:cNvPr id="12" name="右箭头 11">
            <a:extLst>
              <a:ext uri="{FF2B5EF4-FFF2-40B4-BE49-F238E27FC236}">
                <a16:creationId xmlns:a16="http://schemas.microsoft.com/office/drawing/2014/main" id="{9EAE82CB-A17F-D8FE-B356-906C4E3EB2DD}"/>
              </a:ext>
            </a:extLst>
          </p:cNvPr>
          <p:cNvSpPr/>
          <p:nvPr/>
        </p:nvSpPr>
        <p:spPr>
          <a:xfrm rot="5400000">
            <a:off x="1689005" y="2391969"/>
            <a:ext cx="471142" cy="5318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F27AEA50-BF69-A952-B5A3-400208F4CD58}"/>
              </a:ext>
            </a:extLst>
          </p:cNvPr>
          <p:cNvSpPr/>
          <p:nvPr/>
        </p:nvSpPr>
        <p:spPr>
          <a:xfrm>
            <a:off x="2714727" y="5137269"/>
            <a:ext cx="1846842" cy="95692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accent5"/>
                </a:solidFill>
                <a:latin typeface="Consolas" panose="020B0609020204030204" pitchFamily="49" charset="0"/>
                <a:cs typeface="Consolas" panose="020B0609020204030204" pitchFamily="49" charset="0"/>
              </a:rPr>
              <a:t>协程执行中。。</a:t>
            </a:r>
            <a:endParaRPr kumimoji="1" lang="zh-CN" altLang="en-US" dirty="0">
              <a:solidFill>
                <a:schemeClr val="tx1"/>
              </a:solidFill>
              <a:latin typeface="Consolas" panose="020B0609020204030204" pitchFamily="49" charset="0"/>
              <a:cs typeface="Consolas" panose="020B0609020204030204" pitchFamily="49" charset="0"/>
            </a:endParaRPr>
          </a:p>
        </p:txBody>
      </p:sp>
      <p:sp>
        <p:nvSpPr>
          <p:cNvPr id="14" name="下箭头 13">
            <a:extLst>
              <a:ext uri="{FF2B5EF4-FFF2-40B4-BE49-F238E27FC236}">
                <a16:creationId xmlns:a16="http://schemas.microsoft.com/office/drawing/2014/main" id="{0555AF49-67D6-E724-1156-CA253E24026A}"/>
              </a:ext>
            </a:extLst>
          </p:cNvPr>
          <p:cNvSpPr/>
          <p:nvPr/>
        </p:nvSpPr>
        <p:spPr>
          <a:xfrm rot="19538248">
            <a:off x="2465442" y="4281179"/>
            <a:ext cx="535258" cy="8591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6EE69130-7DA6-0910-6D70-A141943AD7CB}"/>
              </a:ext>
            </a:extLst>
          </p:cNvPr>
          <p:cNvSpPr txBox="1"/>
          <p:nvPr/>
        </p:nvSpPr>
        <p:spPr>
          <a:xfrm>
            <a:off x="1270628" y="4250988"/>
            <a:ext cx="1107996" cy="369332"/>
          </a:xfrm>
          <a:prstGeom prst="rect">
            <a:avLst/>
          </a:prstGeom>
          <a:noFill/>
        </p:spPr>
        <p:txBody>
          <a:bodyPr wrap="none" rtlCol="0">
            <a:spAutoFit/>
          </a:bodyPr>
          <a:lstStyle/>
          <a:p>
            <a:r>
              <a:rPr kumimoji="1" lang="en-US" altLang="zh-CN" dirty="0">
                <a:latin typeface=""/>
              </a:rPr>
              <a:t>resume()</a:t>
            </a:r>
            <a:endParaRPr kumimoji="1" lang="zh-CN" altLang="en-US" dirty="0">
              <a:latin typeface=""/>
            </a:endParaRPr>
          </a:p>
        </p:txBody>
      </p:sp>
      <p:sp>
        <p:nvSpPr>
          <p:cNvPr id="17" name="圆角矩形 16">
            <a:extLst>
              <a:ext uri="{FF2B5EF4-FFF2-40B4-BE49-F238E27FC236}">
                <a16:creationId xmlns:a16="http://schemas.microsoft.com/office/drawing/2014/main" id="{F4622B67-D003-E0B9-3092-A1CA24B327C0}"/>
              </a:ext>
            </a:extLst>
          </p:cNvPr>
          <p:cNvSpPr/>
          <p:nvPr/>
        </p:nvSpPr>
        <p:spPr>
          <a:xfrm>
            <a:off x="4786057" y="3029796"/>
            <a:ext cx="2299605" cy="120252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err="1">
                <a:solidFill>
                  <a:schemeClr val="accent5"/>
                </a:solidFill>
                <a:latin typeface="Consolas" panose="020B0609020204030204" pitchFamily="49" charset="0"/>
                <a:cs typeface="Consolas" panose="020B0609020204030204" pitchFamily="49" charset="0"/>
              </a:rPr>
              <a:t>Serial_execute</a:t>
            </a:r>
            <a:endParaRPr kumimoji="1" lang="en-US" altLang="zh-CN" b="1" dirty="0">
              <a:solidFill>
                <a:schemeClr val="accent5"/>
              </a:solidFill>
              <a:latin typeface="Consolas" panose="020B0609020204030204" pitchFamily="49" charset="0"/>
              <a:cs typeface="Consolas" panose="020B0609020204030204" pitchFamily="49" charset="0"/>
            </a:endParaRPr>
          </a:p>
          <a:p>
            <a:pPr algn="ctr"/>
            <a:endParaRPr kumimoji="1" lang="en-US" altLang="zh-CN" dirty="0">
              <a:solidFill>
                <a:schemeClr val="accent5"/>
              </a:solidFill>
              <a:latin typeface="Consolas" panose="020B0609020204030204" pitchFamily="49" charset="0"/>
              <a:cs typeface="Consolas" panose="020B0609020204030204" pitchFamily="49" charset="0"/>
            </a:endParaRPr>
          </a:p>
          <a:p>
            <a:pPr algn="ctr"/>
            <a:r>
              <a:rPr kumimoji="1" lang="zh-CN" altLang="en-US" dirty="0">
                <a:solidFill>
                  <a:schemeClr val="tx1"/>
                </a:solidFill>
                <a:latin typeface="Consolas" panose="020B0609020204030204" pitchFamily="49" charset="0"/>
                <a:cs typeface="Consolas" panose="020B0609020204030204" pitchFamily="49" charset="0"/>
              </a:rPr>
              <a:t>调度器</a:t>
            </a:r>
            <a:endParaRPr kumimoji="1" lang="en-US" altLang="zh-CN" dirty="0">
              <a:solidFill>
                <a:schemeClr val="tx1"/>
              </a:solidFill>
              <a:latin typeface="Consolas" panose="020B0609020204030204" pitchFamily="49" charset="0"/>
              <a:cs typeface="Consolas" panose="020B0609020204030204" pitchFamily="49" charset="0"/>
            </a:endParaRPr>
          </a:p>
          <a:p>
            <a:pPr algn="ctr"/>
            <a:r>
              <a:rPr kumimoji="1" lang="zh-CN" altLang="en-US" dirty="0">
                <a:solidFill>
                  <a:schemeClr val="tx1"/>
                </a:solidFill>
                <a:latin typeface="Consolas" panose="020B0609020204030204" pitchFamily="49" charset="0"/>
                <a:cs typeface="Consolas" panose="020B0609020204030204" pitchFamily="49" charset="0"/>
              </a:rPr>
              <a:t>选择协程</a:t>
            </a:r>
          </a:p>
        </p:txBody>
      </p:sp>
      <p:sp>
        <p:nvSpPr>
          <p:cNvPr id="18" name="下箭头 17">
            <a:extLst>
              <a:ext uri="{FF2B5EF4-FFF2-40B4-BE49-F238E27FC236}">
                <a16:creationId xmlns:a16="http://schemas.microsoft.com/office/drawing/2014/main" id="{526DE1ED-53E9-81DA-2F58-F5AED309EAC6}"/>
              </a:ext>
            </a:extLst>
          </p:cNvPr>
          <p:cNvSpPr/>
          <p:nvPr/>
        </p:nvSpPr>
        <p:spPr>
          <a:xfrm rot="13807249">
            <a:off x="4388163" y="4169179"/>
            <a:ext cx="535258" cy="10362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57A8ACA-70B2-F75B-E036-C60C9F132F7D}"/>
              </a:ext>
            </a:extLst>
          </p:cNvPr>
          <p:cNvSpPr txBox="1"/>
          <p:nvPr/>
        </p:nvSpPr>
        <p:spPr>
          <a:xfrm>
            <a:off x="4786057" y="4771325"/>
            <a:ext cx="829073" cy="369332"/>
          </a:xfrm>
          <a:prstGeom prst="rect">
            <a:avLst/>
          </a:prstGeom>
          <a:noFill/>
        </p:spPr>
        <p:txBody>
          <a:bodyPr wrap="none" rtlCol="0">
            <a:spAutoFit/>
          </a:bodyPr>
          <a:lstStyle/>
          <a:p>
            <a:r>
              <a:rPr kumimoji="1" lang="en-US" altLang="zh-CN" dirty="0">
                <a:latin typeface=""/>
              </a:rPr>
              <a:t>yield</a:t>
            </a:r>
            <a:r>
              <a:rPr kumimoji="1" lang="en-US" altLang="zh-CN" dirty="0"/>
              <a:t>()</a:t>
            </a:r>
            <a:endParaRPr kumimoji="1" lang="zh-CN" altLang="en-US" dirty="0"/>
          </a:p>
        </p:txBody>
      </p:sp>
      <p:sp>
        <p:nvSpPr>
          <p:cNvPr id="21" name="圆角矩形 20">
            <a:extLst>
              <a:ext uri="{FF2B5EF4-FFF2-40B4-BE49-F238E27FC236}">
                <a16:creationId xmlns:a16="http://schemas.microsoft.com/office/drawing/2014/main" id="{DAAF08CC-7ADC-5FB3-0C0A-B64E51D7066D}"/>
              </a:ext>
            </a:extLst>
          </p:cNvPr>
          <p:cNvSpPr/>
          <p:nvPr/>
        </p:nvSpPr>
        <p:spPr>
          <a:xfrm>
            <a:off x="7872833" y="5039467"/>
            <a:ext cx="1846842" cy="95692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accent5"/>
                </a:solidFill>
                <a:latin typeface="Consolas" panose="020B0609020204030204" pitchFamily="49" charset="0"/>
                <a:cs typeface="Consolas" panose="020B0609020204030204" pitchFamily="49" charset="0"/>
              </a:rPr>
              <a:t>协程执行中。。</a:t>
            </a:r>
            <a:endParaRPr kumimoji="1" lang="zh-CN" altLang="en-US" dirty="0">
              <a:solidFill>
                <a:schemeClr val="tx1"/>
              </a:solidFill>
              <a:latin typeface="Consolas" panose="020B0609020204030204" pitchFamily="49" charset="0"/>
              <a:cs typeface="Consolas" panose="020B0609020204030204" pitchFamily="49" charset="0"/>
            </a:endParaRPr>
          </a:p>
        </p:txBody>
      </p:sp>
      <p:sp>
        <p:nvSpPr>
          <p:cNvPr id="22" name="下箭头 21">
            <a:extLst>
              <a:ext uri="{FF2B5EF4-FFF2-40B4-BE49-F238E27FC236}">
                <a16:creationId xmlns:a16="http://schemas.microsoft.com/office/drawing/2014/main" id="{F7DA4E00-326B-2A54-9654-EAAC73E26BB5}"/>
              </a:ext>
            </a:extLst>
          </p:cNvPr>
          <p:cNvSpPr/>
          <p:nvPr/>
        </p:nvSpPr>
        <p:spPr>
          <a:xfrm rot="19538248">
            <a:off x="7479438" y="3974085"/>
            <a:ext cx="535258" cy="10313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D4245F8F-C1D2-EBC5-96DB-FED2719E242A}"/>
              </a:ext>
            </a:extLst>
          </p:cNvPr>
          <p:cNvSpPr txBox="1"/>
          <p:nvPr/>
        </p:nvSpPr>
        <p:spPr>
          <a:xfrm>
            <a:off x="6399257" y="4207313"/>
            <a:ext cx="1107996" cy="369332"/>
          </a:xfrm>
          <a:prstGeom prst="rect">
            <a:avLst/>
          </a:prstGeom>
          <a:noFill/>
        </p:spPr>
        <p:txBody>
          <a:bodyPr wrap="none" rtlCol="0">
            <a:spAutoFit/>
          </a:bodyPr>
          <a:lstStyle/>
          <a:p>
            <a:r>
              <a:rPr kumimoji="1" lang="en-US" altLang="zh-CN" dirty="0">
                <a:latin typeface=""/>
              </a:rPr>
              <a:t>resume()</a:t>
            </a:r>
            <a:endParaRPr kumimoji="1" lang="zh-CN" altLang="en-US" dirty="0">
              <a:latin typeface=""/>
            </a:endParaRPr>
          </a:p>
        </p:txBody>
      </p:sp>
      <p:sp>
        <p:nvSpPr>
          <p:cNvPr id="24" name="下箭头 23">
            <a:extLst>
              <a:ext uri="{FF2B5EF4-FFF2-40B4-BE49-F238E27FC236}">
                <a16:creationId xmlns:a16="http://schemas.microsoft.com/office/drawing/2014/main" id="{86137BE0-71C3-3AD7-CCF8-AF31C8B5C749}"/>
              </a:ext>
            </a:extLst>
          </p:cNvPr>
          <p:cNvSpPr/>
          <p:nvPr/>
        </p:nvSpPr>
        <p:spPr>
          <a:xfrm rot="13807249">
            <a:off x="9542228" y="4069487"/>
            <a:ext cx="535258" cy="10468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347D343B-BBC7-3D94-ED21-640CC2054B89}"/>
              </a:ext>
            </a:extLst>
          </p:cNvPr>
          <p:cNvSpPr txBox="1"/>
          <p:nvPr/>
        </p:nvSpPr>
        <p:spPr>
          <a:xfrm>
            <a:off x="9921699" y="4865874"/>
            <a:ext cx="829073" cy="369332"/>
          </a:xfrm>
          <a:prstGeom prst="rect">
            <a:avLst/>
          </a:prstGeom>
          <a:noFill/>
        </p:spPr>
        <p:txBody>
          <a:bodyPr wrap="none" rtlCol="0">
            <a:spAutoFit/>
          </a:bodyPr>
          <a:lstStyle/>
          <a:p>
            <a:r>
              <a:rPr kumimoji="1" lang="en-US" altLang="zh-CN" dirty="0">
                <a:latin typeface=""/>
              </a:rPr>
              <a:t>yield</a:t>
            </a:r>
            <a:r>
              <a:rPr kumimoji="1" lang="en-US" altLang="zh-CN" dirty="0"/>
              <a:t>()</a:t>
            </a:r>
            <a:endParaRPr kumimoji="1" lang="zh-CN" altLang="en-US" dirty="0"/>
          </a:p>
        </p:txBody>
      </p:sp>
      <p:sp>
        <p:nvSpPr>
          <p:cNvPr id="26" name="文本框 25">
            <a:extLst>
              <a:ext uri="{FF2B5EF4-FFF2-40B4-BE49-F238E27FC236}">
                <a16:creationId xmlns:a16="http://schemas.microsoft.com/office/drawing/2014/main" id="{8798AA1A-C05D-1D2C-A3D9-FA050A135809}"/>
              </a:ext>
            </a:extLst>
          </p:cNvPr>
          <p:cNvSpPr txBox="1"/>
          <p:nvPr/>
        </p:nvSpPr>
        <p:spPr>
          <a:xfrm>
            <a:off x="9988406" y="3187127"/>
            <a:ext cx="1569660" cy="923330"/>
          </a:xfrm>
          <a:prstGeom prst="rect">
            <a:avLst/>
          </a:prstGeom>
          <a:noFill/>
          <a:ln>
            <a:solidFill>
              <a:schemeClr val="tx1"/>
            </a:solidFill>
          </a:ln>
        </p:spPr>
        <p:txBody>
          <a:bodyPr wrap="none" rtlCol="0">
            <a:spAutoFit/>
          </a:bodyPr>
          <a:lstStyle/>
          <a:p>
            <a:r>
              <a:rPr kumimoji="1" lang="zh-CN" altLang="en-US" b="1" dirty="0"/>
              <a:t>。。。。。。</a:t>
            </a:r>
            <a:endParaRPr kumimoji="1" lang="en-US" altLang="zh-CN" b="1" dirty="0"/>
          </a:p>
          <a:p>
            <a:r>
              <a:rPr kumimoji="1" lang="zh-CN" altLang="en-US" b="1" dirty="0"/>
              <a:t>直到所有协程</a:t>
            </a:r>
            <a:endParaRPr kumimoji="1" lang="en-US" altLang="zh-CN" b="1" dirty="0"/>
          </a:p>
          <a:p>
            <a:pPr algn="ctr"/>
            <a:r>
              <a:rPr kumimoji="1" lang="en-US" altLang="zh-CN" b="1" dirty="0"/>
              <a:t>finished</a:t>
            </a:r>
            <a:endParaRPr kumimoji="1" lang="zh-CN" altLang="en-US" b="1" dirty="0"/>
          </a:p>
        </p:txBody>
      </p:sp>
      <p:cxnSp>
        <p:nvCxnSpPr>
          <p:cNvPr id="28" name="直线连接符 27">
            <a:extLst>
              <a:ext uri="{FF2B5EF4-FFF2-40B4-BE49-F238E27FC236}">
                <a16:creationId xmlns:a16="http://schemas.microsoft.com/office/drawing/2014/main" id="{2B720E8A-1014-FD6B-126B-46D8EC2AE7E3}"/>
              </a:ext>
            </a:extLst>
          </p:cNvPr>
          <p:cNvCxnSpPr>
            <a:cxnSpLocks/>
          </p:cNvCxnSpPr>
          <p:nvPr/>
        </p:nvCxnSpPr>
        <p:spPr>
          <a:xfrm>
            <a:off x="412595" y="4687062"/>
            <a:ext cx="11374244" cy="0"/>
          </a:xfrm>
          <a:prstGeom prst="line">
            <a:avLst/>
          </a:prstGeom>
          <a:ln w="762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96738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5639685" cy="584775"/>
          </a:xfrm>
          <a:prstGeom prst="rect">
            <a:avLst/>
          </a:prstGeom>
          <a:noFill/>
        </p:spPr>
        <p:txBody>
          <a:bodyPr wrap="none" rtlCol="0">
            <a:spAutoFit/>
          </a:bodyPr>
          <a:lstStyle/>
          <a:p>
            <a:r>
              <a:rPr kumimoji="1" lang="en-US" altLang="zh-CN" sz="3200" b="1" dirty="0">
                <a:solidFill>
                  <a:schemeClr val="accent3"/>
                </a:solidFill>
              </a:rPr>
              <a:t>Task</a:t>
            </a:r>
            <a:r>
              <a:rPr kumimoji="1" lang="zh-CN" altLang="en-US" sz="3200" b="1" dirty="0">
                <a:solidFill>
                  <a:schemeClr val="accent3"/>
                </a:solidFill>
              </a:rPr>
              <a:t> </a:t>
            </a:r>
            <a:r>
              <a:rPr kumimoji="1" lang="en-US" altLang="zh-CN" sz="3200" b="1" dirty="0">
                <a:solidFill>
                  <a:schemeClr val="accent3"/>
                </a:solidFill>
              </a:rPr>
              <a:t>2</a:t>
            </a:r>
            <a:r>
              <a:rPr kumimoji="1" lang="zh-CN" altLang="en-US" sz="3200" b="1" dirty="0">
                <a:solidFill>
                  <a:schemeClr val="accent3"/>
                </a:solidFill>
              </a:rPr>
              <a:t>   </a:t>
            </a:r>
            <a:r>
              <a:rPr kumimoji="1" lang="en-US" altLang="zh-CN" sz="3200" b="1" dirty="0">
                <a:solidFill>
                  <a:schemeClr val="accent3"/>
                </a:solidFill>
              </a:rPr>
              <a:t>:</a:t>
            </a:r>
            <a:r>
              <a:rPr kumimoji="1" lang="zh-CN" altLang="en-US" sz="3200" b="1" dirty="0">
                <a:solidFill>
                  <a:schemeClr val="accent3"/>
                </a:solidFill>
              </a:rPr>
              <a:t> </a:t>
            </a:r>
            <a:r>
              <a:rPr kumimoji="1" lang="en-US" altLang="zh-CN" sz="3200" b="1" dirty="0" err="1">
                <a:solidFill>
                  <a:schemeClr val="accent3"/>
                </a:solidFill>
              </a:rPr>
              <a:t>sleep_sort</a:t>
            </a:r>
            <a:r>
              <a:rPr kumimoji="1" lang="zh-CN" altLang="en-US" sz="3200" b="1" dirty="0">
                <a:solidFill>
                  <a:schemeClr val="accent3"/>
                </a:solidFill>
              </a:rPr>
              <a:t>（</a:t>
            </a:r>
            <a:r>
              <a:rPr kumimoji="1" lang="en-US" altLang="zh-CN" sz="3200" b="1" dirty="0">
                <a:solidFill>
                  <a:schemeClr val="accent3"/>
                </a:solidFill>
              </a:rPr>
              <a:t>20</a:t>
            </a:r>
            <a:r>
              <a:rPr kumimoji="1" lang="zh-CN" altLang="en-US" sz="3200" b="1" dirty="0">
                <a:solidFill>
                  <a:schemeClr val="accent3"/>
                </a:solidFill>
              </a:rPr>
              <a:t>分）</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F2B009C-D5B4-B82D-CF45-18232066273F}"/>
              </a:ext>
            </a:extLst>
          </p:cNvPr>
          <p:cNvSpPr txBox="1"/>
          <p:nvPr/>
        </p:nvSpPr>
        <p:spPr>
          <a:xfrm>
            <a:off x="662189" y="3618549"/>
            <a:ext cx="3990195" cy="830997"/>
          </a:xfrm>
          <a:prstGeom prst="rect">
            <a:avLst/>
          </a:prstGeom>
          <a:noFill/>
        </p:spPr>
        <p:txBody>
          <a:bodyPr wrap="none" rtlCol="0">
            <a:spAutoFit/>
          </a:bodyPr>
          <a:lstStyle/>
          <a:p>
            <a:pPr marL="457200" indent="-457200">
              <a:buFont typeface="Arial" panose="020B0604020202020204" pitchFamily="34" charset="0"/>
              <a:buChar char="•"/>
            </a:pPr>
            <a:r>
              <a:rPr kumimoji="1" lang="zh-CN" altLang="en-US" sz="2400" dirty="0">
                <a:solidFill>
                  <a:schemeClr val="accent3"/>
                </a:solidFill>
                <a:latin typeface="Consolas" panose="020B0609020204030204" pitchFamily="49" charset="0"/>
                <a:cs typeface="Consolas" panose="020B0609020204030204" pitchFamily="49" charset="0"/>
              </a:rPr>
              <a:t>完善</a:t>
            </a:r>
            <a:r>
              <a:rPr kumimoji="1" lang="en-US" altLang="zh-CN" sz="2400" dirty="0">
                <a:solidFill>
                  <a:schemeClr val="accent3"/>
                </a:solidFill>
                <a:latin typeface="Consolas" panose="020B0609020204030204" pitchFamily="49" charset="0"/>
                <a:cs typeface="Consolas" panose="020B0609020204030204" pitchFamily="49" charset="0"/>
              </a:rPr>
              <a:t>sleep</a:t>
            </a:r>
            <a:r>
              <a:rPr kumimoji="1" lang="zh-CN" altLang="en-US" sz="2400" dirty="0">
                <a:solidFill>
                  <a:schemeClr val="accent3"/>
                </a:solidFill>
                <a:latin typeface="Consolas" panose="020B0609020204030204" pitchFamily="49" charset="0"/>
                <a:cs typeface="Consolas" panose="020B0609020204030204" pitchFamily="49" charset="0"/>
              </a:rPr>
              <a:t>函数（</a:t>
            </a:r>
            <a:r>
              <a:rPr kumimoji="1" lang="en-US" altLang="zh-CN" sz="2400" dirty="0">
                <a:solidFill>
                  <a:schemeClr val="accent3"/>
                </a:solidFill>
                <a:latin typeface="Consolas" panose="020B0609020204030204" pitchFamily="49" charset="0"/>
                <a:cs typeface="Consolas" panose="020B0609020204030204" pitchFamily="49" charset="0"/>
              </a:rPr>
              <a:t>10</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en-US" altLang="zh-CN" sz="2400" dirty="0">
              <a:solidFill>
                <a:schemeClr val="accent3"/>
              </a:solidFill>
              <a:latin typeface="Consolas" panose="020B0609020204030204" pitchFamily="49" charset="0"/>
              <a:cs typeface="Consolas" panose="020B0609020204030204" pitchFamily="49" charset="0"/>
            </a:endParaRPr>
          </a:p>
          <a:p>
            <a:r>
              <a:rPr kumimoji="1" lang="zh-CN" altLang="en-US" sz="2400" dirty="0">
                <a:solidFill>
                  <a:schemeClr val="accent3"/>
                </a:solidFill>
                <a:latin typeface="Consolas" panose="020B0609020204030204" pitchFamily="49" charset="0"/>
                <a:cs typeface="Consolas" panose="020B0609020204030204" pitchFamily="49" charset="0"/>
              </a:rPr>
              <a:t>   </a:t>
            </a:r>
            <a:endParaRPr kumimoji="1" lang="zh-CN" altLang="en-US" dirty="0">
              <a:latin typeface="Consolas" panose="020B0609020204030204" pitchFamily="49" charset="0"/>
              <a:cs typeface="Consolas" panose="020B0609020204030204" pitchFamily="49" charset="0"/>
            </a:endParaRPr>
          </a:p>
        </p:txBody>
      </p:sp>
      <p:sp>
        <p:nvSpPr>
          <p:cNvPr id="8" name="文本框 7">
            <a:extLst>
              <a:ext uri="{FF2B5EF4-FFF2-40B4-BE49-F238E27FC236}">
                <a16:creationId xmlns:a16="http://schemas.microsoft.com/office/drawing/2014/main" id="{D56421D1-0F87-C489-FA23-7718B760998F}"/>
              </a:ext>
            </a:extLst>
          </p:cNvPr>
          <p:cNvSpPr txBox="1"/>
          <p:nvPr/>
        </p:nvSpPr>
        <p:spPr>
          <a:xfrm>
            <a:off x="9942647" y="1595071"/>
            <a:ext cx="1728358" cy="1200329"/>
          </a:xfrm>
          <a:prstGeom prst="rect">
            <a:avLst/>
          </a:prstGeom>
          <a:noFill/>
        </p:spPr>
        <p:txBody>
          <a:bodyPr wrap="none" rtlCol="0">
            <a:spAutoFit/>
          </a:bodyPr>
          <a:lstStyle/>
          <a:p>
            <a:r>
              <a:rPr kumimoji="1" lang="zh-CN" altLang="en-US" dirty="0"/>
              <a:t>完成后运行</a:t>
            </a:r>
            <a:endParaRPr kumimoji="1" lang="en-US" altLang="zh-CN" dirty="0"/>
          </a:p>
          <a:p>
            <a:r>
              <a:rPr kumimoji="1" lang="en-US" altLang="zh-CN" dirty="0"/>
              <a:t>bin/</a:t>
            </a:r>
            <a:r>
              <a:rPr kumimoji="1" lang="en-US" altLang="zh-CN" dirty="0" err="1"/>
              <a:t>sleep_sort</a:t>
            </a:r>
            <a:endParaRPr kumimoji="1" lang="en-US" altLang="zh-CN" dirty="0"/>
          </a:p>
          <a:p>
            <a:endParaRPr kumimoji="1" lang="en-US" altLang="zh-CN" dirty="0"/>
          </a:p>
          <a:p>
            <a:r>
              <a:rPr kumimoji="1" lang="zh-CN" altLang="en-US" dirty="0"/>
              <a:t>期望输出：</a:t>
            </a:r>
            <a:endParaRPr kumimoji="1" lang="en-US" altLang="zh-CN" dirty="0"/>
          </a:p>
        </p:txBody>
      </p:sp>
      <p:pic>
        <p:nvPicPr>
          <p:cNvPr id="3" name="图片 2">
            <a:extLst>
              <a:ext uri="{FF2B5EF4-FFF2-40B4-BE49-F238E27FC236}">
                <a16:creationId xmlns:a16="http://schemas.microsoft.com/office/drawing/2014/main" id="{5FFFE10D-6282-C805-2946-7B4C2ABACB86}"/>
              </a:ext>
            </a:extLst>
          </p:cNvPr>
          <p:cNvPicPr>
            <a:picLocks noChangeAspect="1"/>
          </p:cNvPicPr>
          <p:nvPr/>
        </p:nvPicPr>
        <p:blipFill>
          <a:blip r:embed="rId2"/>
          <a:stretch>
            <a:fillRect/>
          </a:stretch>
        </p:blipFill>
        <p:spPr>
          <a:xfrm>
            <a:off x="9746376" y="2795400"/>
            <a:ext cx="2120900" cy="2032000"/>
          </a:xfrm>
          <a:prstGeom prst="rect">
            <a:avLst/>
          </a:prstGeom>
          <a:ln>
            <a:solidFill>
              <a:schemeClr val="tx1"/>
            </a:solidFill>
          </a:ln>
        </p:spPr>
      </p:pic>
      <p:sp>
        <p:nvSpPr>
          <p:cNvPr id="14" name="文本框 13">
            <a:extLst>
              <a:ext uri="{FF2B5EF4-FFF2-40B4-BE49-F238E27FC236}">
                <a16:creationId xmlns:a16="http://schemas.microsoft.com/office/drawing/2014/main" id="{0B8DAEE1-A978-5649-B8AA-AC8090F87ED7}"/>
              </a:ext>
            </a:extLst>
          </p:cNvPr>
          <p:cNvSpPr txBox="1"/>
          <p:nvPr/>
        </p:nvSpPr>
        <p:spPr>
          <a:xfrm>
            <a:off x="662189" y="4213269"/>
            <a:ext cx="7039106" cy="830997"/>
          </a:xfrm>
          <a:prstGeom prst="rect">
            <a:avLst/>
          </a:prstGeom>
          <a:noFill/>
        </p:spPr>
        <p:txBody>
          <a:bodyPr wrap="none" rtlCol="0">
            <a:spAutoFit/>
          </a:bodyPr>
          <a:lstStyle/>
          <a:p>
            <a:pPr marL="457200" indent="-457200">
              <a:buFont typeface="Arial" panose="020B0604020202020204" pitchFamily="34" charset="0"/>
              <a:buChar char="•"/>
            </a:pPr>
            <a:r>
              <a:rPr kumimoji="1" lang="zh-CN" altLang="en-US" sz="2400" dirty="0">
                <a:solidFill>
                  <a:schemeClr val="accent3"/>
                </a:solidFill>
                <a:latin typeface="Consolas" panose="020B0609020204030204" pitchFamily="49" charset="0"/>
                <a:cs typeface="Consolas" panose="020B0609020204030204" pitchFamily="49" charset="0"/>
              </a:rPr>
              <a:t>修改</a:t>
            </a:r>
            <a:r>
              <a:rPr lang="en-US" altLang="zh-CN" sz="2400" dirty="0" err="1">
                <a:latin typeface="Consolas" panose="020B0609020204030204" pitchFamily="49" charset="0"/>
                <a:cs typeface="Consolas" panose="020B0609020204030204" pitchFamily="49" charset="0"/>
              </a:rPr>
              <a:t>coroutine_pool</a:t>
            </a:r>
            <a:r>
              <a:rPr lang="en-US" altLang="zh-CN" sz="2400" dirty="0">
                <a:latin typeface="Consolas" panose="020B0609020204030204" pitchFamily="49" charset="0"/>
                <a:cs typeface="Consolas" panose="020B0609020204030204" pitchFamily="49" charset="0"/>
              </a:rPr>
              <a:t>::</a:t>
            </a:r>
            <a:r>
              <a:rPr lang="en-US" altLang="zh-CN" sz="2400" dirty="0" err="1">
                <a:latin typeface="Consolas" panose="020B0609020204030204" pitchFamily="49" charset="0"/>
                <a:cs typeface="Consolas" panose="020B0609020204030204" pitchFamily="49" charset="0"/>
              </a:rPr>
              <a:t>serial_execute_all</a:t>
            </a:r>
            <a:endParaRPr kumimoji="1" lang="en-US" altLang="zh-CN" sz="2400" dirty="0">
              <a:latin typeface="Consolas" panose="020B0609020204030204" pitchFamily="49" charset="0"/>
              <a:cs typeface="Consolas" panose="020B0609020204030204" pitchFamily="49" charset="0"/>
            </a:endParaRPr>
          </a:p>
          <a:p>
            <a:r>
              <a:rPr kumimoji="1" lang="zh-CN" altLang="en-US" sz="2400" dirty="0">
                <a:latin typeface="Consolas" panose="020B0609020204030204" pitchFamily="49" charset="0"/>
                <a:cs typeface="Consolas" panose="020B0609020204030204" pitchFamily="49" charset="0"/>
              </a:rPr>
              <a:t>   支持</a:t>
            </a:r>
            <a:r>
              <a:rPr kumimoji="1" lang="en-US" altLang="zh-CN" sz="2400" dirty="0">
                <a:latin typeface="Consolas" panose="020B0609020204030204" pitchFamily="49" charset="0"/>
                <a:cs typeface="Consolas" panose="020B0609020204030204" pitchFamily="49" charset="0"/>
              </a:rPr>
              <a:t>ready</a:t>
            </a:r>
            <a:r>
              <a:rPr kumimoji="1" lang="zh-CN" altLang="en-US" sz="2400" dirty="0">
                <a:latin typeface="Consolas" panose="020B0609020204030204" pitchFamily="49" charset="0"/>
                <a:cs typeface="Consolas" panose="020B0609020204030204" pitchFamily="49" charset="0"/>
              </a:rPr>
              <a:t>逻辑</a:t>
            </a:r>
            <a:r>
              <a:rPr kumimoji="1" lang="zh-CN" altLang="en-US" sz="2400" dirty="0">
                <a:solidFill>
                  <a:schemeClr val="accent3"/>
                </a:solidFill>
                <a:latin typeface="Consolas" panose="020B0609020204030204" pitchFamily="49" charset="0"/>
                <a:cs typeface="Consolas" panose="020B0609020204030204" pitchFamily="49" charset="0"/>
              </a:rPr>
              <a:t>（</a:t>
            </a:r>
            <a:r>
              <a:rPr kumimoji="1" lang="en-US" altLang="zh-CN" sz="2400" dirty="0">
                <a:solidFill>
                  <a:schemeClr val="accent3"/>
                </a:solidFill>
                <a:latin typeface="Consolas" panose="020B0609020204030204" pitchFamily="49" charset="0"/>
                <a:cs typeface="Consolas" panose="020B0609020204030204" pitchFamily="49" charset="0"/>
              </a:rPr>
              <a:t>10</a:t>
            </a:r>
            <a:r>
              <a:rPr kumimoji="1" lang="zh-CN" altLang="en-US" sz="2400" dirty="0">
                <a:solidFill>
                  <a:schemeClr val="accent3"/>
                </a:solidFill>
                <a:latin typeface="Consolas" panose="020B0609020204030204" pitchFamily="49" charset="0"/>
                <a:cs typeface="Consolas" panose="020B0609020204030204" pitchFamily="49" charset="0"/>
              </a:rPr>
              <a:t>分）</a:t>
            </a:r>
            <a:endParaRPr lang="zh-CN" altLang="en-US" sz="2400" dirty="0">
              <a:solidFill>
                <a:schemeClr val="accent3"/>
              </a:solidFill>
            </a:endParaRPr>
          </a:p>
        </p:txBody>
      </p:sp>
      <p:sp>
        <p:nvSpPr>
          <p:cNvPr id="16" name="文本框 15">
            <a:extLst>
              <a:ext uri="{FF2B5EF4-FFF2-40B4-BE49-F238E27FC236}">
                <a16:creationId xmlns:a16="http://schemas.microsoft.com/office/drawing/2014/main" id="{AD932BC9-AAD7-8856-B484-11BDE2347E3D}"/>
              </a:ext>
            </a:extLst>
          </p:cNvPr>
          <p:cNvSpPr txBox="1"/>
          <p:nvPr/>
        </p:nvSpPr>
        <p:spPr>
          <a:xfrm>
            <a:off x="779388" y="1578766"/>
            <a:ext cx="7973658" cy="1708160"/>
          </a:xfrm>
          <a:prstGeom prst="rect">
            <a:avLst/>
          </a:prstGeom>
          <a:noFill/>
          <a:ln>
            <a:solidFill>
              <a:schemeClr val="tx1"/>
            </a:solidFill>
          </a:ln>
        </p:spPr>
        <p:txBody>
          <a:bodyPr wrap="none" rtlCol="0">
            <a:spAutoFit/>
          </a:bodyPr>
          <a:lstStyle/>
          <a:p>
            <a:r>
              <a:rPr kumimoji="1" lang="zh-CN" altLang="en-US" dirty="0">
                <a:latin typeface="Consolas" panose="020B0609020204030204" pitchFamily="49" charset="0"/>
                <a:cs typeface="Consolas" panose="020B0609020204030204" pitchFamily="49" charset="0"/>
              </a:rPr>
              <a:t>由于所有协程属于</a:t>
            </a:r>
            <a:r>
              <a:rPr kumimoji="1" lang="zh-CN" altLang="en-US" b="1" dirty="0">
                <a:solidFill>
                  <a:schemeClr val="accent3"/>
                </a:solidFill>
                <a:latin typeface="Consolas" panose="020B0609020204030204" pitchFamily="49" charset="0"/>
                <a:cs typeface="Consolas" panose="020B0609020204030204" pitchFamily="49" charset="0"/>
              </a:rPr>
              <a:t>同一线程</a:t>
            </a:r>
            <a:r>
              <a:rPr kumimoji="1" lang="zh-CN" altLang="en-US" dirty="0">
                <a:latin typeface="Consolas" panose="020B0609020204030204" pitchFamily="49" charset="0"/>
                <a:cs typeface="Consolas" panose="020B0609020204030204" pitchFamily="49" charset="0"/>
              </a:rPr>
              <a:t>，所以不能调用系统</a:t>
            </a:r>
            <a:r>
              <a:rPr kumimoji="1" lang="en-US" altLang="zh-CN" dirty="0">
                <a:latin typeface="Consolas" panose="020B0609020204030204" pitchFamily="49" charset="0"/>
                <a:cs typeface="Consolas" panose="020B0609020204030204" pitchFamily="49" charset="0"/>
              </a:rPr>
              <a:t>sleep</a:t>
            </a:r>
            <a:r>
              <a:rPr kumimoji="1" lang="zh-CN" altLang="en-US" dirty="0">
                <a:latin typeface="Consolas" panose="020B0609020204030204" pitchFamily="49" charset="0"/>
                <a:cs typeface="Consolas" panose="020B0609020204030204" pitchFamily="49" charset="0"/>
              </a:rPr>
              <a:t>函数，会阻塞整个线程</a:t>
            </a:r>
            <a:endParaRPr kumimoji="1" lang="en-US" altLang="zh-CN" dirty="0">
              <a:latin typeface="Consolas" panose="020B0609020204030204" pitchFamily="49" charset="0"/>
              <a:cs typeface="Consolas" panose="020B0609020204030204" pitchFamily="49" charset="0"/>
            </a:endParaRPr>
          </a:p>
          <a:p>
            <a:r>
              <a:rPr kumimoji="1" lang="zh-CN" altLang="en-US" dirty="0">
                <a:latin typeface="Consolas" panose="020B0609020204030204" pitchFamily="49" charset="0"/>
                <a:cs typeface="Consolas" panose="020B0609020204030204" pitchFamily="49" charset="0"/>
              </a:rPr>
              <a:t>所以协程需要有自己的</a:t>
            </a:r>
            <a:r>
              <a:rPr kumimoji="1" lang="en-US" altLang="zh-CN" dirty="0">
                <a:latin typeface="Consolas" panose="020B0609020204030204" pitchFamily="49" charset="0"/>
                <a:cs typeface="Consolas" panose="020B0609020204030204" pitchFamily="49" charset="0"/>
              </a:rPr>
              <a:t>sleep</a:t>
            </a:r>
            <a:r>
              <a:rPr kumimoji="1" lang="zh-CN" altLang="en-US" dirty="0">
                <a:latin typeface="Consolas" panose="020B0609020204030204" pitchFamily="49" charset="0"/>
                <a:cs typeface="Consolas" panose="020B0609020204030204" pitchFamily="49" charset="0"/>
              </a:rPr>
              <a:t>函数，具体做法是：</a:t>
            </a:r>
            <a:endParaRPr kumimoji="1" lang="en-US" altLang="zh-CN" dirty="0">
              <a:latin typeface="Consolas" panose="020B0609020204030204" pitchFamily="49" charset="0"/>
              <a:cs typeface="Consolas" panose="020B0609020204030204" pitchFamily="49" charset="0"/>
            </a:endParaRPr>
          </a:p>
          <a:p>
            <a:endParaRPr kumimoji="1" lang="en-US" altLang="zh-CN" dirty="0">
              <a:latin typeface="Consolas" panose="020B0609020204030204" pitchFamily="49" charset="0"/>
              <a:cs typeface="Consolas" panose="020B0609020204030204" pitchFamily="49" charset="0"/>
            </a:endParaRPr>
          </a:p>
          <a:p>
            <a:pPr marL="342900" indent="-342900">
              <a:lnSpc>
                <a:spcPct val="150000"/>
              </a:lnSpc>
              <a:buAutoNum type="arabicPeriod"/>
            </a:pPr>
            <a:r>
              <a:rPr kumimoji="1" lang="zh-CN" altLang="en-US" dirty="0">
                <a:latin typeface="Consolas" panose="020B0609020204030204" pitchFamily="49" charset="0"/>
                <a:cs typeface="Consolas" panose="020B0609020204030204" pitchFamily="49" charset="0"/>
              </a:rPr>
              <a:t>协程需要设置一个</a:t>
            </a:r>
            <a:r>
              <a:rPr kumimoji="1" lang="en-US" altLang="zh-CN" dirty="0">
                <a:latin typeface="Consolas" panose="020B0609020204030204" pitchFamily="49" charset="0"/>
                <a:cs typeface="Consolas" panose="020B0609020204030204" pitchFamily="49" charset="0"/>
              </a:rPr>
              <a:t>ready</a:t>
            </a:r>
            <a:r>
              <a:rPr kumimoji="1" lang="zh-CN" altLang="en-US" dirty="0">
                <a:latin typeface="Consolas" panose="020B0609020204030204" pitchFamily="49" charset="0"/>
                <a:cs typeface="Consolas" panose="020B0609020204030204" pitchFamily="49" charset="0"/>
              </a:rPr>
              <a:t>标记，如果</a:t>
            </a:r>
            <a:r>
              <a:rPr kumimoji="1" lang="en-US" altLang="zh-CN" dirty="0">
                <a:latin typeface="Consolas" panose="020B0609020204030204" pitchFamily="49" charset="0"/>
                <a:cs typeface="Consolas" panose="020B0609020204030204" pitchFamily="49" charset="0"/>
              </a:rPr>
              <a:t>ready</a:t>
            </a:r>
            <a:r>
              <a:rPr kumimoji="1" lang="zh-CN" altLang="en-US" dirty="0">
                <a:latin typeface="Consolas" panose="020B0609020204030204" pitchFamily="49" charset="0"/>
                <a:cs typeface="Consolas" panose="020B0609020204030204" pitchFamily="49" charset="0"/>
              </a:rPr>
              <a:t>才能重新调度</a:t>
            </a:r>
            <a:endParaRPr kumimoji="1" lang="en-US" altLang="zh-CN" dirty="0">
              <a:latin typeface="Consolas" panose="020B0609020204030204" pitchFamily="49" charset="0"/>
              <a:cs typeface="Consolas" panose="020B0609020204030204" pitchFamily="49" charset="0"/>
            </a:endParaRPr>
          </a:p>
          <a:p>
            <a:pPr marL="342900" indent="-342900">
              <a:lnSpc>
                <a:spcPct val="150000"/>
              </a:lnSpc>
              <a:buAutoNum type="arabicPeriod"/>
            </a:pPr>
            <a:r>
              <a:rPr kumimoji="1" lang="zh-CN" altLang="en-US" dirty="0">
                <a:latin typeface="Consolas" panose="020B0609020204030204" pitchFamily="49" charset="0"/>
                <a:cs typeface="Consolas" panose="020B0609020204030204" pitchFamily="49" charset="0"/>
              </a:rPr>
              <a:t>如果非</a:t>
            </a:r>
            <a:r>
              <a:rPr kumimoji="1" lang="en-US" altLang="zh-CN" dirty="0">
                <a:latin typeface="Consolas" panose="020B0609020204030204" pitchFamily="49" charset="0"/>
                <a:cs typeface="Consolas" panose="020B0609020204030204" pitchFamily="49" charset="0"/>
              </a:rPr>
              <a:t>ready</a:t>
            </a:r>
            <a:r>
              <a:rPr kumimoji="1" lang="zh-CN" altLang="en-US" dirty="0">
                <a:latin typeface="Consolas" panose="020B0609020204030204" pitchFamily="49" charset="0"/>
                <a:cs typeface="Consolas" panose="020B0609020204030204" pitchFamily="49" charset="0"/>
              </a:rPr>
              <a:t>，需要查询是否已经睡眠足够时间</a:t>
            </a:r>
            <a:endParaRPr kumimoji="1" lang="zh-CN" altLang="en-US" dirty="0"/>
          </a:p>
        </p:txBody>
      </p:sp>
    </p:spTree>
    <p:extLst>
      <p:ext uri="{BB962C8B-B14F-4D97-AF65-F5344CB8AC3E}">
        <p14:creationId xmlns:p14="http://schemas.microsoft.com/office/powerpoint/2010/main" val="236180631"/>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0F5A13-3AF3-A9F2-D88E-5DF19D5F6AAA}"/>
              </a:ext>
            </a:extLst>
          </p:cNvPr>
          <p:cNvSpPr txBox="1"/>
          <p:nvPr/>
        </p:nvSpPr>
        <p:spPr>
          <a:xfrm>
            <a:off x="662189" y="669833"/>
            <a:ext cx="6122189" cy="584775"/>
          </a:xfrm>
          <a:prstGeom prst="rect">
            <a:avLst/>
          </a:prstGeom>
          <a:noFill/>
        </p:spPr>
        <p:txBody>
          <a:bodyPr wrap="none" rtlCol="0">
            <a:spAutoFit/>
          </a:bodyPr>
          <a:lstStyle/>
          <a:p>
            <a:r>
              <a:rPr kumimoji="1" lang="en-US" altLang="zh-CN" sz="3200" b="1" dirty="0">
                <a:solidFill>
                  <a:schemeClr val="accent3"/>
                </a:solidFill>
              </a:rPr>
              <a:t>Task</a:t>
            </a:r>
            <a:r>
              <a:rPr kumimoji="1" lang="zh-CN" altLang="en-US" sz="3200" b="1" dirty="0">
                <a:solidFill>
                  <a:schemeClr val="accent3"/>
                </a:solidFill>
              </a:rPr>
              <a:t> </a:t>
            </a:r>
            <a:r>
              <a:rPr kumimoji="1" lang="en-US" altLang="zh-CN" sz="3200" b="1" dirty="0">
                <a:solidFill>
                  <a:schemeClr val="accent3"/>
                </a:solidFill>
              </a:rPr>
              <a:t>3</a:t>
            </a:r>
            <a:r>
              <a:rPr kumimoji="1" lang="zh-CN" altLang="en-US" sz="3200" b="1" dirty="0">
                <a:solidFill>
                  <a:schemeClr val="accent3"/>
                </a:solidFill>
              </a:rPr>
              <a:t>   </a:t>
            </a:r>
            <a:r>
              <a:rPr kumimoji="1" lang="en-US" altLang="zh-CN" sz="3200" b="1" dirty="0">
                <a:solidFill>
                  <a:schemeClr val="accent3"/>
                </a:solidFill>
              </a:rPr>
              <a:t>:</a:t>
            </a:r>
            <a:r>
              <a:rPr kumimoji="1" lang="zh-CN" altLang="en-US" sz="3200" b="1" dirty="0">
                <a:solidFill>
                  <a:schemeClr val="accent3"/>
                </a:solidFill>
              </a:rPr>
              <a:t> 优化二分算法（</a:t>
            </a:r>
            <a:r>
              <a:rPr kumimoji="1" lang="en-US" altLang="zh-CN" sz="3200" b="1" dirty="0">
                <a:solidFill>
                  <a:schemeClr val="accent3"/>
                </a:solidFill>
              </a:rPr>
              <a:t>15</a:t>
            </a:r>
            <a:r>
              <a:rPr kumimoji="1" lang="zh-CN" altLang="en-US" sz="3200" b="1" dirty="0">
                <a:solidFill>
                  <a:schemeClr val="accent3"/>
                </a:solidFill>
              </a:rPr>
              <a:t>分）</a:t>
            </a:r>
          </a:p>
        </p:txBody>
      </p:sp>
      <p:cxnSp>
        <p:nvCxnSpPr>
          <p:cNvPr id="5" name="直接连接符 79">
            <a:extLst>
              <a:ext uri="{FF2B5EF4-FFF2-40B4-BE49-F238E27FC236}">
                <a16:creationId xmlns:a16="http://schemas.microsoft.com/office/drawing/2014/main" id="{C27849E8-D1EC-1B17-EE63-DFA99639953D}"/>
              </a:ext>
            </a:extLst>
          </p:cNvPr>
          <p:cNvCxnSpPr>
            <a:cxnSpLocks/>
          </p:cNvCxnSpPr>
          <p:nvPr/>
        </p:nvCxnSpPr>
        <p:spPr>
          <a:xfrm>
            <a:off x="779388" y="1369365"/>
            <a:ext cx="10517617" cy="0"/>
          </a:xfrm>
          <a:prstGeom prst="line">
            <a:avLst/>
          </a:prstGeom>
          <a:ln w="38100"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F2B009C-D5B4-B82D-CF45-18232066273F}"/>
              </a:ext>
            </a:extLst>
          </p:cNvPr>
          <p:cNvSpPr txBox="1"/>
          <p:nvPr/>
        </p:nvSpPr>
        <p:spPr>
          <a:xfrm>
            <a:off x="662189" y="2581118"/>
            <a:ext cx="4987263" cy="461665"/>
          </a:xfrm>
          <a:prstGeom prst="rect">
            <a:avLst/>
          </a:prstGeom>
          <a:noFill/>
        </p:spPr>
        <p:txBody>
          <a:bodyPr wrap="none" rtlCol="0">
            <a:spAutoFit/>
          </a:bodyPr>
          <a:lstStyle/>
          <a:p>
            <a:pPr marL="457200" indent="-457200">
              <a:buFont typeface="Arial" panose="020B0604020202020204" pitchFamily="34" charset="0"/>
              <a:buChar char="•"/>
            </a:pPr>
            <a:r>
              <a:rPr kumimoji="1" lang="zh-CN" altLang="en-US" sz="2400" dirty="0">
                <a:solidFill>
                  <a:schemeClr val="accent3"/>
                </a:solidFill>
                <a:latin typeface="Consolas" panose="020B0609020204030204" pitchFamily="49" charset="0"/>
                <a:cs typeface="Consolas" panose="020B0609020204030204" pitchFamily="49" charset="0"/>
              </a:rPr>
              <a:t>在实验报告中性能分析（</a:t>
            </a:r>
            <a:r>
              <a:rPr kumimoji="1" lang="en-US" altLang="zh-CN" sz="2400" dirty="0">
                <a:solidFill>
                  <a:schemeClr val="accent3"/>
                </a:solidFill>
                <a:latin typeface="Consolas" panose="020B0609020204030204" pitchFamily="49" charset="0"/>
                <a:cs typeface="Consolas" panose="020B0609020204030204" pitchFamily="49" charset="0"/>
              </a:rPr>
              <a:t>10</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zh-CN" altLang="en-US" dirty="0">
              <a:latin typeface="Consolas" panose="020B0609020204030204" pitchFamily="49" charset="0"/>
              <a:cs typeface="Consolas" panose="020B0609020204030204" pitchFamily="49" charset="0"/>
            </a:endParaRPr>
          </a:p>
        </p:txBody>
      </p:sp>
      <p:sp>
        <p:nvSpPr>
          <p:cNvPr id="8" name="文本框 7">
            <a:extLst>
              <a:ext uri="{FF2B5EF4-FFF2-40B4-BE49-F238E27FC236}">
                <a16:creationId xmlns:a16="http://schemas.microsoft.com/office/drawing/2014/main" id="{D56421D1-0F87-C489-FA23-7718B760998F}"/>
              </a:ext>
            </a:extLst>
          </p:cNvPr>
          <p:cNvSpPr txBox="1"/>
          <p:nvPr/>
        </p:nvSpPr>
        <p:spPr>
          <a:xfrm>
            <a:off x="9591171" y="1708205"/>
            <a:ext cx="2196435" cy="646331"/>
          </a:xfrm>
          <a:prstGeom prst="rect">
            <a:avLst/>
          </a:prstGeom>
          <a:noFill/>
          <a:ln>
            <a:solidFill>
              <a:schemeClr val="tx1"/>
            </a:solidFill>
          </a:ln>
        </p:spPr>
        <p:txBody>
          <a:bodyPr wrap="none" rtlCol="0">
            <a:spAutoFit/>
          </a:bodyPr>
          <a:lstStyle/>
          <a:p>
            <a:r>
              <a:rPr kumimoji="1" lang="zh-CN" altLang="en-US" dirty="0"/>
              <a:t>完成后运行</a:t>
            </a:r>
            <a:endParaRPr kumimoji="1" lang="en-US" altLang="zh-CN" dirty="0"/>
          </a:p>
          <a:p>
            <a:r>
              <a:rPr kumimoji="1" lang="en-US" altLang="zh-CN" dirty="0"/>
              <a:t>bin/</a:t>
            </a:r>
            <a:r>
              <a:rPr kumimoji="1" lang="en-US" altLang="zh-CN" dirty="0" err="1"/>
              <a:t>binary_search</a:t>
            </a:r>
            <a:endParaRPr kumimoji="1" lang="en-US" altLang="zh-CN" dirty="0"/>
          </a:p>
        </p:txBody>
      </p:sp>
      <p:sp>
        <p:nvSpPr>
          <p:cNvPr id="7" name="文本框 6">
            <a:extLst>
              <a:ext uri="{FF2B5EF4-FFF2-40B4-BE49-F238E27FC236}">
                <a16:creationId xmlns:a16="http://schemas.microsoft.com/office/drawing/2014/main" id="{A8C0FCFF-D0A5-26AB-3AD2-6A4A00864657}"/>
              </a:ext>
            </a:extLst>
          </p:cNvPr>
          <p:cNvSpPr txBox="1"/>
          <p:nvPr/>
        </p:nvSpPr>
        <p:spPr>
          <a:xfrm>
            <a:off x="662189" y="1892871"/>
            <a:ext cx="7939994" cy="461665"/>
          </a:xfrm>
          <a:prstGeom prst="rect">
            <a:avLst/>
          </a:prstGeom>
          <a:noFill/>
        </p:spPr>
        <p:txBody>
          <a:bodyPr wrap="none" rtlCol="0">
            <a:spAutoFit/>
          </a:bodyPr>
          <a:lstStyle/>
          <a:p>
            <a:pPr marL="457200" indent="-457200">
              <a:buFont typeface="Arial" panose="020B0604020202020204" pitchFamily="34" charset="0"/>
              <a:buChar char="•"/>
            </a:pPr>
            <a:r>
              <a:rPr kumimoji="1" lang="zh-CN" altLang="en-US" sz="2400" dirty="0">
                <a:solidFill>
                  <a:schemeClr val="accent3"/>
                </a:solidFill>
                <a:latin typeface="Consolas" panose="020B0609020204030204" pitchFamily="49" charset="0"/>
                <a:cs typeface="Consolas" panose="020B0609020204030204" pitchFamily="49" charset="0"/>
              </a:rPr>
              <a:t>在</a:t>
            </a:r>
            <a:r>
              <a:rPr kumimoji="1" lang="en-US" altLang="zh-CN" sz="2400" dirty="0" err="1">
                <a:solidFill>
                  <a:schemeClr val="accent3"/>
                </a:solidFill>
                <a:latin typeface="Consolas" panose="020B0609020204030204" pitchFamily="49" charset="0"/>
                <a:cs typeface="Consolas" panose="020B0609020204030204" pitchFamily="49" charset="0"/>
              </a:rPr>
              <a:t>src</a:t>
            </a:r>
            <a:r>
              <a:rPr kumimoji="1" lang="en-US" altLang="zh-CN" sz="2400" dirty="0">
                <a:solidFill>
                  <a:schemeClr val="accent3"/>
                </a:solidFill>
                <a:latin typeface="Consolas" panose="020B0609020204030204" pitchFamily="49" charset="0"/>
                <a:cs typeface="Consolas" panose="020B0609020204030204" pitchFamily="49" charset="0"/>
              </a:rPr>
              <a:t>/</a:t>
            </a:r>
            <a:r>
              <a:rPr kumimoji="1" lang="en-US" altLang="zh-CN" sz="2400" dirty="0" err="1">
                <a:solidFill>
                  <a:schemeClr val="accent3"/>
                </a:solidFill>
                <a:latin typeface="Consolas" panose="020B0609020204030204" pitchFamily="49" charset="0"/>
                <a:cs typeface="Consolas" panose="020B0609020204030204" pitchFamily="49" charset="0"/>
              </a:rPr>
              <a:t>binary_search.cpp</a:t>
            </a:r>
            <a:r>
              <a:rPr kumimoji="1" lang="zh-CN" altLang="en-US" sz="2400" dirty="0">
                <a:solidFill>
                  <a:schemeClr val="accent3"/>
                </a:solidFill>
                <a:latin typeface="Consolas" panose="020B0609020204030204" pitchFamily="49" charset="0"/>
                <a:cs typeface="Consolas" panose="020B0609020204030204" pitchFamily="49" charset="0"/>
              </a:rPr>
              <a:t> 中使用协程优化（</a:t>
            </a:r>
            <a:r>
              <a:rPr kumimoji="1" lang="en-US" altLang="zh-CN" sz="2400" dirty="0">
                <a:solidFill>
                  <a:schemeClr val="accent3"/>
                </a:solidFill>
                <a:latin typeface="Consolas" panose="020B0609020204030204" pitchFamily="49" charset="0"/>
                <a:cs typeface="Consolas" panose="020B0609020204030204" pitchFamily="49" charset="0"/>
              </a:rPr>
              <a:t>5</a:t>
            </a:r>
            <a:r>
              <a:rPr kumimoji="1" lang="zh-CN" altLang="en-US" sz="2400" dirty="0">
                <a:solidFill>
                  <a:schemeClr val="accent3"/>
                </a:solidFill>
                <a:latin typeface="Consolas" panose="020B0609020204030204" pitchFamily="49" charset="0"/>
                <a:cs typeface="Consolas" panose="020B0609020204030204" pitchFamily="49" charset="0"/>
              </a:rPr>
              <a:t>分）</a:t>
            </a:r>
            <a:endParaRPr kumimoji="1" lang="en-US" altLang="zh-CN" sz="2400" dirty="0">
              <a:solidFill>
                <a:schemeClr val="accent3"/>
              </a:solidFill>
              <a:latin typeface="Consolas" panose="020B0609020204030204" pitchFamily="49" charset="0"/>
              <a:cs typeface="Consolas" panose="020B0609020204030204" pitchFamily="49" charset="0"/>
            </a:endParaRPr>
          </a:p>
        </p:txBody>
      </p:sp>
      <p:sp>
        <p:nvSpPr>
          <p:cNvPr id="6" name="文本框 5">
            <a:extLst>
              <a:ext uri="{FF2B5EF4-FFF2-40B4-BE49-F238E27FC236}">
                <a16:creationId xmlns:a16="http://schemas.microsoft.com/office/drawing/2014/main" id="{B21E8229-7012-88A6-700A-4DC7D36D117F}"/>
              </a:ext>
            </a:extLst>
          </p:cNvPr>
          <p:cNvSpPr txBox="1"/>
          <p:nvPr/>
        </p:nvSpPr>
        <p:spPr>
          <a:xfrm>
            <a:off x="779387" y="3583995"/>
            <a:ext cx="4589718" cy="646331"/>
          </a:xfrm>
          <a:prstGeom prst="rect">
            <a:avLst/>
          </a:prstGeom>
          <a:noFill/>
        </p:spPr>
        <p:txBody>
          <a:bodyPr wrap="square" rtlCol="0">
            <a:spAutoFit/>
          </a:bodyPr>
          <a:lstStyle/>
          <a:p>
            <a:r>
              <a:rPr kumimoji="1" lang="zh-CN" altLang="en-US" dirty="0"/>
              <a:t>二分搜索核心函数需要频繁的不规则访存，会导致</a:t>
            </a:r>
            <a:r>
              <a:rPr kumimoji="1" lang="en-US" altLang="zh-CN" dirty="0"/>
              <a:t> Cache</a:t>
            </a:r>
            <a:r>
              <a:rPr kumimoji="1" lang="zh-CN" altLang="en-US" dirty="0"/>
              <a:t> </a:t>
            </a:r>
            <a:r>
              <a:rPr kumimoji="1" lang="en-US" altLang="zh-CN" dirty="0"/>
              <a:t>miss</a:t>
            </a:r>
            <a:r>
              <a:rPr kumimoji="1" lang="zh-CN" altLang="en-US" dirty="0"/>
              <a:t> ，影响程序执行效率</a:t>
            </a:r>
          </a:p>
        </p:txBody>
      </p:sp>
      <p:graphicFrame>
        <p:nvGraphicFramePr>
          <p:cNvPr id="9" name="表格 9">
            <a:extLst>
              <a:ext uri="{FF2B5EF4-FFF2-40B4-BE49-F238E27FC236}">
                <a16:creationId xmlns:a16="http://schemas.microsoft.com/office/drawing/2014/main" id="{C5535857-7838-A300-BDFC-AAB0C88C2A67}"/>
              </a:ext>
            </a:extLst>
          </p:cNvPr>
          <p:cNvGraphicFramePr>
            <a:graphicFrameLocks noGrp="1"/>
          </p:cNvGraphicFramePr>
          <p:nvPr>
            <p:extLst>
              <p:ext uri="{D42A27DB-BD31-4B8C-83A1-F6EECF244321}">
                <p14:modId xmlns:p14="http://schemas.microsoft.com/office/powerpoint/2010/main" val="1684368261"/>
              </p:ext>
            </p:extLst>
          </p:nvPr>
        </p:nvGraphicFramePr>
        <p:xfrm>
          <a:off x="1109783" y="4367909"/>
          <a:ext cx="3830454" cy="649697"/>
        </p:xfrm>
        <a:graphic>
          <a:graphicData uri="http://schemas.openxmlformats.org/drawingml/2006/table">
            <a:tbl>
              <a:tblPr firstRow="1" bandRow="1">
                <a:tableStyleId>{5C22544A-7EE6-4342-B048-85BDC9FD1C3A}</a:tableStyleId>
              </a:tblPr>
              <a:tblGrid>
                <a:gridCol w="638409">
                  <a:extLst>
                    <a:ext uri="{9D8B030D-6E8A-4147-A177-3AD203B41FA5}">
                      <a16:colId xmlns:a16="http://schemas.microsoft.com/office/drawing/2014/main" val="1673868206"/>
                    </a:ext>
                  </a:extLst>
                </a:gridCol>
                <a:gridCol w="638409">
                  <a:extLst>
                    <a:ext uri="{9D8B030D-6E8A-4147-A177-3AD203B41FA5}">
                      <a16:colId xmlns:a16="http://schemas.microsoft.com/office/drawing/2014/main" val="54139024"/>
                    </a:ext>
                  </a:extLst>
                </a:gridCol>
                <a:gridCol w="638409">
                  <a:extLst>
                    <a:ext uri="{9D8B030D-6E8A-4147-A177-3AD203B41FA5}">
                      <a16:colId xmlns:a16="http://schemas.microsoft.com/office/drawing/2014/main" val="3214155719"/>
                    </a:ext>
                  </a:extLst>
                </a:gridCol>
                <a:gridCol w="638409">
                  <a:extLst>
                    <a:ext uri="{9D8B030D-6E8A-4147-A177-3AD203B41FA5}">
                      <a16:colId xmlns:a16="http://schemas.microsoft.com/office/drawing/2014/main" val="1371788204"/>
                    </a:ext>
                  </a:extLst>
                </a:gridCol>
                <a:gridCol w="638409">
                  <a:extLst>
                    <a:ext uri="{9D8B030D-6E8A-4147-A177-3AD203B41FA5}">
                      <a16:colId xmlns:a16="http://schemas.microsoft.com/office/drawing/2014/main" val="1062754705"/>
                    </a:ext>
                  </a:extLst>
                </a:gridCol>
                <a:gridCol w="638409">
                  <a:extLst>
                    <a:ext uri="{9D8B030D-6E8A-4147-A177-3AD203B41FA5}">
                      <a16:colId xmlns:a16="http://schemas.microsoft.com/office/drawing/2014/main" val="393977227"/>
                    </a:ext>
                  </a:extLst>
                </a:gridCol>
              </a:tblGrid>
              <a:tr h="649697">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4084454"/>
                  </a:ext>
                </a:extLst>
              </a:tr>
            </a:tbl>
          </a:graphicData>
        </a:graphic>
      </p:graphicFrame>
      <p:sp>
        <p:nvSpPr>
          <p:cNvPr id="10" name="文本框 9">
            <a:extLst>
              <a:ext uri="{FF2B5EF4-FFF2-40B4-BE49-F238E27FC236}">
                <a16:creationId xmlns:a16="http://schemas.microsoft.com/office/drawing/2014/main" id="{CD941815-08AA-FB68-A10E-0CF2A866F62B}"/>
              </a:ext>
            </a:extLst>
          </p:cNvPr>
          <p:cNvSpPr txBox="1"/>
          <p:nvPr/>
        </p:nvSpPr>
        <p:spPr>
          <a:xfrm>
            <a:off x="1258785" y="4990755"/>
            <a:ext cx="292068" cy="369332"/>
          </a:xfrm>
          <a:prstGeom prst="rect">
            <a:avLst/>
          </a:prstGeom>
          <a:noFill/>
        </p:spPr>
        <p:txBody>
          <a:bodyPr wrap="none" rtlCol="0">
            <a:spAutoFit/>
          </a:bodyPr>
          <a:lstStyle/>
          <a:p>
            <a:r>
              <a:rPr kumimoji="1" lang="en-US" altLang="zh-CN" dirty="0"/>
              <a:t>L</a:t>
            </a:r>
            <a:endParaRPr kumimoji="1" lang="zh-CN" altLang="en-US" dirty="0"/>
          </a:p>
        </p:txBody>
      </p:sp>
      <p:sp>
        <p:nvSpPr>
          <p:cNvPr id="11" name="文本框 10">
            <a:extLst>
              <a:ext uri="{FF2B5EF4-FFF2-40B4-BE49-F238E27FC236}">
                <a16:creationId xmlns:a16="http://schemas.microsoft.com/office/drawing/2014/main" id="{4B5C5357-A8F8-F250-41C1-D1532C6DC00E}"/>
              </a:ext>
            </a:extLst>
          </p:cNvPr>
          <p:cNvSpPr txBox="1"/>
          <p:nvPr/>
        </p:nvSpPr>
        <p:spPr>
          <a:xfrm>
            <a:off x="4470122" y="4948126"/>
            <a:ext cx="324128" cy="369332"/>
          </a:xfrm>
          <a:prstGeom prst="rect">
            <a:avLst/>
          </a:prstGeom>
          <a:noFill/>
        </p:spPr>
        <p:txBody>
          <a:bodyPr wrap="none" rtlCol="0">
            <a:spAutoFit/>
          </a:bodyPr>
          <a:lstStyle/>
          <a:p>
            <a:r>
              <a:rPr kumimoji="1" lang="en-US" altLang="zh-CN" dirty="0"/>
              <a:t>R</a:t>
            </a:r>
            <a:endParaRPr kumimoji="1" lang="zh-CN" altLang="en-US" dirty="0"/>
          </a:p>
        </p:txBody>
      </p:sp>
      <p:sp>
        <p:nvSpPr>
          <p:cNvPr id="13" name="文本框 12">
            <a:extLst>
              <a:ext uri="{FF2B5EF4-FFF2-40B4-BE49-F238E27FC236}">
                <a16:creationId xmlns:a16="http://schemas.microsoft.com/office/drawing/2014/main" id="{3CA99B74-AA80-235C-F9F9-DED08BCDA7C9}"/>
              </a:ext>
            </a:extLst>
          </p:cNvPr>
          <p:cNvSpPr txBox="1"/>
          <p:nvPr/>
        </p:nvSpPr>
        <p:spPr>
          <a:xfrm>
            <a:off x="2418754" y="4990755"/>
            <a:ext cx="606256" cy="369332"/>
          </a:xfrm>
          <a:prstGeom prst="rect">
            <a:avLst/>
          </a:prstGeom>
          <a:noFill/>
        </p:spPr>
        <p:txBody>
          <a:bodyPr wrap="none" rtlCol="0">
            <a:spAutoFit/>
          </a:bodyPr>
          <a:lstStyle/>
          <a:p>
            <a:r>
              <a:rPr kumimoji="1" lang="en-US" altLang="zh-CN" dirty="0"/>
              <a:t>mid</a:t>
            </a:r>
          </a:p>
        </p:txBody>
      </p:sp>
      <p:sp>
        <p:nvSpPr>
          <p:cNvPr id="14" name="文本框 13">
            <a:extLst>
              <a:ext uri="{FF2B5EF4-FFF2-40B4-BE49-F238E27FC236}">
                <a16:creationId xmlns:a16="http://schemas.microsoft.com/office/drawing/2014/main" id="{4837A7E3-7FB4-61BD-6C5A-3399AC3AE3FB}"/>
              </a:ext>
            </a:extLst>
          </p:cNvPr>
          <p:cNvSpPr txBox="1"/>
          <p:nvPr/>
        </p:nvSpPr>
        <p:spPr>
          <a:xfrm>
            <a:off x="782047" y="5592623"/>
            <a:ext cx="4589718" cy="646331"/>
          </a:xfrm>
          <a:prstGeom prst="rect">
            <a:avLst/>
          </a:prstGeom>
          <a:noFill/>
          <a:ln w="19050">
            <a:solidFill>
              <a:schemeClr val="tx1"/>
            </a:solidFill>
          </a:ln>
        </p:spPr>
        <p:txBody>
          <a:bodyPr wrap="none" rtlCol="0">
            <a:spAutoFit/>
          </a:bodyPr>
          <a:lstStyle/>
          <a:p>
            <a:r>
              <a:rPr kumimoji="1" lang="zh-CN" altLang="en-US" dirty="0"/>
              <a:t>提示：通过</a:t>
            </a:r>
            <a:r>
              <a:rPr kumimoji="1" lang="en-US" altLang="zh-CN" dirty="0"/>
              <a:t>【</a:t>
            </a:r>
            <a:r>
              <a:rPr kumimoji="1" lang="zh-CN" altLang="en-US" dirty="0"/>
              <a:t>预取后切出</a:t>
            </a:r>
            <a:r>
              <a:rPr kumimoji="1" lang="en-US" altLang="zh-CN" dirty="0"/>
              <a:t>】</a:t>
            </a:r>
            <a:r>
              <a:rPr kumimoji="1" lang="zh-CN" altLang="en-US" dirty="0"/>
              <a:t>优化搜索函数</a:t>
            </a:r>
            <a:endParaRPr kumimoji="1" lang="en-US" altLang="zh-CN" dirty="0"/>
          </a:p>
          <a:p>
            <a:r>
              <a:rPr kumimoji="1" lang="zh-CN" altLang="en-US" dirty="0"/>
              <a:t>预取指令：</a:t>
            </a:r>
            <a:r>
              <a:rPr lang="en" altLang="zh-CN" b="0" dirty="0">
                <a:solidFill>
                  <a:srgbClr val="6A9955"/>
                </a:solidFill>
                <a:effectLst/>
                <a:latin typeface="Menlo" panose="020B0609030804020204" pitchFamily="49" charset="0"/>
              </a:rPr>
              <a:t>__</a:t>
            </a:r>
            <a:r>
              <a:rPr lang="en" altLang="zh-CN" b="0" dirty="0" err="1">
                <a:solidFill>
                  <a:srgbClr val="6A9955"/>
                </a:solidFill>
                <a:effectLst/>
                <a:latin typeface="Menlo" panose="020B0609030804020204" pitchFamily="49" charset="0"/>
              </a:rPr>
              <a:t>builtin_prefetch</a:t>
            </a:r>
            <a:r>
              <a:rPr kumimoji="1" lang="en-US" altLang="zh-CN" b="0" dirty="0">
                <a:solidFill>
                  <a:srgbClr val="6A9955"/>
                </a:solidFill>
                <a:effectLst/>
                <a:latin typeface="Menlo" panose="020B0609030804020204" pitchFamily="49" charset="0"/>
              </a:rPr>
              <a:t>(</a:t>
            </a:r>
            <a:r>
              <a:rPr kumimoji="1" lang="zh-CN" altLang="en-US" dirty="0">
                <a:solidFill>
                  <a:srgbClr val="6A9955"/>
                </a:solidFill>
                <a:latin typeface="Menlo" panose="020B0609030804020204" pitchFamily="49" charset="0"/>
              </a:rPr>
              <a:t>地址</a:t>
            </a:r>
            <a:r>
              <a:rPr kumimoji="1" lang="en-US" altLang="zh-CN" b="0" dirty="0">
                <a:solidFill>
                  <a:srgbClr val="6A9955"/>
                </a:solidFill>
                <a:effectLst/>
                <a:latin typeface="Menlo" panose="020B0609030804020204" pitchFamily="49" charset="0"/>
              </a:rPr>
              <a:t>)</a:t>
            </a:r>
            <a:endParaRPr lang="en" altLang="zh-CN" b="0" dirty="0">
              <a:solidFill>
                <a:srgbClr val="D4D4D4"/>
              </a:solidFill>
              <a:effectLst/>
              <a:latin typeface="Menlo" panose="020B0609030804020204" pitchFamily="49" charset="0"/>
            </a:endParaRPr>
          </a:p>
        </p:txBody>
      </p:sp>
      <p:grpSp>
        <p:nvGrpSpPr>
          <p:cNvPr id="12" name="组合 11">
            <a:extLst>
              <a:ext uri="{FF2B5EF4-FFF2-40B4-BE49-F238E27FC236}">
                <a16:creationId xmlns:a16="http://schemas.microsoft.com/office/drawing/2014/main" id="{FF015099-D883-0B5F-49F4-8A17D972B570}"/>
              </a:ext>
            </a:extLst>
          </p:cNvPr>
          <p:cNvGrpSpPr/>
          <p:nvPr/>
        </p:nvGrpSpPr>
        <p:grpSpPr>
          <a:xfrm>
            <a:off x="5849801" y="2826314"/>
            <a:ext cx="5937805" cy="3533205"/>
            <a:chOff x="5140557" y="1784251"/>
            <a:chExt cx="6510294" cy="3890992"/>
          </a:xfrm>
        </p:grpSpPr>
        <p:pic>
          <p:nvPicPr>
            <p:cNvPr id="15" name="Picture 2" descr="这里写图片描述">
              <a:extLst>
                <a:ext uri="{FF2B5EF4-FFF2-40B4-BE49-F238E27FC236}">
                  <a16:creationId xmlns:a16="http://schemas.microsoft.com/office/drawing/2014/main" id="{E5535F18-E786-9D61-52D1-78492213D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0557" y="1784251"/>
              <a:ext cx="6510294" cy="389099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接箭头连接符 15">
              <a:extLst>
                <a:ext uri="{FF2B5EF4-FFF2-40B4-BE49-F238E27FC236}">
                  <a16:creationId xmlns:a16="http://schemas.microsoft.com/office/drawing/2014/main" id="{FCFC9CCC-5323-4EE8-D411-46619884234C}"/>
                </a:ext>
              </a:extLst>
            </p:cNvPr>
            <p:cNvCxnSpPr/>
            <p:nvPr/>
          </p:nvCxnSpPr>
          <p:spPr>
            <a:xfrm>
              <a:off x="7007087" y="2077278"/>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94A34D6-5409-5A53-7027-6782EFDFE1E5}"/>
                </a:ext>
              </a:extLst>
            </p:cNvPr>
            <p:cNvCxnSpPr/>
            <p:nvPr/>
          </p:nvCxnSpPr>
          <p:spPr>
            <a:xfrm>
              <a:off x="6722165" y="2587487"/>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041190C-70D8-A18B-BE4F-FA679F3ED78C}"/>
                </a:ext>
              </a:extLst>
            </p:cNvPr>
            <p:cNvCxnSpPr/>
            <p:nvPr/>
          </p:nvCxnSpPr>
          <p:spPr>
            <a:xfrm>
              <a:off x="6445732" y="3127513"/>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96731F2D-FDF2-DA81-D07C-8F3708A94DC9}"/>
                </a:ext>
              </a:extLst>
            </p:cNvPr>
            <p:cNvCxnSpPr/>
            <p:nvPr/>
          </p:nvCxnSpPr>
          <p:spPr>
            <a:xfrm>
              <a:off x="6202017" y="3664227"/>
              <a:ext cx="4373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4FADE647-D3E3-452B-6F89-E4B9623D64D4}"/>
                </a:ext>
              </a:extLst>
            </p:cNvPr>
            <p:cNvSpPr txBox="1"/>
            <p:nvPr/>
          </p:nvSpPr>
          <p:spPr>
            <a:xfrm>
              <a:off x="6374291" y="1790294"/>
              <a:ext cx="3588026" cy="276999"/>
            </a:xfrm>
            <a:prstGeom prst="rect">
              <a:avLst/>
            </a:prstGeom>
            <a:noFill/>
          </p:spPr>
          <p:txBody>
            <a:bodyPr wrap="square" rtlCol="0">
              <a:spAutoFit/>
            </a:bodyPr>
            <a:lstStyle/>
            <a:p>
              <a:r>
                <a:rPr lang="en-US" altLang="zh-CN" sz="1200" dirty="0">
                  <a:latin typeface="+mj-ea"/>
                  <a:ea typeface="+mj-ea"/>
                </a:rPr>
                <a:t>~1cycle 0.25ns</a:t>
              </a:r>
              <a:endParaRPr lang="zh-CN" altLang="en-US" sz="1200" dirty="0">
                <a:latin typeface="+mj-ea"/>
                <a:ea typeface="+mj-ea"/>
              </a:endParaRPr>
            </a:p>
          </p:txBody>
        </p:sp>
        <p:sp>
          <p:nvSpPr>
            <p:cNvPr id="21" name="文本框 20">
              <a:extLst>
                <a:ext uri="{FF2B5EF4-FFF2-40B4-BE49-F238E27FC236}">
                  <a16:creationId xmlns:a16="http://schemas.microsoft.com/office/drawing/2014/main" id="{CE02C6B5-127B-47BB-BFF1-06DA66C7601C}"/>
                </a:ext>
              </a:extLst>
            </p:cNvPr>
            <p:cNvSpPr txBox="1"/>
            <p:nvPr/>
          </p:nvSpPr>
          <p:spPr>
            <a:xfrm>
              <a:off x="6125816" y="2303697"/>
              <a:ext cx="3588026" cy="276999"/>
            </a:xfrm>
            <a:prstGeom prst="rect">
              <a:avLst/>
            </a:prstGeom>
            <a:noFill/>
          </p:spPr>
          <p:txBody>
            <a:bodyPr wrap="square" rtlCol="0">
              <a:spAutoFit/>
            </a:bodyPr>
            <a:lstStyle/>
            <a:p>
              <a:r>
                <a:rPr lang="en-US" altLang="zh-CN" sz="1200" dirty="0">
                  <a:latin typeface="+mj-ea"/>
                  <a:ea typeface="+mj-ea"/>
                </a:rPr>
                <a:t>~ 4cycles 1ns</a:t>
              </a:r>
              <a:endParaRPr lang="zh-CN" altLang="en-US" sz="1200" dirty="0">
                <a:latin typeface="+mj-ea"/>
                <a:ea typeface="+mj-ea"/>
              </a:endParaRPr>
            </a:p>
          </p:txBody>
        </p:sp>
        <p:sp>
          <p:nvSpPr>
            <p:cNvPr id="22" name="文本框 21">
              <a:extLst>
                <a:ext uri="{FF2B5EF4-FFF2-40B4-BE49-F238E27FC236}">
                  <a16:creationId xmlns:a16="http://schemas.microsoft.com/office/drawing/2014/main" id="{65195854-C390-1F40-025B-1D56EA0D6C49}"/>
                </a:ext>
              </a:extLst>
            </p:cNvPr>
            <p:cNvSpPr txBox="1"/>
            <p:nvPr/>
          </p:nvSpPr>
          <p:spPr>
            <a:xfrm>
              <a:off x="5900947" y="2848197"/>
              <a:ext cx="3588026" cy="276999"/>
            </a:xfrm>
            <a:prstGeom prst="rect">
              <a:avLst/>
            </a:prstGeom>
            <a:noFill/>
          </p:spPr>
          <p:txBody>
            <a:bodyPr wrap="square" rtlCol="0">
              <a:spAutoFit/>
            </a:bodyPr>
            <a:lstStyle/>
            <a:p>
              <a:r>
                <a:rPr lang="en-US" altLang="zh-CN" sz="1200" dirty="0">
                  <a:latin typeface="+mj-ea"/>
                  <a:ea typeface="+mj-ea"/>
                </a:rPr>
                <a:t>~14cycles 3.5ns</a:t>
              </a:r>
              <a:endParaRPr lang="zh-CN" altLang="en-US" sz="1200" dirty="0">
                <a:latin typeface="+mj-ea"/>
                <a:ea typeface="+mj-ea"/>
              </a:endParaRPr>
            </a:p>
          </p:txBody>
        </p:sp>
        <p:sp>
          <p:nvSpPr>
            <p:cNvPr id="23" name="文本框 22">
              <a:extLst>
                <a:ext uri="{FF2B5EF4-FFF2-40B4-BE49-F238E27FC236}">
                  <a16:creationId xmlns:a16="http://schemas.microsoft.com/office/drawing/2014/main" id="{8EED1DE6-6E3A-D8FE-70E2-5B4DDF13D6EB}"/>
                </a:ext>
              </a:extLst>
            </p:cNvPr>
            <p:cNvSpPr txBox="1"/>
            <p:nvPr/>
          </p:nvSpPr>
          <p:spPr>
            <a:xfrm>
              <a:off x="5650395" y="3358914"/>
              <a:ext cx="3588026" cy="276999"/>
            </a:xfrm>
            <a:prstGeom prst="rect">
              <a:avLst/>
            </a:prstGeom>
            <a:noFill/>
          </p:spPr>
          <p:txBody>
            <a:bodyPr wrap="square" rtlCol="0">
              <a:spAutoFit/>
            </a:bodyPr>
            <a:lstStyle/>
            <a:p>
              <a:r>
                <a:rPr lang="en-US" altLang="zh-CN" sz="1200" dirty="0">
                  <a:latin typeface="+mj-ea"/>
                  <a:ea typeface="+mj-ea"/>
                </a:rPr>
                <a:t>~50 cycles 12ns</a:t>
              </a:r>
              <a:endParaRPr lang="zh-CN" altLang="en-US" sz="1200" dirty="0">
                <a:latin typeface="+mj-ea"/>
                <a:ea typeface="+mj-ea"/>
              </a:endParaRPr>
            </a:p>
          </p:txBody>
        </p:sp>
        <p:sp>
          <p:nvSpPr>
            <p:cNvPr id="24" name="文本框 23">
              <a:extLst>
                <a:ext uri="{FF2B5EF4-FFF2-40B4-BE49-F238E27FC236}">
                  <a16:creationId xmlns:a16="http://schemas.microsoft.com/office/drawing/2014/main" id="{EBD97E57-785F-FEB3-7E6D-BD1E43F0E69D}"/>
                </a:ext>
              </a:extLst>
            </p:cNvPr>
            <p:cNvSpPr txBox="1"/>
            <p:nvPr/>
          </p:nvSpPr>
          <p:spPr>
            <a:xfrm>
              <a:off x="6525038" y="4292340"/>
              <a:ext cx="2206487" cy="276999"/>
            </a:xfrm>
            <a:prstGeom prst="rect">
              <a:avLst/>
            </a:prstGeom>
            <a:noFill/>
          </p:spPr>
          <p:txBody>
            <a:bodyPr wrap="square" rtlCol="0">
              <a:spAutoFit/>
            </a:bodyPr>
            <a:lstStyle/>
            <a:p>
              <a:r>
                <a:rPr lang="en-US" altLang="zh-CN" sz="1200" dirty="0">
                  <a:latin typeface="+mj-ea"/>
                  <a:ea typeface="+mj-ea"/>
                </a:rPr>
                <a:t>~300 cycles 80ns</a:t>
              </a:r>
              <a:endParaRPr lang="zh-CN" altLang="en-US" sz="1200" dirty="0">
                <a:latin typeface="+mj-ea"/>
                <a:ea typeface="+mj-ea"/>
              </a:endParaRPr>
            </a:p>
          </p:txBody>
        </p:sp>
        <p:sp>
          <p:nvSpPr>
            <p:cNvPr id="25" name="文本框 24">
              <a:extLst>
                <a:ext uri="{FF2B5EF4-FFF2-40B4-BE49-F238E27FC236}">
                  <a16:creationId xmlns:a16="http://schemas.microsoft.com/office/drawing/2014/main" id="{ED874342-6989-33CA-4156-B4C838DEDAB6}"/>
                </a:ext>
              </a:extLst>
            </p:cNvPr>
            <p:cNvSpPr txBox="1"/>
            <p:nvPr/>
          </p:nvSpPr>
          <p:spPr>
            <a:xfrm>
              <a:off x="6260405" y="4845291"/>
              <a:ext cx="2206487" cy="276999"/>
            </a:xfrm>
            <a:prstGeom prst="rect">
              <a:avLst/>
            </a:prstGeom>
            <a:noFill/>
          </p:spPr>
          <p:txBody>
            <a:bodyPr wrap="square" rtlCol="0">
              <a:spAutoFit/>
            </a:bodyPr>
            <a:lstStyle/>
            <a:p>
              <a:r>
                <a:rPr lang="en-US" altLang="zh-CN" sz="1200" dirty="0">
                  <a:latin typeface="+mj-ea"/>
                  <a:ea typeface="+mj-ea"/>
                </a:rPr>
                <a:t>~10</a:t>
              </a:r>
              <a:r>
                <a:rPr lang="en-US" altLang="zh-CN" sz="1200" baseline="30000" dirty="0">
                  <a:latin typeface="+mj-ea"/>
                  <a:ea typeface="+mj-ea"/>
                </a:rPr>
                <a:t>6</a:t>
              </a:r>
              <a:r>
                <a:rPr lang="en-US" altLang="zh-CN" sz="1200" dirty="0">
                  <a:latin typeface="+mj-ea"/>
                  <a:ea typeface="+mj-ea"/>
                </a:rPr>
                <a:t> cycles 0.2ms</a:t>
              </a:r>
              <a:endParaRPr lang="zh-CN" altLang="en-US" sz="1200" dirty="0">
                <a:latin typeface="+mj-ea"/>
                <a:ea typeface="+mj-ea"/>
              </a:endParaRPr>
            </a:p>
          </p:txBody>
        </p:sp>
        <p:sp>
          <p:nvSpPr>
            <p:cNvPr id="26" name="文本框 25">
              <a:extLst>
                <a:ext uri="{FF2B5EF4-FFF2-40B4-BE49-F238E27FC236}">
                  <a16:creationId xmlns:a16="http://schemas.microsoft.com/office/drawing/2014/main" id="{B20C6B04-4090-0859-F503-E7CE7CD1D5F6}"/>
                </a:ext>
              </a:extLst>
            </p:cNvPr>
            <p:cNvSpPr txBox="1"/>
            <p:nvPr/>
          </p:nvSpPr>
          <p:spPr>
            <a:xfrm>
              <a:off x="6125816" y="5360143"/>
              <a:ext cx="2206487" cy="276999"/>
            </a:xfrm>
            <a:prstGeom prst="rect">
              <a:avLst/>
            </a:prstGeom>
            <a:noFill/>
          </p:spPr>
          <p:txBody>
            <a:bodyPr wrap="square" rtlCol="0">
              <a:spAutoFit/>
            </a:bodyPr>
            <a:lstStyle/>
            <a:p>
              <a:r>
                <a:rPr lang="en-US" altLang="zh-CN" sz="1200" dirty="0">
                  <a:latin typeface="+mj-ea"/>
                  <a:ea typeface="+mj-ea"/>
                </a:rPr>
                <a:t>&gt; 1s</a:t>
              </a:r>
              <a:endParaRPr lang="zh-CN" altLang="en-US" sz="1200" dirty="0">
                <a:latin typeface="+mj-ea"/>
                <a:ea typeface="+mj-ea"/>
              </a:endParaRPr>
            </a:p>
          </p:txBody>
        </p:sp>
      </p:grpSp>
    </p:spTree>
    <p:extLst>
      <p:ext uri="{BB962C8B-B14F-4D97-AF65-F5344CB8AC3E}">
        <p14:creationId xmlns:p14="http://schemas.microsoft.com/office/powerpoint/2010/main" val="1735797401"/>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224878-C13A-40F4-AE81-80A17F13DE3E}"/>
              </a:ext>
            </a:extLst>
          </p:cNvPr>
          <p:cNvSpPr txBox="1"/>
          <p:nvPr/>
        </p:nvSpPr>
        <p:spPr>
          <a:xfrm>
            <a:off x="3008721" y="3075057"/>
            <a:ext cx="6174557" cy="707886"/>
          </a:xfrm>
          <a:prstGeom prst="rect">
            <a:avLst/>
          </a:prstGeom>
          <a:noFill/>
        </p:spPr>
        <p:txBody>
          <a:bodyPr wrap="square" rtlCol="0">
            <a:spAutoFit/>
          </a:bodyPr>
          <a:lstStyle/>
          <a:p>
            <a:pPr algn="ctr"/>
            <a:r>
              <a:rPr lang="en-US" altLang="zh-CN" sz="4000" b="1" spc="200" dirty="0">
                <a:solidFill>
                  <a:schemeClr val="accent1">
                    <a:lumMod val="75000"/>
                  </a:schemeClr>
                </a:solidFill>
              </a:rPr>
              <a:t>Thanks</a:t>
            </a:r>
            <a:endParaRPr lang="zh-CN" altLang="en-US" sz="4000" b="1" spc="200" dirty="0">
              <a:solidFill>
                <a:schemeClr val="accent1">
                  <a:lumMod val="75000"/>
                </a:schemeClr>
              </a:solidFill>
            </a:endParaRPr>
          </a:p>
        </p:txBody>
      </p:sp>
      <p:pic>
        <p:nvPicPr>
          <p:cNvPr id="2" name="图片 1">
            <a:extLst>
              <a:ext uri="{FF2B5EF4-FFF2-40B4-BE49-F238E27FC236}">
                <a16:creationId xmlns:a16="http://schemas.microsoft.com/office/drawing/2014/main" id="{C0C83E1A-48F1-4AD6-A6B5-D725B238BB91}"/>
              </a:ext>
            </a:extLst>
          </p:cNvPr>
          <p:cNvPicPr>
            <a:picLocks noChangeAspect="1"/>
          </p:cNvPicPr>
          <p:nvPr/>
        </p:nvPicPr>
        <p:blipFill>
          <a:blip r:embed="rId2"/>
          <a:stretch>
            <a:fillRect/>
          </a:stretch>
        </p:blipFill>
        <p:spPr>
          <a:xfrm>
            <a:off x="5097446" y="2351240"/>
            <a:ext cx="1848822" cy="691786"/>
          </a:xfrm>
          <a:prstGeom prst="rect">
            <a:avLst/>
          </a:prstGeom>
        </p:spPr>
      </p:pic>
      <p:sp>
        <p:nvSpPr>
          <p:cNvPr id="3" name="文本框 2">
            <a:extLst>
              <a:ext uri="{FF2B5EF4-FFF2-40B4-BE49-F238E27FC236}">
                <a16:creationId xmlns:a16="http://schemas.microsoft.com/office/drawing/2014/main" id="{3D02E343-211E-E981-B178-1768355C5E10}"/>
              </a:ext>
            </a:extLst>
          </p:cNvPr>
          <p:cNvSpPr txBox="1"/>
          <p:nvPr/>
        </p:nvSpPr>
        <p:spPr>
          <a:xfrm>
            <a:off x="800975" y="4930347"/>
            <a:ext cx="2236510" cy="1015663"/>
          </a:xfrm>
          <a:prstGeom prst="rect">
            <a:avLst/>
          </a:prstGeom>
          <a:noFill/>
        </p:spPr>
        <p:txBody>
          <a:bodyPr wrap="none" rtlCol="0">
            <a:spAutoFit/>
          </a:bodyPr>
          <a:lstStyle/>
          <a:p>
            <a:r>
              <a:rPr kumimoji="1" lang="zh-CN" altLang="en-US" sz="2000" b="1" dirty="0">
                <a:solidFill>
                  <a:schemeClr val="accent3"/>
                </a:solidFill>
              </a:rPr>
              <a:t>协程相关：</a:t>
            </a:r>
            <a:endParaRPr kumimoji="1" lang="en-US" altLang="zh-CN" sz="2000" b="1" dirty="0">
              <a:solidFill>
                <a:schemeClr val="accent3"/>
              </a:solidFill>
            </a:endParaRPr>
          </a:p>
          <a:p>
            <a:r>
              <a:rPr kumimoji="1" lang="zh-CN" altLang="en-US" sz="2000" b="1" dirty="0">
                <a:solidFill>
                  <a:schemeClr val="accent3"/>
                </a:solidFill>
                <a:hlinkClick r:id="rId3"/>
              </a:rPr>
              <a:t>协程入门</a:t>
            </a:r>
            <a:endParaRPr kumimoji="1" lang="en-US" altLang="zh-CN" sz="2000" b="1" dirty="0">
              <a:solidFill>
                <a:schemeClr val="accent3"/>
              </a:solidFill>
            </a:endParaRPr>
          </a:p>
          <a:p>
            <a:r>
              <a:rPr kumimoji="1" lang="zh-CN" altLang="en-US" sz="2000" b="1" dirty="0">
                <a:solidFill>
                  <a:schemeClr val="accent3"/>
                </a:solidFill>
                <a:hlinkClick r:id="rId4"/>
              </a:rPr>
              <a:t>进程</a:t>
            </a:r>
            <a:r>
              <a:rPr kumimoji="1" lang="en-US" altLang="zh-CN" sz="2000" b="1" dirty="0">
                <a:solidFill>
                  <a:schemeClr val="accent3"/>
                </a:solidFill>
                <a:hlinkClick r:id="rId4"/>
              </a:rPr>
              <a:t>→</a:t>
            </a:r>
            <a:r>
              <a:rPr kumimoji="1" lang="zh-CN" altLang="en-US" sz="2000" b="1" dirty="0">
                <a:solidFill>
                  <a:schemeClr val="accent3"/>
                </a:solidFill>
                <a:hlinkClick r:id="rId4"/>
              </a:rPr>
              <a:t>线程</a:t>
            </a:r>
            <a:r>
              <a:rPr kumimoji="1" lang="en-US" altLang="zh-CN" sz="2000" b="1" dirty="0">
                <a:solidFill>
                  <a:schemeClr val="accent3"/>
                </a:solidFill>
                <a:hlinkClick r:id="rId4"/>
              </a:rPr>
              <a:t>→</a:t>
            </a:r>
            <a:r>
              <a:rPr kumimoji="1" lang="zh-CN" altLang="en-US" sz="2000" b="1" dirty="0">
                <a:solidFill>
                  <a:schemeClr val="accent3"/>
                </a:solidFill>
                <a:hlinkClick r:id="rId4"/>
              </a:rPr>
              <a:t>协程</a:t>
            </a:r>
            <a:endParaRPr kumimoji="1" lang="en-US" altLang="zh-CN" sz="2000" b="1" dirty="0">
              <a:solidFill>
                <a:schemeClr val="accent3"/>
              </a:solidFill>
            </a:endParaRPr>
          </a:p>
        </p:txBody>
      </p:sp>
    </p:spTree>
    <p:extLst>
      <p:ext uri="{BB962C8B-B14F-4D97-AF65-F5344CB8AC3E}">
        <p14:creationId xmlns:p14="http://schemas.microsoft.com/office/powerpoint/2010/main" val="1152564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2.0.50727.8662"/>
  <p:tag name="AS_OS" val="Microsoft Windows NT 6.2.9200.0"/>
  <p:tag name="AS_RELEASE_DATE" val="2018.07.12"/>
  <p:tag name="AS_TITLE" val="Aspose.Slides for .NET 2.0"/>
  <p:tag name="AS_VERSION" val="18.7"/>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自定义 1">
      <a:majorFont>
        <a:latin typeface="Century Gothic"/>
        <a:ea typeface="微软雅黑"/>
        <a:cs typeface="Arial"/>
      </a:majorFont>
      <a:minorFont>
        <a:latin typeface="Century Gothic"/>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12578</TotalTime>
  <Words>1482</Words>
  <Application>Microsoft Office PowerPoint</Application>
  <PresentationFormat>宽屏</PresentationFormat>
  <Paragraphs>223</Paragraphs>
  <Slides>14</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Menlo</vt:lpstr>
      <vt:lpstr>-webkit-standard</vt:lpstr>
      <vt:lpstr>Arial</vt:lpstr>
      <vt:lpstr>Calibri</vt:lpstr>
      <vt:lpstr>Century Gothic</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Manager>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小清新毕业论文答辩PPT模板</dc:title>
  <dc:subject> </dc:subject>
  <dc:creator>极简办公</dc:creator>
  <cp:keywords>www.jjppt.com</cp:keywords>
  <dc:description>www.jjppt.com</dc:description>
  <cp:lastModifiedBy>ly 李</cp:lastModifiedBy>
  <cp:revision>314</cp:revision>
  <dcterms:created xsi:type="dcterms:W3CDTF">2018-01-29T03:04:35Z</dcterms:created>
  <dcterms:modified xsi:type="dcterms:W3CDTF">2025-11-02T13:33:22Z</dcterms:modified>
  <cp:category> </cp:category>
  <cp:contentStatus> </cp:contentStatus>
  <cp:version>1</cp:version>
</cp:coreProperties>
</file>