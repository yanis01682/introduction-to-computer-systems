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309" r:id="rId3"/>
    <p:sldId id="282" r:id="rId4"/>
    <p:sldId id="281" r:id="rId5"/>
    <p:sldId id="312" r:id="rId6"/>
    <p:sldId id="285" r:id="rId7"/>
    <p:sldId id="304" r:id="rId8"/>
    <p:sldId id="305" r:id="rId9"/>
    <p:sldId id="307" r:id="rId10"/>
    <p:sldId id="310" r:id="rId11"/>
    <p:sldId id="283" r:id="rId12"/>
    <p:sldId id="306" r:id="rId13"/>
    <p:sldId id="308" r:id="rId14"/>
    <p:sldId id="315" r:id="rId15"/>
    <p:sldId id="311" r:id="rId16"/>
    <p:sldId id="313" r:id="rId17"/>
    <p:sldId id="314" r:id="rId18"/>
    <p:sldId id="299" r:id="rId19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C7C5"/>
    <a:srgbClr val="6B6ED9"/>
    <a:srgbClr val="D0ACD9"/>
    <a:srgbClr val="D1B2D9"/>
    <a:srgbClr val="6D4CD9"/>
    <a:srgbClr val="0C886A"/>
    <a:srgbClr val="576271"/>
    <a:srgbClr val="106778"/>
    <a:srgbClr val="31597F"/>
    <a:srgbClr val="2F7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929F9F4-4A8F-4326-A1B4-22849713DDAB}" styleName="深色样式 1 - 强调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82801" autoAdjust="0"/>
  </p:normalViewPr>
  <p:slideViewPr>
    <p:cSldViewPr snapToGrid="0" showGuides="1">
      <p:cViewPr varScale="1">
        <p:scale>
          <a:sx n="91" d="100"/>
          <a:sy n="91" d="100"/>
        </p:scale>
        <p:origin x="764" y="56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4352" y="7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06:14:04.1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27764 8678 24575,'33'0'0,"0"0"0,8 0 0,1 0 0,-4 0 0,0 0 0,1 0 0,-4 0 0,1 0 0,-17 0 0,13 0 0,-28 0 0,11 0 0,1 0 0,4 0 0,15 0 0,-16 16 0,-3-12 0,-16 12 0,0-16 0,0 0 0</inkml:trace>
  <inkml:trace contextRef="#ctx0" brushRef="#br0" timeOffset="1583">28240 7320 8191,'-20'0'0,"5"0"3276,-17 0-1489,-7 0-378,5 0 0,-3 0-1409,6 0 0,0 0 859,3 0 1,3 0-860,-3 0 3276,13 8 0,15-6-3044,-16 6-232,12-8 0,-12 0 0,32 0 0,-12 0 0,27 0 0,-27 15 0,20 5 0,-7 0 0,-5 11 0,20-11 0,-28 15 0,27-16 0,-27 13 0,27-13 0,-11 17 0,-1-1 0,13-8 0,-28 7 0,11-22 0,-15 3 0,0-15 0</inkml:trace>
  <inkml:trace contextRef="#ctx0" brushRef="#br0" timeOffset="2414">28099 7620 24575,'43'0'0,"0"0"0,0 0 0,-1 0 0,1 0 0,2 0 0,0 0 0,0 0 0,1 0 0,0 0 0,1 0-610,-7 0 0,1 0 1,1 0-1,-2 0 1,-1 0 609,0 0 0,-1 0 0,-1 0 0,0 0 0,8 0 0,-1 0 0,-4 0 481,-1 0 0,-4 0-481,0 0 0,-3 0 500,3 0-500,-15 0 0,-4 0 0,-16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2E338-737C-4C2D-9DB3-AD5A98C8FA53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D198D7-57E4-48F7-9E4B-1EF67AFE64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130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PC</a:t>
            </a:r>
            <a:r>
              <a:rPr kumimoji="1" lang="zh-CN" altLang="en-US" dirty="0"/>
              <a:t> </a:t>
            </a:r>
            <a:r>
              <a:rPr kumimoji="1" lang="en-US" altLang="zh-CN" dirty="0"/>
              <a:t>what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mind</a:t>
            </a:r>
            <a:r>
              <a:rPr kumimoji="1" lang="zh-CN" altLang="en-US" dirty="0"/>
              <a:t> </a:t>
            </a:r>
            <a:r>
              <a:rPr kumimoji="1" lang="en-US" altLang="zh-CN" dirty="0"/>
              <a:t>stone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marvel</a:t>
            </a:r>
            <a:r>
              <a:rPr kumimoji="1" lang="zh-CN" altLang="en-US" dirty="0"/>
              <a:t> </a:t>
            </a:r>
            <a:r>
              <a:rPr kumimoji="1" lang="en-US" altLang="zh-CN" dirty="0"/>
              <a:t>super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hero</a:t>
            </a:r>
            <a:r>
              <a:rPr kumimoji="1" lang="zh-CN" altLang="en-US" dirty="0"/>
              <a:t> </a:t>
            </a:r>
            <a:r>
              <a:rPr kumimoji="1" lang="en-US" altLang="zh-CN" dirty="0"/>
              <a:t>Vision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198D7-57E4-48F7-9E4B-1EF67AFE647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424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首先我们复习一下程序的内存布局，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198D7-57E4-48F7-9E4B-1EF67AFE647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518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198D7-57E4-48F7-9E4B-1EF67AFE647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054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协程库的编写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198D7-57E4-48F7-9E4B-1EF67AFE647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83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629FB4-6B33-4A4C-B4E4-4CD115646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742242-CDFE-407B-91AB-D578A2461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BBD3A0-F76C-4A9E-B820-AC54FCA21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40FA0D-F2CD-403D-8A66-36A81CC4C839}"/>
              </a:ext>
            </a:extLst>
          </p:cNvPr>
          <p:cNvSpPr/>
          <p:nvPr userDrawn="1"/>
        </p:nvSpPr>
        <p:spPr>
          <a:xfrm>
            <a:off x="316871" y="289711"/>
            <a:ext cx="11579382" cy="62649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279EF67-3C11-47AB-A3B7-7B25261EE4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47296"/>
          <a:stretch>
            <a:fillRect/>
          </a:stretch>
        </p:blipFill>
        <p:spPr>
          <a:xfrm>
            <a:off x="8949493" y="727072"/>
            <a:ext cx="2939989" cy="547468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4217E98-1B13-4583-B260-F711060618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47296"/>
          <a:stretch>
            <a:fillRect/>
          </a:stretch>
        </p:blipFill>
        <p:spPr>
          <a:xfrm flipH="1">
            <a:off x="302518" y="727072"/>
            <a:ext cx="2939989" cy="547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084899"/>
      </p:ext>
    </p:extLst>
  </p:cSld>
  <p:clrMapOvr>
    <a:masterClrMapping/>
  </p:clrMapOvr>
  <p:transition spd="slow" advClick="0" advTm="3000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629FB4-6B33-4A4C-B4E4-4CD115646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742242-CDFE-407B-91AB-D578A2461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BBD3A0-F76C-4A9E-B820-AC54FCA21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40FA0D-F2CD-403D-8A66-36A81CC4C839}"/>
              </a:ext>
            </a:extLst>
          </p:cNvPr>
          <p:cNvSpPr/>
          <p:nvPr userDrawn="1"/>
        </p:nvSpPr>
        <p:spPr>
          <a:xfrm>
            <a:off x="316871" y="289711"/>
            <a:ext cx="11579382" cy="62649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CA380CD-061A-46F1-BBE3-A49FA9DA4C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33513" y="359986"/>
            <a:ext cx="1541616" cy="57683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52B4CA0-3740-484A-AC3B-4809F4A224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-1" t="1" r="19505" b="45156"/>
          <a:stretch>
            <a:fillRect/>
          </a:stretch>
        </p:blipFill>
        <p:spPr>
          <a:xfrm>
            <a:off x="7405974" y="3552234"/>
            <a:ext cx="4490280" cy="300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443200"/>
      </p:ext>
    </p:extLst>
  </p:cSld>
  <p:clrMapOvr>
    <a:masterClrMapping/>
  </p:clrMapOvr>
  <p:transition spd="slow" advClick="0" advTm="3000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629FB4-6B33-4A4C-B4E4-4CD115646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742242-CDFE-407B-91AB-D578A2461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BBD3A0-F76C-4A9E-B820-AC54FCA21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40FA0D-F2CD-403D-8A66-36A81CC4C839}"/>
              </a:ext>
            </a:extLst>
          </p:cNvPr>
          <p:cNvSpPr/>
          <p:nvPr userDrawn="1"/>
        </p:nvSpPr>
        <p:spPr>
          <a:xfrm>
            <a:off x="316871" y="289711"/>
            <a:ext cx="11579382" cy="62649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CA380CD-061A-46F1-BBE3-A49FA9DA4C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33513" y="359986"/>
            <a:ext cx="1541616" cy="57683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52B4CA0-3740-484A-AC3B-4809F4A224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2634" t="1" r="-694" b="34713"/>
          <a:stretch>
            <a:fillRect/>
          </a:stretch>
        </p:blipFill>
        <p:spPr>
          <a:xfrm>
            <a:off x="316870" y="3177192"/>
            <a:ext cx="4114799" cy="337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75404"/>
      </p:ext>
    </p:extLst>
  </p:cSld>
  <p:clrMapOvr>
    <a:masterClrMapping/>
  </p:clrMapOvr>
  <p:transition spd="slow" advClick="0" advTm="3000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7D95E9-569D-4587-B35B-D855FC2B9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BCCCC6-A151-4D39-A65B-5E8EA6142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AD83DF-4917-4E44-B4C7-4C582A14C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77753D-0915-481C-B168-139E83131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B42767-8D39-46E1-BECB-D0125C7FE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402258"/>
      </p:ext>
    </p:extLst>
  </p:cSld>
  <p:clrMapOvr>
    <a:masterClrMapping/>
  </p:clrMapOvr>
  <p:transition spd="slow" advClick="0" advTm="3000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B721CF-6B2F-497D-9E13-CD64E56D6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9459DE-3A75-44F6-A69C-99FC0AE86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38B03C-5777-41EC-8312-90CB5792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E48E79-3E22-44D3-A933-5BB6EC04F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B3BD72-6A83-4515-AC23-35A1A2F81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984075"/>
      </p:ext>
    </p:extLst>
  </p:cSld>
  <p:clrMapOvr>
    <a:masterClrMapping/>
  </p:clrMapOvr>
  <p:transition spd="slow" advClick="0" advTm="3000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613517-51D7-41D2-807F-D5C4000E6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89E502-A12A-432D-9469-5E4049F83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682C21-3212-4560-BFAA-6111354FB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369414-0C3C-41CD-A256-E8A2D0F2A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4E817E-36C9-4BB2-9CFF-0201771C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094540-8793-44BB-8C7F-294DC9BE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992961"/>
      </p:ext>
    </p:extLst>
  </p:cSld>
  <p:clrMapOvr>
    <a:masterClrMapping/>
  </p:clrMapOvr>
  <p:transition spd="slow" advClick="0" advTm="3000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99BA8-2500-48D2-9E1F-D4F4359A0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47C996-9B6B-42F6-A0A7-D4ABBE17A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CD1895-30DA-4A66-945E-AEB822C66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F5758DC-DD2F-42D0-B342-66EC7BC24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701B0ED-69CC-4C09-BE22-58FBE1769A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D98408D-A3A6-4341-B860-83B595389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C02221E-4B38-49E1-8D8C-275A00E2F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D8D6144-C297-4103-9BA7-251E7DF87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499496"/>
      </p:ext>
    </p:extLst>
  </p:cSld>
  <p:clrMapOvr>
    <a:masterClrMapping/>
  </p:clrMapOvr>
  <p:transition spd="slow" advClick="0" advTm="3000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EE8548-92A4-4FE0-90D0-4011CC8BD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BB7081-0E91-47EE-AED7-354F54D58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29C43A0-19ED-4A5A-8358-3875A4FDF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623BA1-6E87-4C48-8824-FE51B9695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766957"/>
      </p:ext>
    </p:extLst>
  </p:cSld>
  <p:clrMapOvr>
    <a:masterClrMapping/>
  </p:clrMapOvr>
  <p:transition spd="slow" advClick="0" advTm="3000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16D1E0-9648-43E4-A064-0BE8B3C11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E63C25-0254-4D86-88A7-E0CEAD93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409FA2-ED11-4EF2-B1ED-247E8FAC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320263"/>
      </p:ext>
    </p:extLst>
  </p:cSld>
  <p:clrMapOvr>
    <a:masterClrMapping/>
  </p:clrMapOvr>
  <p:transition spd="slow" advClick="0" advTm="3000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BD16C-0AA7-40BE-A65D-4391DD25F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34B639-DA3A-4577-9190-C864B0AEC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5F05B8-D6C7-4B91-B1FB-0E5BEE873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0B3968-DA5D-4448-BD63-8B3499DCE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A44716-A07F-4640-9EE1-A1D8B6996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CC6BB2-ED07-4B97-B6E7-EE6CD5E1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773293"/>
      </p:ext>
    </p:extLst>
  </p:cSld>
  <p:clrMapOvr>
    <a:masterClrMapping/>
  </p:clrMapOvr>
  <p:transition spd="slow" advClick="0" advTm="3000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71E45C-2E71-4D05-A7F8-F35164F5C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35C6C4-2023-406E-A736-AA55A7CEA9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1A8997-BC5A-48D6-9E23-C7A072183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E6131D-D4C5-4445-896A-AB55875C4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8A2057-D5EF-402F-80AE-46A72EFB5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EA84B9-37CE-4B11-92AC-2CA500D7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692094"/>
      </p:ext>
    </p:extLst>
  </p:cSld>
  <p:clrMapOvr>
    <a:masterClrMapping/>
  </p:clrMapOvr>
  <p:transition spd="slow" advClick="0" advTm="3000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08D04C-0C74-4369-AAD3-4EAFEEDD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42B6F5-B481-46F7-B61E-2A3565A64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8AB71A-B1FF-4574-B2DA-0C116EBEC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698BCD-D1F2-4925-B8D0-8FB1ABB64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29DA09-1581-4878-B5F8-7CF065D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027909"/>
      </p:ext>
    </p:extLst>
  </p:cSld>
  <p:clrMapOvr>
    <a:masterClrMapping/>
  </p:clrMapOvr>
  <p:transition spd="slow" advClick="0" advTm="3000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B83804D-2D75-4271-8051-1C33080B26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1DE36A-D0A3-4320-8CD1-37B7B7209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934080-1AEF-4FE3-BE4E-F48BEED53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6083D8-1208-4C73-8C18-55010CD00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9A80B6-D521-4468-B679-36FBF2855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97241"/>
      </p:ext>
    </p:extLst>
  </p:cSld>
  <p:clrMapOvr>
    <a:masterClrMapping/>
  </p:clrMapOvr>
  <p:transition spd="slow" advClick="0" advTm="3000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B8F331-B0ED-4EE2-96F7-EE272B20D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E4C595-119F-40BF-A9B7-3C65F4113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092C92-41A5-45A4-A324-DCE810C5F1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38BC5-6867-479C-BF5B-03208C4C5277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40EA19-D7E8-4291-AD8A-2743E70662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5DBD46-7624-4A18-9649-492A64A4E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787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ransition spd="slow" advClick="0" advTm="3000">
    <p:pull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224878-C13A-40F4-AE81-80A17F13DE3E}"/>
              </a:ext>
            </a:extLst>
          </p:cNvPr>
          <p:cNvSpPr txBox="1"/>
          <p:nvPr/>
        </p:nvSpPr>
        <p:spPr>
          <a:xfrm>
            <a:off x="715698" y="1926484"/>
            <a:ext cx="100482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200" dirty="0">
                <a:solidFill>
                  <a:schemeClr val="accent3"/>
                </a:solidFill>
              </a:rPr>
              <a:t>计算机系统概论</a:t>
            </a:r>
            <a:r>
              <a:rPr lang="en-US" altLang="zh-CN" sz="4000" b="1" spc="200" dirty="0">
                <a:solidFill>
                  <a:schemeClr val="accent3"/>
                </a:solidFill>
              </a:rPr>
              <a:t>-</a:t>
            </a:r>
          </a:p>
          <a:p>
            <a:pPr algn="ctr"/>
            <a:r>
              <a:rPr lang="zh-CN" altLang="en-US" sz="4000" b="1" spc="200" dirty="0">
                <a:solidFill>
                  <a:schemeClr val="accent3"/>
                </a:solidFill>
              </a:rPr>
              <a:t>协程实验（习题课讲解）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0C83E1A-48F1-4AD6-A6B5-D725B238B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393" y="3629415"/>
            <a:ext cx="1848822" cy="69178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EDB4631-C4A3-40B6-BFA8-F5A2F8B0840A}"/>
              </a:ext>
            </a:extLst>
          </p:cNvPr>
          <p:cNvSpPr/>
          <p:nvPr/>
        </p:nvSpPr>
        <p:spPr>
          <a:xfrm flipV="1">
            <a:off x="1683909" y="3249923"/>
            <a:ext cx="8111790" cy="808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1810AC-1AD5-31DA-5BB8-ABACEB6C1032}"/>
              </a:ext>
            </a:extLst>
          </p:cNvPr>
          <p:cNvSpPr txBox="1"/>
          <p:nvPr/>
        </p:nvSpPr>
        <p:spPr>
          <a:xfrm>
            <a:off x="8081607" y="5107259"/>
            <a:ext cx="2749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b="1" dirty="0"/>
              <a:t>计算机系统概论课题组</a:t>
            </a:r>
          </a:p>
        </p:txBody>
      </p:sp>
    </p:spTree>
    <p:extLst>
      <p:ext uri="{BB962C8B-B14F-4D97-AF65-F5344CB8AC3E}">
        <p14:creationId xmlns:p14="http://schemas.microsoft.com/office/powerpoint/2010/main" val="1470151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419D660-D3BD-6993-00FE-38397443FAD5}"/>
              </a:ext>
            </a:extLst>
          </p:cNvPr>
          <p:cNvSpPr txBox="1"/>
          <p:nvPr/>
        </p:nvSpPr>
        <p:spPr>
          <a:xfrm>
            <a:off x="651356" y="511217"/>
            <a:ext cx="32752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solidFill>
                  <a:schemeClr val="accent3"/>
                </a:solidFill>
              </a:rPr>
              <a:t>Memory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 </a:t>
            </a:r>
            <a:r>
              <a:rPr kumimoji="1" lang="en-US" altLang="zh-CN" sz="3200" b="1" dirty="0">
                <a:solidFill>
                  <a:schemeClr val="accent3"/>
                </a:solidFill>
              </a:rPr>
              <a:t>Layout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3" name="直接连接符 79">
            <a:extLst>
              <a:ext uri="{FF2B5EF4-FFF2-40B4-BE49-F238E27FC236}">
                <a16:creationId xmlns:a16="http://schemas.microsoft.com/office/drawing/2014/main" id="{8796749E-B970-FAB0-7613-DEED0122329E}"/>
              </a:ext>
            </a:extLst>
          </p:cNvPr>
          <p:cNvCxnSpPr>
            <a:cxnSpLocks/>
          </p:cNvCxnSpPr>
          <p:nvPr/>
        </p:nvCxnSpPr>
        <p:spPr>
          <a:xfrm>
            <a:off x="677052" y="1084358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EE554157-1971-24A8-E471-D890769C65E4}"/>
              </a:ext>
            </a:extLst>
          </p:cNvPr>
          <p:cNvSpPr txBox="1"/>
          <p:nvPr/>
        </p:nvSpPr>
        <p:spPr>
          <a:xfrm>
            <a:off x="651355" y="2309701"/>
            <a:ext cx="512496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chemeClr val="accent3"/>
                </a:solidFill>
              </a:rPr>
              <a:t>栈区：</a:t>
            </a:r>
            <a:r>
              <a:rPr kumimoji="1" lang="zh-CN" altLang="en-US" sz="2000" dirty="0"/>
              <a:t>由高地址向地址延伸，存放栈帧、局部变量、函数参数等</a:t>
            </a:r>
            <a:endParaRPr kumimoji="1"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chemeClr val="accent3"/>
                </a:solidFill>
              </a:rPr>
              <a:t>堆区：</a:t>
            </a:r>
            <a:r>
              <a:rPr kumimoji="1" lang="zh-CN" altLang="en-US" sz="2000" dirty="0"/>
              <a:t>低地址向高地址延伸，需要使用</a:t>
            </a:r>
            <a:r>
              <a:rPr kumimoji="1" lang="en-US" altLang="zh-CN" sz="2000" dirty="0"/>
              <a:t>malloc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new</a:t>
            </a:r>
            <a:r>
              <a:rPr kumimoji="1" lang="zh-CN" altLang="en-US" sz="2000" dirty="0"/>
              <a:t>动态申请、释放，一般空间比较大</a:t>
            </a:r>
            <a:endParaRPr kumimoji="1"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en-US" dirty="0"/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EE6021D4-255A-C31F-67F1-22D9B9138667}"/>
              </a:ext>
            </a:extLst>
          </p:cNvPr>
          <p:cNvCxnSpPr>
            <a:cxnSpLocks/>
          </p:cNvCxnSpPr>
          <p:nvPr/>
        </p:nvCxnSpPr>
        <p:spPr>
          <a:xfrm>
            <a:off x="5935860" y="1951590"/>
            <a:ext cx="0" cy="3822052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6044BFEC-C3B6-5936-DBEE-9EDF461BF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712" y="1468666"/>
            <a:ext cx="5127147" cy="43049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B2916E5-E6BC-7A56-622D-1B4AE8D9C5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838" y="5744596"/>
            <a:ext cx="4372344" cy="111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12292"/>
      </p:ext>
    </p:extLst>
  </p:cSld>
  <p:clrMapOvr>
    <a:masterClrMapping/>
  </p:clrMapOvr>
  <p:transition spd="slow" advClick="0" advTm="3000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51356" y="511217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chemeClr val="accent3"/>
                </a:solidFill>
              </a:rPr>
              <a:t>协程回顾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2" name="直接连接符 79">
            <a:extLst>
              <a:ext uri="{FF2B5EF4-FFF2-40B4-BE49-F238E27FC236}">
                <a16:creationId xmlns:a16="http://schemas.microsoft.com/office/drawing/2014/main" id="{3D67B22D-151C-5EDC-3B68-30FA27BCA6E5}"/>
              </a:ext>
            </a:extLst>
          </p:cNvPr>
          <p:cNvCxnSpPr>
            <a:cxnSpLocks/>
          </p:cNvCxnSpPr>
          <p:nvPr/>
        </p:nvCxnSpPr>
        <p:spPr>
          <a:xfrm>
            <a:off x="677052" y="1084358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3F50B8A-73A2-9B97-392D-FF78E1302153}"/>
              </a:ext>
            </a:extLst>
          </p:cNvPr>
          <p:cNvSpPr txBox="1"/>
          <p:nvPr/>
        </p:nvSpPr>
        <p:spPr>
          <a:xfrm>
            <a:off x="663236" y="1352899"/>
            <a:ext cx="7468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chemeClr val="accent2"/>
                </a:solidFill>
              </a:rPr>
              <a:t>协程</a:t>
            </a:r>
            <a:r>
              <a:rPr kumimoji="1" lang="zh-CN" altLang="en-US" sz="2000" dirty="0"/>
              <a:t>是一个可以主动切出，并在之后可恢复运行的</a:t>
            </a:r>
            <a:r>
              <a:rPr kumimoji="1" lang="zh-CN" altLang="en-US" sz="2000" dirty="0">
                <a:solidFill>
                  <a:schemeClr val="accent3"/>
                </a:solidFill>
              </a:rPr>
              <a:t>函数运行模式</a:t>
            </a:r>
            <a:endParaRPr kumimoji="1" lang="zh-CN" altLang="en-US" dirty="0">
              <a:solidFill>
                <a:schemeClr val="accent3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C94241-22D5-8CE0-C4C0-7C280570218F}"/>
              </a:ext>
            </a:extLst>
          </p:cNvPr>
          <p:cNvSpPr txBox="1"/>
          <p:nvPr/>
        </p:nvSpPr>
        <p:spPr>
          <a:xfrm>
            <a:off x="677052" y="2047873"/>
            <a:ext cx="10695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chemeClr val="accent2"/>
                </a:solidFill>
              </a:rPr>
              <a:t>协程用途：</a:t>
            </a:r>
            <a:r>
              <a:rPr kumimoji="1" lang="zh-CN" altLang="en-US" dirty="0"/>
              <a:t>在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进行</a:t>
            </a:r>
            <a:r>
              <a:rPr kumimoji="1" lang="en-US" altLang="zh-CN" dirty="0"/>
              <a:t>IO</a:t>
            </a:r>
            <a:r>
              <a:rPr kumimoji="1" lang="zh-CN" altLang="en-US" dirty="0"/>
              <a:t>操作时，切换到其他 </a:t>
            </a:r>
            <a:r>
              <a:rPr kumimoji="1" lang="en-US" altLang="zh-CN" dirty="0"/>
              <a:t>Ready</a:t>
            </a:r>
            <a:r>
              <a:rPr kumimoji="1" lang="zh-CN" altLang="en-US" dirty="0"/>
              <a:t>函数 的</a:t>
            </a:r>
            <a:r>
              <a:rPr kumimoji="1" lang="zh-CN" altLang="en-US" b="1" dirty="0">
                <a:solidFill>
                  <a:srgbClr val="FF0000"/>
                </a:solidFill>
              </a:rPr>
              <a:t>执行现场</a:t>
            </a:r>
            <a:r>
              <a:rPr kumimoji="1" lang="zh-CN" altLang="en-US" dirty="0"/>
              <a:t>，并在合适时间点切换回来。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C549F4A-4016-F163-BA58-F5AA8D09F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134" y="3893692"/>
            <a:ext cx="1595111" cy="70458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2F18660-3DED-52C5-602B-EEE7E05F3D50}"/>
              </a:ext>
            </a:extLst>
          </p:cNvPr>
          <p:cNvSpPr txBox="1"/>
          <p:nvPr/>
        </p:nvSpPr>
        <p:spPr>
          <a:xfrm>
            <a:off x="1046910" y="3493582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举个例子：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5682AA3-ED26-2C14-3A47-CAEFAD475BF8}"/>
              </a:ext>
            </a:extLst>
          </p:cNvPr>
          <p:cNvSpPr/>
          <p:nvPr/>
        </p:nvSpPr>
        <p:spPr>
          <a:xfrm>
            <a:off x="819397" y="3221562"/>
            <a:ext cx="10248406" cy="272797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DEBE5D1A-D892-6B5F-7D7D-5966DF12E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574" y="3468663"/>
            <a:ext cx="3186747" cy="2256104"/>
          </a:xfrm>
          <a:prstGeom prst="rect">
            <a:avLst/>
          </a:prstGeom>
        </p:spPr>
      </p:pic>
      <p:sp>
        <p:nvSpPr>
          <p:cNvPr id="32" name="右箭头 31">
            <a:extLst>
              <a:ext uri="{FF2B5EF4-FFF2-40B4-BE49-F238E27FC236}">
                <a16:creationId xmlns:a16="http://schemas.microsoft.com/office/drawing/2014/main" id="{E1F83CFB-3B0A-9A2E-C720-EBAE2B1BBB06}"/>
              </a:ext>
            </a:extLst>
          </p:cNvPr>
          <p:cNvSpPr/>
          <p:nvPr/>
        </p:nvSpPr>
        <p:spPr>
          <a:xfrm>
            <a:off x="4227616" y="4120738"/>
            <a:ext cx="1939559" cy="6056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BEE3A12-1F06-A0EC-CEE7-5C633FE998E3}"/>
              </a:ext>
            </a:extLst>
          </p:cNvPr>
          <p:cNvSpPr txBox="1"/>
          <p:nvPr/>
        </p:nvSpPr>
        <p:spPr>
          <a:xfrm>
            <a:off x="4370119" y="3847605"/>
            <a:ext cx="1471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切换到函数</a:t>
            </a:r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35" name="右箭头 34">
            <a:extLst>
              <a:ext uri="{FF2B5EF4-FFF2-40B4-BE49-F238E27FC236}">
                <a16:creationId xmlns:a16="http://schemas.microsoft.com/office/drawing/2014/main" id="{D388C479-BE84-B9CC-4738-593CBB70024F}"/>
              </a:ext>
            </a:extLst>
          </p:cNvPr>
          <p:cNvSpPr/>
          <p:nvPr/>
        </p:nvSpPr>
        <p:spPr>
          <a:xfrm rot="10800000">
            <a:off x="4151141" y="4732317"/>
            <a:ext cx="1939559" cy="6056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C9D862A-E516-A488-97E9-07B1D3CCA41F}"/>
              </a:ext>
            </a:extLst>
          </p:cNvPr>
          <p:cNvSpPr txBox="1"/>
          <p:nvPr/>
        </p:nvSpPr>
        <p:spPr>
          <a:xfrm>
            <a:off x="4425512" y="5337959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切换回函数</a:t>
            </a:r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97D3AAD2-90E8-3067-F882-F288CE77E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3737" y="4813408"/>
            <a:ext cx="1493466" cy="1049101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696725967"/>
      </p:ext>
    </p:extLst>
  </p:cSld>
  <p:clrMapOvr>
    <a:masterClrMapping/>
  </p:clrMapOvr>
  <p:transition spd="slow" advClick="0" advTm="3000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38438" y="299762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00" b="1" dirty="0">
                <a:solidFill>
                  <a:schemeClr val="accent3"/>
                </a:solidFill>
              </a:rPr>
              <a:t>协程框架导读</a:t>
            </a:r>
            <a:endParaRPr kumimoji="1" lang="zh-CN" altLang="en-US" sz="2400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837191" y="1007648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圆角矩形 1">
            <a:extLst>
              <a:ext uri="{FF2B5EF4-FFF2-40B4-BE49-F238E27FC236}">
                <a16:creationId xmlns:a16="http://schemas.microsoft.com/office/drawing/2014/main" id="{75014BB2-0C25-B806-B361-D03118C9A332}"/>
              </a:ext>
            </a:extLst>
          </p:cNvPr>
          <p:cNvSpPr/>
          <p:nvPr/>
        </p:nvSpPr>
        <p:spPr>
          <a:xfrm>
            <a:off x="527847" y="1144409"/>
            <a:ext cx="11136304" cy="5413829"/>
          </a:xfrm>
          <a:prstGeom prst="roundRect">
            <a:avLst>
              <a:gd name="adj" fmla="val 3729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18E8640-D8CC-475D-0829-ED260E8BDD69}"/>
              </a:ext>
            </a:extLst>
          </p:cNvPr>
          <p:cNvSpPr txBox="1"/>
          <p:nvPr/>
        </p:nvSpPr>
        <p:spPr>
          <a:xfrm>
            <a:off x="527847" y="1169985"/>
            <a:ext cx="5557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400" b="1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coroutine_pool</a:t>
            </a:r>
            <a:r>
              <a:rPr lang="zh-CN" altLang="en-US" sz="24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（协程池</a:t>
            </a:r>
            <a:r>
              <a:rPr lang="zh-CN" altLang="en-US" sz="2400" b="1" dirty="0">
                <a:solidFill>
                  <a:srgbClr val="FF0000"/>
                </a:solidFill>
                <a:latin typeface="Menlo" panose="020B0609030804020204" pitchFamily="49" charset="0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调度器）</a:t>
            </a:r>
            <a:endParaRPr lang="en" altLang="zh-CN" sz="2400" b="1" dirty="0">
              <a:solidFill>
                <a:srgbClr val="FF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244B25-9509-46E4-DBA2-6FDADD1BB433}"/>
              </a:ext>
            </a:extLst>
          </p:cNvPr>
          <p:cNvSpPr txBox="1"/>
          <p:nvPr/>
        </p:nvSpPr>
        <p:spPr>
          <a:xfrm>
            <a:off x="540842" y="1570095"/>
            <a:ext cx="5484194" cy="1151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主要成员变量：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en-US" altLang="zh-CN" b="1" dirty="0">
                <a:effectLst/>
                <a:latin typeface="Menlo" panose="020B0609030804020204" pitchFamily="49" charset="0"/>
              </a:rPr>
              <a:t>1.</a:t>
            </a:r>
            <a:r>
              <a:rPr kumimoji="1" lang="zh-CN" altLang="en-US" b="1" dirty="0"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>
                <a:effectLst/>
                <a:latin typeface="Menlo" panose="020B0609030804020204" pitchFamily="49" charset="0"/>
              </a:rPr>
              <a:t>vector&lt;</a:t>
            </a:r>
            <a:r>
              <a:rPr lang="en" altLang="zh-CN" b="0" dirty="0" err="1">
                <a:effectLst/>
                <a:latin typeface="Menlo" panose="020B0609030804020204" pitchFamily="49" charset="0"/>
              </a:rPr>
              <a:t>basic_context</a:t>
            </a:r>
            <a:r>
              <a:rPr lang="en" altLang="zh-CN" b="0" dirty="0">
                <a:effectLst/>
                <a:latin typeface="Menlo" panose="020B0609030804020204" pitchFamily="49" charset="0"/>
              </a:rPr>
              <a:t> *&gt; coroutines;</a:t>
            </a:r>
          </a:p>
          <a:p>
            <a:pPr>
              <a:lnSpc>
                <a:spcPct val="150000"/>
              </a:lnSpc>
            </a:pPr>
            <a:r>
              <a:rPr kumimoji="1" lang="en-US" altLang="zh-CN" b="1" dirty="0"/>
              <a:t>2.</a:t>
            </a:r>
            <a:r>
              <a:rPr kumimoji="1" lang="zh-CN" altLang="en-US" b="1" dirty="0"/>
              <a:t>   </a:t>
            </a:r>
            <a:r>
              <a:rPr lang="en" altLang="zh-CN" b="0" dirty="0" err="1">
                <a:effectLst/>
                <a:latin typeface="Menlo" panose="020B0609030804020204" pitchFamily="49" charset="0"/>
              </a:rPr>
              <a:t>context_id</a:t>
            </a:r>
            <a:r>
              <a:rPr lang="zh-CN" altLang="en-US" b="0" dirty="0">
                <a:effectLst/>
                <a:latin typeface="Menlo" panose="020B0609030804020204" pitchFamily="49" charset="0"/>
              </a:rPr>
              <a:t>   （正在执行的协程</a:t>
            </a:r>
            <a:r>
              <a:rPr lang="en-US" altLang="zh-CN" b="0" dirty="0">
                <a:effectLst/>
                <a:latin typeface="Menlo" panose="020B0609030804020204" pitchFamily="49" charset="0"/>
              </a:rPr>
              <a:t>ID</a:t>
            </a:r>
            <a:r>
              <a:rPr lang="zh-CN" altLang="en-US" b="0" dirty="0">
                <a:effectLst/>
                <a:latin typeface="Menlo" panose="020B0609030804020204" pitchFamily="49" charset="0"/>
              </a:rPr>
              <a:t>）</a:t>
            </a:r>
            <a:endParaRPr lang="en" altLang="zh-CN" b="0" dirty="0">
              <a:effectLst/>
              <a:latin typeface="Menlo" panose="020B060903080402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EB2D75-0B7A-E9C4-A615-2095F64F2312}"/>
              </a:ext>
            </a:extLst>
          </p:cNvPr>
          <p:cNvSpPr/>
          <p:nvPr/>
        </p:nvSpPr>
        <p:spPr>
          <a:xfrm>
            <a:off x="527847" y="1169985"/>
            <a:ext cx="5397940" cy="1638795"/>
          </a:xfrm>
          <a:prstGeom prst="rect">
            <a:avLst/>
          </a:prstGeom>
          <a:noFill/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711C7E48-0052-5AF7-1679-A02A74BADE80}"/>
              </a:ext>
            </a:extLst>
          </p:cNvPr>
          <p:cNvSpPr/>
          <p:nvPr/>
        </p:nvSpPr>
        <p:spPr>
          <a:xfrm>
            <a:off x="782649" y="3024224"/>
            <a:ext cx="2630904" cy="3363521"/>
          </a:xfrm>
          <a:prstGeom prst="roundRect">
            <a:avLst>
              <a:gd name="adj" fmla="val 6079"/>
            </a:avLst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FD3109-087F-13F8-6786-A3556D59400A}"/>
              </a:ext>
            </a:extLst>
          </p:cNvPr>
          <p:cNvSpPr txBox="1"/>
          <p:nvPr/>
        </p:nvSpPr>
        <p:spPr>
          <a:xfrm>
            <a:off x="806313" y="3032063"/>
            <a:ext cx="2590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coroutine_context</a:t>
            </a:r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kumimoji="1" lang="zh-CN" alt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5" name="直接连接符 79">
            <a:extLst>
              <a:ext uri="{FF2B5EF4-FFF2-40B4-BE49-F238E27FC236}">
                <a16:creationId xmlns:a16="http://schemas.microsoft.com/office/drawing/2014/main" id="{0D175F58-DD93-B5E3-3907-40C99A467BC5}"/>
              </a:ext>
            </a:extLst>
          </p:cNvPr>
          <p:cNvCxnSpPr>
            <a:cxnSpLocks/>
          </p:cNvCxnSpPr>
          <p:nvPr/>
        </p:nvCxnSpPr>
        <p:spPr>
          <a:xfrm flipV="1">
            <a:off x="782649" y="3393556"/>
            <a:ext cx="2630903" cy="35444"/>
          </a:xfrm>
          <a:prstGeom prst="line">
            <a:avLst/>
          </a:prstGeom>
          <a:ln w="38100" cap="rnd">
            <a:solidFill>
              <a:srgbClr val="7030A0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表格 18">
            <a:extLst>
              <a:ext uri="{FF2B5EF4-FFF2-40B4-BE49-F238E27FC236}">
                <a16:creationId xmlns:a16="http://schemas.microsoft.com/office/drawing/2014/main" id="{5E94480E-CBA8-928C-0087-56E44CD30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040581"/>
              </p:ext>
            </p:extLst>
          </p:nvPr>
        </p:nvGraphicFramePr>
        <p:xfrm>
          <a:off x="1102991" y="4482434"/>
          <a:ext cx="81153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536">
                  <a:extLst>
                    <a:ext uri="{9D8B030D-6E8A-4147-A177-3AD203B41FA5}">
                      <a16:colId xmlns:a16="http://schemas.microsoft.com/office/drawing/2014/main" val="2240501488"/>
                    </a:ext>
                  </a:extLst>
                </a:gridCol>
              </a:tblGrid>
              <a:tr h="31968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656416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648371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800938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492596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253131"/>
                  </a:ext>
                </a:extLst>
              </a:tr>
            </a:tbl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A4EFC3A8-B06F-92D2-6BD9-4C941AE0BCEB}"/>
              </a:ext>
            </a:extLst>
          </p:cNvPr>
          <p:cNvSpPr txBox="1"/>
          <p:nvPr/>
        </p:nvSpPr>
        <p:spPr>
          <a:xfrm>
            <a:off x="1102991" y="4113101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"/>
              </a:rPr>
              <a:t>stack</a:t>
            </a:r>
            <a:endParaRPr kumimoji="1" lang="zh-CN" altLang="en-US" dirty="0">
              <a:latin typeface="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CF23B02-FAEE-0A66-015B-C3F2AB533133}"/>
              </a:ext>
            </a:extLst>
          </p:cNvPr>
          <p:cNvSpPr/>
          <p:nvPr/>
        </p:nvSpPr>
        <p:spPr>
          <a:xfrm>
            <a:off x="2073243" y="4711760"/>
            <a:ext cx="1242164" cy="598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Caller</a:t>
            </a: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registers</a:t>
            </a:r>
            <a:endParaRPr kumimoji="1"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43D0021-A890-5962-5814-FCDC99C6FFE5}"/>
              </a:ext>
            </a:extLst>
          </p:cNvPr>
          <p:cNvSpPr/>
          <p:nvPr/>
        </p:nvSpPr>
        <p:spPr>
          <a:xfrm>
            <a:off x="2073242" y="5571846"/>
            <a:ext cx="1238837" cy="598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Callee</a:t>
            </a: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registers</a:t>
            </a:r>
            <a:endParaRPr kumimoji="1"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DED64D9-9BC8-6411-9660-91721891BD66}"/>
              </a:ext>
            </a:extLst>
          </p:cNvPr>
          <p:cNvSpPr txBox="1"/>
          <p:nvPr/>
        </p:nvSpPr>
        <p:spPr>
          <a:xfrm>
            <a:off x="8599477" y="585481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……</a:t>
            </a:r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C570D54-0399-60F3-666B-36D5FF2B1487}"/>
              </a:ext>
            </a:extLst>
          </p:cNvPr>
          <p:cNvSpPr txBox="1"/>
          <p:nvPr/>
        </p:nvSpPr>
        <p:spPr>
          <a:xfrm>
            <a:off x="1060835" y="3585260"/>
            <a:ext cx="1483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参数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AB88A815-A3F0-3E5F-A83B-9ED7DB0DB2D1}"/>
              </a:ext>
            </a:extLst>
          </p:cNvPr>
          <p:cNvSpPr/>
          <p:nvPr/>
        </p:nvSpPr>
        <p:spPr>
          <a:xfrm>
            <a:off x="3696696" y="3024224"/>
            <a:ext cx="2630904" cy="3363521"/>
          </a:xfrm>
          <a:prstGeom prst="roundRect">
            <a:avLst>
              <a:gd name="adj" fmla="val 6079"/>
            </a:avLst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F07C096-7535-197F-0F5F-F55B3E6F8D87}"/>
              </a:ext>
            </a:extLst>
          </p:cNvPr>
          <p:cNvSpPr txBox="1"/>
          <p:nvPr/>
        </p:nvSpPr>
        <p:spPr>
          <a:xfrm>
            <a:off x="3720360" y="3032063"/>
            <a:ext cx="2590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coroutine_context</a:t>
            </a:r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kumimoji="1" lang="zh-CN" alt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49" name="直接连接符 79">
            <a:extLst>
              <a:ext uri="{FF2B5EF4-FFF2-40B4-BE49-F238E27FC236}">
                <a16:creationId xmlns:a16="http://schemas.microsoft.com/office/drawing/2014/main" id="{6820716C-DDDB-C742-4A74-669F2F4EE6C6}"/>
              </a:ext>
            </a:extLst>
          </p:cNvPr>
          <p:cNvCxnSpPr>
            <a:cxnSpLocks/>
          </p:cNvCxnSpPr>
          <p:nvPr/>
        </p:nvCxnSpPr>
        <p:spPr>
          <a:xfrm flipV="1">
            <a:off x="3696696" y="3393556"/>
            <a:ext cx="2630903" cy="35444"/>
          </a:xfrm>
          <a:prstGeom prst="line">
            <a:avLst/>
          </a:prstGeom>
          <a:ln w="38100" cap="rnd">
            <a:solidFill>
              <a:srgbClr val="7030A0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表格 18">
            <a:extLst>
              <a:ext uri="{FF2B5EF4-FFF2-40B4-BE49-F238E27FC236}">
                <a16:creationId xmlns:a16="http://schemas.microsoft.com/office/drawing/2014/main" id="{8F24197B-83B7-0B54-3D79-13F310C41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831692"/>
              </p:ext>
            </p:extLst>
          </p:nvPr>
        </p:nvGraphicFramePr>
        <p:xfrm>
          <a:off x="4017038" y="4482434"/>
          <a:ext cx="81153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536">
                  <a:extLst>
                    <a:ext uri="{9D8B030D-6E8A-4147-A177-3AD203B41FA5}">
                      <a16:colId xmlns:a16="http://schemas.microsoft.com/office/drawing/2014/main" val="2240501488"/>
                    </a:ext>
                  </a:extLst>
                </a:gridCol>
              </a:tblGrid>
              <a:tr h="31968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656416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648371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800938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492596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253131"/>
                  </a:ext>
                </a:extLst>
              </a:tr>
            </a:tbl>
          </a:graphicData>
        </a:graphic>
      </p:graphicFrame>
      <p:sp>
        <p:nvSpPr>
          <p:cNvPr id="51" name="文本框 50">
            <a:extLst>
              <a:ext uri="{FF2B5EF4-FFF2-40B4-BE49-F238E27FC236}">
                <a16:creationId xmlns:a16="http://schemas.microsoft.com/office/drawing/2014/main" id="{183C6F40-A742-351C-11E8-EA4FCCE3DA94}"/>
              </a:ext>
            </a:extLst>
          </p:cNvPr>
          <p:cNvSpPr txBox="1"/>
          <p:nvPr/>
        </p:nvSpPr>
        <p:spPr>
          <a:xfrm>
            <a:off x="4017038" y="4113101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"/>
              </a:rPr>
              <a:t>stack</a:t>
            </a:r>
            <a:endParaRPr kumimoji="1" lang="zh-CN" altLang="en-US" dirty="0">
              <a:latin typeface="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FE26C63-5557-5854-8BBD-AD00B9CAF4C7}"/>
              </a:ext>
            </a:extLst>
          </p:cNvPr>
          <p:cNvSpPr txBox="1"/>
          <p:nvPr/>
        </p:nvSpPr>
        <p:spPr>
          <a:xfrm>
            <a:off x="3974882" y="3585260"/>
            <a:ext cx="1483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参数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877724A0-E814-40B6-5E6E-BC409E6829A2}"/>
              </a:ext>
            </a:extLst>
          </p:cNvPr>
          <p:cNvSpPr/>
          <p:nvPr/>
        </p:nvSpPr>
        <p:spPr>
          <a:xfrm>
            <a:off x="8444002" y="3024224"/>
            <a:ext cx="2630904" cy="3363521"/>
          </a:xfrm>
          <a:prstGeom prst="roundRect">
            <a:avLst>
              <a:gd name="adj" fmla="val 6079"/>
            </a:avLst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4" name="文本框 1023">
            <a:extLst>
              <a:ext uri="{FF2B5EF4-FFF2-40B4-BE49-F238E27FC236}">
                <a16:creationId xmlns:a16="http://schemas.microsoft.com/office/drawing/2014/main" id="{02E7A39C-B49F-B6F6-9217-1A07E1B7543B}"/>
              </a:ext>
            </a:extLst>
          </p:cNvPr>
          <p:cNvSpPr txBox="1"/>
          <p:nvPr/>
        </p:nvSpPr>
        <p:spPr>
          <a:xfrm>
            <a:off x="8467666" y="3032063"/>
            <a:ext cx="2590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coroutine_context</a:t>
            </a:r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endParaRPr kumimoji="1" lang="zh-CN" alt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025" name="直接连接符 79">
            <a:extLst>
              <a:ext uri="{FF2B5EF4-FFF2-40B4-BE49-F238E27FC236}">
                <a16:creationId xmlns:a16="http://schemas.microsoft.com/office/drawing/2014/main" id="{64FE37A8-2583-F8B8-B908-D88CDD8F9AF7}"/>
              </a:ext>
            </a:extLst>
          </p:cNvPr>
          <p:cNvCxnSpPr>
            <a:cxnSpLocks/>
          </p:cNvCxnSpPr>
          <p:nvPr/>
        </p:nvCxnSpPr>
        <p:spPr>
          <a:xfrm flipV="1">
            <a:off x="8444002" y="3393556"/>
            <a:ext cx="2630903" cy="35444"/>
          </a:xfrm>
          <a:prstGeom prst="line">
            <a:avLst/>
          </a:prstGeom>
          <a:ln w="38100" cap="rnd">
            <a:solidFill>
              <a:srgbClr val="7030A0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27" name="表格 18">
            <a:extLst>
              <a:ext uri="{FF2B5EF4-FFF2-40B4-BE49-F238E27FC236}">
                <a16:creationId xmlns:a16="http://schemas.microsoft.com/office/drawing/2014/main" id="{25C69BF6-D07C-4F92-0603-668D58ADAA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71643"/>
              </p:ext>
            </p:extLst>
          </p:nvPr>
        </p:nvGraphicFramePr>
        <p:xfrm>
          <a:off x="8764344" y="4482434"/>
          <a:ext cx="81153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536">
                  <a:extLst>
                    <a:ext uri="{9D8B030D-6E8A-4147-A177-3AD203B41FA5}">
                      <a16:colId xmlns:a16="http://schemas.microsoft.com/office/drawing/2014/main" val="2240501488"/>
                    </a:ext>
                  </a:extLst>
                </a:gridCol>
              </a:tblGrid>
              <a:tr h="31968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656416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648371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800938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492596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253131"/>
                  </a:ext>
                </a:extLst>
              </a:tr>
            </a:tbl>
          </a:graphicData>
        </a:graphic>
      </p:graphicFrame>
      <p:sp>
        <p:nvSpPr>
          <p:cNvPr id="1028" name="文本框 1027">
            <a:extLst>
              <a:ext uri="{FF2B5EF4-FFF2-40B4-BE49-F238E27FC236}">
                <a16:creationId xmlns:a16="http://schemas.microsoft.com/office/drawing/2014/main" id="{593273D9-D2A5-35B1-FBE4-BF48128F69C7}"/>
              </a:ext>
            </a:extLst>
          </p:cNvPr>
          <p:cNvSpPr txBox="1"/>
          <p:nvPr/>
        </p:nvSpPr>
        <p:spPr>
          <a:xfrm>
            <a:off x="8764344" y="4113101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"/>
              </a:rPr>
              <a:t>stack</a:t>
            </a:r>
            <a:endParaRPr kumimoji="1" lang="zh-CN" altLang="en-US" dirty="0">
              <a:latin typeface=""/>
            </a:endParaRPr>
          </a:p>
        </p:txBody>
      </p:sp>
      <p:sp>
        <p:nvSpPr>
          <p:cNvPr id="1031" name="文本框 1030">
            <a:extLst>
              <a:ext uri="{FF2B5EF4-FFF2-40B4-BE49-F238E27FC236}">
                <a16:creationId xmlns:a16="http://schemas.microsoft.com/office/drawing/2014/main" id="{F03F529E-5594-2ED7-922F-B5B5216B1A9B}"/>
              </a:ext>
            </a:extLst>
          </p:cNvPr>
          <p:cNvSpPr txBox="1"/>
          <p:nvPr/>
        </p:nvSpPr>
        <p:spPr>
          <a:xfrm>
            <a:off x="8722188" y="3585260"/>
            <a:ext cx="1483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参数</a:t>
            </a:r>
          </a:p>
        </p:txBody>
      </p:sp>
      <p:sp>
        <p:nvSpPr>
          <p:cNvPr id="1032" name="文本框 1031">
            <a:extLst>
              <a:ext uri="{FF2B5EF4-FFF2-40B4-BE49-F238E27FC236}">
                <a16:creationId xmlns:a16="http://schemas.microsoft.com/office/drawing/2014/main" id="{2343B9D0-1115-0E84-9816-3F47A19F0172}"/>
              </a:ext>
            </a:extLst>
          </p:cNvPr>
          <p:cNvSpPr txBox="1"/>
          <p:nvPr/>
        </p:nvSpPr>
        <p:spPr>
          <a:xfrm>
            <a:off x="6942152" y="448243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/>
              <a:t>……</a:t>
            </a:r>
            <a:endParaRPr kumimoji="1" lang="zh-CN" altLang="en-US" b="1" dirty="0"/>
          </a:p>
        </p:txBody>
      </p:sp>
      <p:cxnSp>
        <p:nvCxnSpPr>
          <p:cNvPr id="1033" name="直接连接符 79">
            <a:extLst>
              <a:ext uri="{FF2B5EF4-FFF2-40B4-BE49-F238E27FC236}">
                <a16:creationId xmlns:a16="http://schemas.microsoft.com/office/drawing/2014/main" id="{5EC2C360-F464-58D8-43CB-5461C1F469BE}"/>
              </a:ext>
            </a:extLst>
          </p:cNvPr>
          <p:cNvCxnSpPr>
            <a:cxnSpLocks/>
          </p:cNvCxnSpPr>
          <p:nvPr/>
        </p:nvCxnSpPr>
        <p:spPr>
          <a:xfrm flipV="1">
            <a:off x="963535" y="4010386"/>
            <a:ext cx="2291768" cy="15640"/>
          </a:xfrm>
          <a:prstGeom prst="line">
            <a:avLst/>
          </a:prstGeom>
          <a:ln w="3810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直接连接符 79">
            <a:extLst>
              <a:ext uri="{FF2B5EF4-FFF2-40B4-BE49-F238E27FC236}">
                <a16:creationId xmlns:a16="http://schemas.microsoft.com/office/drawing/2014/main" id="{9457697B-DDD3-A316-E1F2-6DFD6E3215FE}"/>
              </a:ext>
            </a:extLst>
          </p:cNvPr>
          <p:cNvCxnSpPr>
            <a:cxnSpLocks/>
          </p:cNvCxnSpPr>
          <p:nvPr/>
        </p:nvCxnSpPr>
        <p:spPr>
          <a:xfrm flipV="1">
            <a:off x="3866263" y="3974568"/>
            <a:ext cx="2291768" cy="15640"/>
          </a:xfrm>
          <a:prstGeom prst="line">
            <a:avLst/>
          </a:prstGeom>
          <a:ln w="3810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直接连接符 79">
            <a:extLst>
              <a:ext uri="{FF2B5EF4-FFF2-40B4-BE49-F238E27FC236}">
                <a16:creationId xmlns:a16="http://schemas.microsoft.com/office/drawing/2014/main" id="{839A5ECA-EAAB-A83A-AD31-E8B36825403B}"/>
              </a:ext>
            </a:extLst>
          </p:cNvPr>
          <p:cNvCxnSpPr>
            <a:cxnSpLocks/>
          </p:cNvCxnSpPr>
          <p:nvPr/>
        </p:nvCxnSpPr>
        <p:spPr>
          <a:xfrm flipV="1">
            <a:off x="8588711" y="3992810"/>
            <a:ext cx="2291768" cy="15640"/>
          </a:xfrm>
          <a:prstGeom prst="line">
            <a:avLst/>
          </a:prstGeom>
          <a:ln w="3810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8" name="矩形 1037">
            <a:extLst>
              <a:ext uri="{FF2B5EF4-FFF2-40B4-BE49-F238E27FC236}">
                <a16:creationId xmlns:a16="http://schemas.microsoft.com/office/drawing/2014/main" id="{92D75B40-8D7F-1A3E-3A34-7D603291865C}"/>
              </a:ext>
            </a:extLst>
          </p:cNvPr>
          <p:cNvSpPr/>
          <p:nvPr/>
        </p:nvSpPr>
        <p:spPr>
          <a:xfrm>
            <a:off x="4941241" y="4748507"/>
            <a:ext cx="1242164" cy="598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Caller</a:t>
            </a: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registers</a:t>
            </a:r>
            <a:endParaRPr kumimoji="1"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39" name="矩形 1038">
            <a:extLst>
              <a:ext uri="{FF2B5EF4-FFF2-40B4-BE49-F238E27FC236}">
                <a16:creationId xmlns:a16="http://schemas.microsoft.com/office/drawing/2014/main" id="{69552194-C680-D16C-CB34-0AF0CFFF1A52}"/>
              </a:ext>
            </a:extLst>
          </p:cNvPr>
          <p:cNvSpPr/>
          <p:nvPr/>
        </p:nvSpPr>
        <p:spPr>
          <a:xfrm>
            <a:off x="4941240" y="5608593"/>
            <a:ext cx="1238837" cy="598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Callee</a:t>
            </a: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registers</a:t>
            </a:r>
            <a:endParaRPr kumimoji="1"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40" name="矩形 1039">
            <a:extLst>
              <a:ext uri="{FF2B5EF4-FFF2-40B4-BE49-F238E27FC236}">
                <a16:creationId xmlns:a16="http://schemas.microsoft.com/office/drawing/2014/main" id="{FE49004D-8446-9F62-03B2-5B529B98D071}"/>
              </a:ext>
            </a:extLst>
          </p:cNvPr>
          <p:cNvSpPr/>
          <p:nvPr/>
        </p:nvSpPr>
        <p:spPr>
          <a:xfrm>
            <a:off x="9764982" y="4748507"/>
            <a:ext cx="1242164" cy="598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Caller</a:t>
            </a: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registers</a:t>
            </a:r>
            <a:endParaRPr kumimoji="1"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41" name="矩形 1040">
            <a:extLst>
              <a:ext uri="{FF2B5EF4-FFF2-40B4-BE49-F238E27FC236}">
                <a16:creationId xmlns:a16="http://schemas.microsoft.com/office/drawing/2014/main" id="{ED0B49F0-4101-A262-F3D7-929027415106}"/>
              </a:ext>
            </a:extLst>
          </p:cNvPr>
          <p:cNvSpPr/>
          <p:nvPr/>
        </p:nvSpPr>
        <p:spPr>
          <a:xfrm>
            <a:off x="9764981" y="5608593"/>
            <a:ext cx="1238837" cy="598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Callee</a:t>
            </a: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registers</a:t>
            </a:r>
            <a:endParaRPr kumimoji="1"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530248"/>
      </p:ext>
    </p:extLst>
  </p:cSld>
  <p:clrMapOvr>
    <a:masterClrMapping/>
  </p:clrMapOvr>
  <p:transition spd="slow" advClick="0" advTm="3000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51356" y="511217"/>
            <a:ext cx="22140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solidFill>
                  <a:schemeClr val="accent3"/>
                </a:solidFill>
              </a:rPr>
              <a:t>Task1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 流程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2" name="直接连接符 79">
            <a:extLst>
              <a:ext uri="{FF2B5EF4-FFF2-40B4-BE49-F238E27FC236}">
                <a16:creationId xmlns:a16="http://schemas.microsoft.com/office/drawing/2014/main" id="{3D67B22D-151C-5EDC-3B68-30FA27BCA6E5}"/>
              </a:ext>
            </a:extLst>
          </p:cNvPr>
          <p:cNvCxnSpPr>
            <a:cxnSpLocks/>
          </p:cNvCxnSpPr>
          <p:nvPr/>
        </p:nvCxnSpPr>
        <p:spPr>
          <a:xfrm>
            <a:off x="677052" y="1084358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2C6B63F-1617-106B-42D0-6BD63FCF0AA2}"/>
              </a:ext>
            </a:extLst>
          </p:cNvPr>
          <p:cNvSpPr/>
          <p:nvPr/>
        </p:nvSpPr>
        <p:spPr>
          <a:xfrm>
            <a:off x="677051" y="1349297"/>
            <a:ext cx="2501047" cy="93670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Sample.cpp</a:t>
            </a:r>
            <a:endParaRPr kumimoji="1" lang="en-US" altLang="zh-CN" b="1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1.</a:t>
            </a:r>
            <a:r>
              <a:rPr kumimoji="1"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定义调度器</a:t>
            </a:r>
            <a:endParaRPr kumimoji="1" lang="en-US" altLang="zh-CN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2.</a:t>
            </a:r>
            <a:r>
              <a:rPr kumimoji="1"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Pool</a:t>
            </a:r>
            <a:r>
              <a:rPr kumimoji="1"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注册函数</a:t>
            </a:r>
            <a:endParaRPr kumimoji="1" lang="en-US" altLang="zh-CN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47F660B3-DC99-AD50-4B76-9E57BE7E0FE9}"/>
              </a:ext>
            </a:extLst>
          </p:cNvPr>
          <p:cNvSpPr/>
          <p:nvPr/>
        </p:nvSpPr>
        <p:spPr>
          <a:xfrm>
            <a:off x="774773" y="3029796"/>
            <a:ext cx="2299605" cy="120252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Serial_execute</a:t>
            </a:r>
            <a:endParaRPr kumimoji="1" lang="en-US" altLang="zh-CN" b="1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endParaRPr kumimoji="1" lang="en-US" altLang="zh-CN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调度器</a:t>
            </a:r>
            <a:endParaRPr kumimoji="1" lang="en-US" altLang="zh-CN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选择协程</a:t>
            </a: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9EAE82CB-A17F-D8FE-B356-906C4E3EB2DD}"/>
              </a:ext>
            </a:extLst>
          </p:cNvPr>
          <p:cNvSpPr/>
          <p:nvPr/>
        </p:nvSpPr>
        <p:spPr>
          <a:xfrm rot="5400000">
            <a:off x="1689005" y="2391969"/>
            <a:ext cx="471142" cy="5318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27AEA50-BF69-A952-B5A3-400208F4CD58}"/>
              </a:ext>
            </a:extLst>
          </p:cNvPr>
          <p:cNvSpPr/>
          <p:nvPr/>
        </p:nvSpPr>
        <p:spPr>
          <a:xfrm>
            <a:off x="2714727" y="5137269"/>
            <a:ext cx="1846842" cy="95692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协程执行中。。</a:t>
            </a:r>
            <a:endParaRPr kumimoji="1" lang="zh-CN" alt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下箭头 13">
            <a:extLst>
              <a:ext uri="{FF2B5EF4-FFF2-40B4-BE49-F238E27FC236}">
                <a16:creationId xmlns:a16="http://schemas.microsoft.com/office/drawing/2014/main" id="{0555AF49-67D6-E724-1156-CA253E24026A}"/>
              </a:ext>
            </a:extLst>
          </p:cNvPr>
          <p:cNvSpPr/>
          <p:nvPr/>
        </p:nvSpPr>
        <p:spPr>
          <a:xfrm rot="19538248">
            <a:off x="2465442" y="4281179"/>
            <a:ext cx="535258" cy="8591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EE69130-7DA6-0910-6D70-A141943AD7CB}"/>
              </a:ext>
            </a:extLst>
          </p:cNvPr>
          <p:cNvSpPr txBox="1"/>
          <p:nvPr/>
        </p:nvSpPr>
        <p:spPr>
          <a:xfrm>
            <a:off x="1270628" y="42509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"/>
              </a:rPr>
              <a:t>resume()</a:t>
            </a:r>
            <a:endParaRPr kumimoji="1" lang="zh-CN" altLang="en-US" dirty="0">
              <a:latin typeface=""/>
            </a:endParaRP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F4622B67-D003-E0B9-3092-A1CA24B327C0}"/>
              </a:ext>
            </a:extLst>
          </p:cNvPr>
          <p:cNvSpPr/>
          <p:nvPr/>
        </p:nvSpPr>
        <p:spPr>
          <a:xfrm>
            <a:off x="4786057" y="3029796"/>
            <a:ext cx="2299605" cy="120252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Serial_execute</a:t>
            </a:r>
            <a:endParaRPr kumimoji="1" lang="en-US" altLang="zh-CN" b="1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endParaRPr kumimoji="1" lang="en-US" altLang="zh-CN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调度器</a:t>
            </a:r>
            <a:endParaRPr kumimoji="1" lang="en-US" altLang="zh-CN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选择协程</a:t>
            </a:r>
          </a:p>
        </p:txBody>
      </p:sp>
      <p:sp>
        <p:nvSpPr>
          <p:cNvPr id="18" name="下箭头 17">
            <a:extLst>
              <a:ext uri="{FF2B5EF4-FFF2-40B4-BE49-F238E27FC236}">
                <a16:creationId xmlns:a16="http://schemas.microsoft.com/office/drawing/2014/main" id="{526DE1ED-53E9-81DA-2F58-F5AED309EAC6}"/>
              </a:ext>
            </a:extLst>
          </p:cNvPr>
          <p:cNvSpPr/>
          <p:nvPr/>
        </p:nvSpPr>
        <p:spPr>
          <a:xfrm rot="13807249">
            <a:off x="4388163" y="4169179"/>
            <a:ext cx="535258" cy="10362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57A8ACA-70B2-F75B-E036-C60C9F132F7D}"/>
              </a:ext>
            </a:extLst>
          </p:cNvPr>
          <p:cNvSpPr txBox="1"/>
          <p:nvPr/>
        </p:nvSpPr>
        <p:spPr>
          <a:xfrm>
            <a:off x="4786057" y="4771325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"/>
              </a:rPr>
              <a:t>yield</a:t>
            </a:r>
            <a:r>
              <a:rPr kumimoji="1" lang="en-US" altLang="zh-CN" dirty="0"/>
              <a:t>()</a:t>
            </a:r>
            <a:endParaRPr kumimoji="1" lang="zh-CN" altLang="en-US" dirty="0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DAAF08CC-7ADC-5FB3-0C0A-B64E51D7066D}"/>
              </a:ext>
            </a:extLst>
          </p:cNvPr>
          <p:cNvSpPr/>
          <p:nvPr/>
        </p:nvSpPr>
        <p:spPr>
          <a:xfrm>
            <a:off x="7872833" y="5039467"/>
            <a:ext cx="1846842" cy="95692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协程执行中。。</a:t>
            </a:r>
            <a:endParaRPr kumimoji="1" lang="zh-CN" alt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下箭头 21">
            <a:extLst>
              <a:ext uri="{FF2B5EF4-FFF2-40B4-BE49-F238E27FC236}">
                <a16:creationId xmlns:a16="http://schemas.microsoft.com/office/drawing/2014/main" id="{F7DA4E00-326B-2A54-9654-EAAC73E26BB5}"/>
              </a:ext>
            </a:extLst>
          </p:cNvPr>
          <p:cNvSpPr/>
          <p:nvPr/>
        </p:nvSpPr>
        <p:spPr>
          <a:xfrm rot="19538248">
            <a:off x="7479438" y="3974085"/>
            <a:ext cx="535258" cy="103139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4245F8F-C1D2-EBC5-96DB-FED2719E242A}"/>
              </a:ext>
            </a:extLst>
          </p:cNvPr>
          <p:cNvSpPr txBox="1"/>
          <p:nvPr/>
        </p:nvSpPr>
        <p:spPr>
          <a:xfrm>
            <a:off x="6399257" y="420731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"/>
              </a:rPr>
              <a:t>resume()</a:t>
            </a:r>
            <a:endParaRPr kumimoji="1" lang="zh-CN" altLang="en-US" dirty="0">
              <a:latin typeface=""/>
            </a:endParaRPr>
          </a:p>
        </p:txBody>
      </p:sp>
      <p:sp>
        <p:nvSpPr>
          <p:cNvPr id="24" name="下箭头 23">
            <a:extLst>
              <a:ext uri="{FF2B5EF4-FFF2-40B4-BE49-F238E27FC236}">
                <a16:creationId xmlns:a16="http://schemas.microsoft.com/office/drawing/2014/main" id="{86137BE0-71C3-3AD7-CCF8-AF31C8B5C749}"/>
              </a:ext>
            </a:extLst>
          </p:cNvPr>
          <p:cNvSpPr/>
          <p:nvPr/>
        </p:nvSpPr>
        <p:spPr>
          <a:xfrm rot="13807249">
            <a:off x="9542228" y="4069487"/>
            <a:ext cx="535258" cy="10468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47D343B-BBC7-3D94-ED21-640CC2054B89}"/>
              </a:ext>
            </a:extLst>
          </p:cNvPr>
          <p:cNvSpPr txBox="1"/>
          <p:nvPr/>
        </p:nvSpPr>
        <p:spPr>
          <a:xfrm>
            <a:off x="9921699" y="4865874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"/>
              </a:rPr>
              <a:t>yield</a:t>
            </a:r>
            <a:r>
              <a:rPr kumimoji="1" lang="en-US" altLang="zh-CN" dirty="0"/>
              <a:t>()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798AA1A-C05D-1D2C-A3D9-FA050A135809}"/>
              </a:ext>
            </a:extLst>
          </p:cNvPr>
          <p:cNvSpPr txBox="1"/>
          <p:nvPr/>
        </p:nvSpPr>
        <p:spPr>
          <a:xfrm>
            <a:off x="9988406" y="3187127"/>
            <a:ext cx="156966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。。。。。。</a:t>
            </a:r>
            <a:endParaRPr kumimoji="1" lang="en-US" altLang="zh-CN" b="1" dirty="0"/>
          </a:p>
          <a:p>
            <a:r>
              <a:rPr kumimoji="1" lang="zh-CN" altLang="en-US" b="1" dirty="0"/>
              <a:t>直到所有协程</a:t>
            </a:r>
            <a:endParaRPr kumimoji="1" lang="en-US" altLang="zh-CN" b="1" dirty="0"/>
          </a:p>
          <a:p>
            <a:pPr algn="ctr"/>
            <a:r>
              <a:rPr kumimoji="1" lang="en-US" altLang="zh-CN" b="1" dirty="0"/>
              <a:t>finished</a:t>
            </a:r>
            <a:endParaRPr kumimoji="1" lang="zh-CN" altLang="en-US" b="1" dirty="0"/>
          </a:p>
        </p:txBody>
      </p: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2B720E8A-1014-FD6B-126B-46D8EC2AE7E3}"/>
              </a:ext>
            </a:extLst>
          </p:cNvPr>
          <p:cNvCxnSpPr>
            <a:cxnSpLocks/>
          </p:cNvCxnSpPr>
          <p:nvPr/>
        </p:nvCxnSpPr>
        <p:spPr>
          <a:xfrm>
            <a:off x="412595" y="4687062"/>
            <a:ext cx="11374244" cy="0"/>
          </a:xfrm>
          <a:prstGeom prst="line">
            <a:avLst/>
          </a:prstGeom>
          <a:ln w="762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967380"/>
      </p:ext>
    </p:extLst>
  </p:cSld>
  <p:clrMapOvr>
    <a:masterClrMapping/>
  </p:clrMapOvr>
  <p:transition spd="slow" advClick="0" advTm="3000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62189" y="669833"/>
            <a:ext cx="28761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chemeClr val="accent3"/>
                </a:solidFill>
              </a:rPr>
              <a:t>调度器如何写</a:t>
            </a:r>
            <a:r>
              <a:rPr kumimoji="1" lang="en-US" altLang="zh-CN" sz="3200" b="1" dirty="0">
                <a:solidFill>
                  <a:schemeClr val="accent3"/>
                </a:solidFill>
              </a:rPr>
              <a:t>?</a:t>
            </a:r>
            <a:endParaRPr kumimoji="1" lang="zh-CN" altLang="en-US" sz="3200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369365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56C47B8-3132-D7BA-B1A5-9B5A5F9DB64A}"/>
              </a:ext>
            </a:extLst>
          </p:cNvPr>
          <p:cNvSpPr txBox="1"/>
          <p:nvPr/>
        </p:nvSpPr>
        <p:spPr>
          <a:xfrm>
            <a:off x="920262" y="2145323"/>
            <a:ext cx="4339650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000" b="0" dirty="0">
                <a:effectLst/>
                <a:latin typeface="Menlo" panose="020B0609030804020204" pitchFamily="49" charset="0"/>
              </a:rPr>
              <a:t>void</a:t>
            </a:r>
            <a:r>
              <a:rPr lang="en" altLang="zh-CN" sz="2000" b="0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2000" b="0" dirty="0" err="1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serial_execute_all</a:t>
            </a:r>
            <a:r>
              <a:rPr lang="en" altLang="zh-CN" sz="2000" b="0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() </a:t>
            </a:r>
            <a:r>
              <a:rPr lang="en" altLang="zh-CN" sz="2000" b="0" dirty="0">
                <a:effectLst/>
                <a:latin typeface="Menlo" panose="020B0609030804020204" pitchFamily="49" charset="0"/>
              </a:rPr>
              <a:t>{</a:t>
            </a:r>
          </a:p>
          <a:p>
            <a:endParaRPr kumimoji="1" lang="en-US" altLang="zh-CN" sz="2000" dirty="0">
              <a:solidFill>
                <a:schemeClr val="accent3"/>
              </a:solidFill>
              <a:latin typeface="Menlo" panose="020B0609030804020204" pitchFamily="49" charset="0"/>
            </a:endParaRPr>
          </a:p>
          <a:p>
            <a:pPr lvl="1"/>
            <a:r>
              <a:rPr kumimoji="1" lang="en-US" altLang="zh-CN" sz="2000" dirty="0">
                <a:latin typeface="Menlo" panose="020B0609030804020204" pitchFamily="49" charset="0"/>
              </a:rPr>
              <a:t>while</a:t>
            </a:r>
            <a:r>
              <a:rPr kumimoji="1" lang="en-US" altLang="zh-CN" sz="2000" dirty="0">
                <a:solidFill>
                  <a:schemeClr val="accent3"/>
                </a:solidFill>
                <a:latin typeface="Menlo" panose="020B0609030804020204" pitchFamily="49" charset="0"/>
              </a:rPr>
              <a:t>(</a:t>
            </a:r>
            <a:r>
              <a:rPr kumimoji="1" lang="zh-CN" altLang="en-US" sz="2000" dirty="0">
                <a:solidFill>
                  <a:schemeClr val="accent3"/>
                </a:solidFill>
                <a:latin typeface="Menlo" panose="020B0609030804020204" pitchFamily="49" charset="0"/>
              </a:rPr>
              <a:t>存在协程未结束</a:t>
            </a:r>
            <a:r>
              <a:rPr kumimoji="1" lang="en-US" altLang="zh-CN" sz="2000" dirty="0">
                <a:solidFill>
                  <a:schemeClr val="accent3"/>
                </a:solidFill>
                <a:latin typeface="Menlo" panose="020B0609030804020204" pitchFamily="49" charset="0"/>
              </a:rPr>
              <a:t>)</a:t>
            </a:r>
            <a:r>
              <a:rPr kumimoji="1" lang="en-US" altLang="zh-CN" sz="2000" dirty="0">
                <a:latin typeface="Menlo" panose="020B0609030804020204" pitchFamily="49" charset="0"/>
              </a:rPr>
              <a:t>:</a:t>
            </a:r>
          </a:p>
          <a:p>
            <a:pPr lvl="1"/>
            <a:r>
              <a:rPr kumimoji="1" lang="en-US" altLang="zh-CN" sz="2000" dirty="0">
                <a:solidFill>
                  <a:schemeClr val="accent3"/>
                </a:solidFill>
                <a:latin typeface="Menlo" panose="020B0609030804020204" pitchFamily="49" charset="0"/>
              </a:rPr>
              <a:t>	</a:t>
            </a:r>
            <a:r>
              <a:rPr kumimoji="1" lang="en-US" altLang="zh-CN" sz="2000" dirty="0">
                <a:latin typeface="Menlo" panose="020B0609030804020204" pitchFamily="49" charset="0"/>
              </a:rPr>
              <a:t>for</a:t>
            </a:r>
            <a:r>
              <a:rPr kumimoji="1" lang="en-US" altLang="zh-CN" sz="2000" dirty="0">
                <a:solidFill>
                  <a:schemeClr val="accent3"/>
                </a:solidFill>
                <a:latin typeface="Menlo" panose="020B0609030804020204" pitchFamily="49" charset="0"/>
              </a:rPr>
              <a:t>(</a:t>
            </a:r>
            <a:r>
              <a:rPr kumimoji="1" lang="zh-CN" altLang="en-US" sz="2000" dirty="0">
                <a:solidFill>
                  <a:schemeClr val="accent3"/>
                </a:solidFill>
                <a:latin typeface="Menlo" panose="020B0609030804020204" pitchFamily="49" charset="0"/>
              </a:rPr>
              <a:t>轮询</a:t>
            </a:r>
            <a:r>
              <a:rPr kumimoji="1" lang="en-US" altLang="zh-CN" sz="2000" dirty="0">
                <a:solidFill>
                  <a:schemeClr val="accent3"/>
                </a:solidFill>
                <a:latin typeface="Menlo" panose="020B0609030804020204" pitchFamily="49" charset="0"/>
              </a:rPr>
              <a:t>)</a:t>
            </a:r>
            <a:r>
              <a:rPr kumimoji="1" lang="en-US" altLang="zh-CN" sz="2000" dirty="0">
                <a:latin typeface="Menlo" panose="020B0609030804020204" pitchFamily="49" charset="0"/>
              </a:rPr>
              <a:t>:</a:t>
            </a:r>
          </a:p>
          <a:p>
            <a:pPr lvl="1"/>
            <a:r>
              <a:rPr kumimoji="1" lang="zh-CN" altLang="en-US" sz="2000" dirty="0">
                <a:solidFill>
                  <a:schemeClr val="accent3"/>
                </a:solidFill>
                <a:latin typeface="Menlo" panose="020B0609030804020204" pitchFamily="49" charset="0"/>
              </a:rPr>
              <a:t>      </a:t>
            </a:r>
            <a:r>
              <a:rPr kumimoji="1" lang="en-US" altLang="zh-CN" sz="2000" dirty="0">
                <a:latin typeface="Menlo" panose="020B0609030804020204" pitchFamily="49" charset="0"/>
              </a:rPr>
              <a:t>if</a:t>
            </a:r>
            <a:r>
              <a:rPr kumimoji="1" lang="en-US" altLang="zh-CN" sz="2000" dirty="0">
                <a:solidFill>
                  <a:schemeClr val="accent3"/>
                </a:solidFill>
                <a:latin typeface="Menlo" panose="020B0609030804020204" pitchFamily="49" charset="0"/>
              </a:rPr>
              <a:t>(!finished)</a:t>
            </a:r>
            <a:r>
              <a:rPr kumimoji="1" lang="en-US" altLang="zh-CN" sz="2000" dirty="0">
                <a:latin typeface="Menlo" panose="020B0609030804020204" pitchFamily="49" charset="0"/>
              </a:rPr>
              <a:t>:</a:t>
            </a:r>
          </a:p>
          <a:p>
            <a:pPr lvl="1"/>
            <a:r>
              <a:rPr kumimoji="1" lang="zh-CN" altLang="en-US" sz="2000" dirty="0">
                <a:solidFill>
                  <a:schemeClr val="accent3"/>
                </a:solidFill>
                <a:latin typeface="Menlo" panose="020B0609030804020204" pitchFamily="49" charset="0"/>
              </a:rPr>
              <a:t>         </a:t>
            </a:r>
            <a:r>
              <a:rPr kumimoji="1" lang="en-US" altLang="zh-CN" sz="2000" dirty="0">
                <a:solidFill>
                  <a:schemeClr val="accent3"/>
                </a:solidFill>
                <a:latin typeface="Menlo" panose="020B0609030804020204" pitchFamily="49" charset="0"/>
              </a:rPr>
              <a:t>resume</a:t>
            </a:r>
          </a:p>
          <a:p>
            <a:pPr lvl="1"/>
            <a:r>
              <a:rPr kumimoji="1" lang="zh-CN" altLang="en-US" sz="2000" dirty="0">
                <a:solidFill>
                  <a:schemeClr val="accent3"/>
                </a:solidFill>
                <a:latin typeface="Menlo" panose="020B0609030804020204" pitchFamily="49" charset="0"/>
              </a:rPr>
              <a:t>         更改正在执行</a:t>
            </a:r>
            <a:r>
              <a:rPr kumimoji="1" lang="en-US" altLang="zh-CN" sz="2000" dirty="0">
                <a:solidFill>
                  <a:schemeClr val="accent3"/>
                </a:solidFill>
                <a:latin typeface="Menlo" panose="020B0609030804020204" pitchFamily="49" charset="0"/>
              </a:rPr>
              <a:t>ID</a:t>
            </a:r>
            <a:endParaRPr kumimoji="1" lang="en-US" altLang="zh-CN" sz="2000" dirty="0"/>
          </a:p>
          <a:p>
            <a:r>
              <a:rPr kumimoji="1" lang="en-US" altLang="zh-CN" sz="2000" dirty="0"/>
              <a:t>}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617406"/>
      </p:ext>
    </p:extLst>
  </p:cSld>
  <p:clrMapOvr>
    <a:masterClrMapping/>
  </p:clrMapOvr>
  <p:transition spd="slow" advClick="0" advTm="3000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E5CDA4AD-D0AD-68D8-EBAA-E68DCC6287EC}"/>
              </a:ext>
            </a:extLst>
          </p:cNvPr>
          <p:cNvSpPr/>
          <p:nvPr/>
        </p:nvSpPr>
        <p:spPr>
          <a:xfrm>
            <a:off x="8376145" y="1453332"/>
            <a:ext cx="2630904" cy="3363521"/>
          </a:xfrm>
          <a:prstGeom prst="roundRect">
            <a:avLst>
              <a:gd name="adj" fmla="val 6079"/>
            </a:avLst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B4275B-55F3-EF3A-17EB-5465893B253E}"/>
              </a:ext>
            </a:extLst>
          </p:cNvPr>
          <p:cNvSpPr txBox="1"/>
          <p:nvPr/>
        </p:nvSpPr>
        <p:spPr>
          <a:xfrm>
            <a:off x="8399809" y="1461171"/>
            <a:ext cx="2590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coroutine_context</a:t>
            </a:r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kumimoji="1" lang="zh-CN" alt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4" name="直接连接符 79">
            <a:extLst>
              <a:ext uri="{FF2B5EF4-FFF2-40B4-BE49-F238E27FC236}">
                <a16:creationId xmlns:a16="http://schemas.microsoft.com/office/drawing/2014/main" id="{3E91CDB7-8F52-1979-39E2-94C4A66A1D0E}"/>
              </a:ext>
            </a:extLst>
          </p:cNvPr>
          <p:cNvCxnSpPr>
            <a:cxnSpLocks/>
          </p:cNvCxnSpPr>
          <p:nvPr/>
        </p:nvCxnSpPr>
        <p:spPr>
          <a:xfrm flipV="1">
            <a:off x="8376145" y="1822664"/>
            <a:ext cx="2630903" cy="35444"/>
          </a:xfrm>
          <a:prstGeom prst="line">
            <a:avLst/>
          </a:prstGeom>
          <a:ln w="38100" cap="rnd">
            <a:solidFill>
              <a:srgbClr val="7030A0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表格 18">
            <a:extLst>
              <a:ext uri="{FF2B5EF4-FFF2-40B4-BE49-F238E27FC236}">
                <a16:creationId xmlns:a16="http://schemas.microsoft.com/office/drawing/2014/main" id="{ADCF60FF-72C5-916F-C903-74C02ED784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998315"/>
              </p:ext>
            </p:extLst>
          </p:nvPr>
        </p:nvGraphicFramePr>
        <p:xfrm>
          <a:off x="8696487" y="2911542"/>
          <a:ext cx="81153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536">
                  <a:extLst>
                    <a:ext uri="{9D8B030D-6E8A-4147-A177-3AD203B41FA5}">
                      <a16:colId xmlns:a16="http://schemas.microsoft.com/office/drawing/2014/main" val="2240501488"/>
                    </a:ext>
                  </a:extLst>
                </a:gridCol>
              </a:tblGrid>
              <a:tr h="31968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656416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648371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800938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492596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253131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D80E7045-4B60-84AA-6B94-83FB35D9CE39}"/>
              </a:ext>
            </a:extLst>
          </p:cNvPr>
          <p:cNvSpPr txBox="1"/>
          <p:nvPr/>
        </p:nvSpPr>
        <p:spPr>
          <a:xfrm>
            <a:off x="8696487" y="2542209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"/>
              </a:rPr>
              <a:t>stack</a:t>
            </a:r>
            <a:endParaRPr kumimoji="1" lang="zh-CN" altLang="en-US" dirty="0">
              <a:latin typeface="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6A6C5C-C1AC-A9C2-10A9-BD8F3C3000FC}"/>
              </a:ext>
            </a:extLst>
          </p:cNvPr>
          <p:cNvSpPr/>
          <p:nvPr/>
        </p:nvSpPr>
        <p:spPr>
          <a:xfrm>
            <a:off x="9666739" y="3140868"/>
            <a:ext cx="1242164" cy="598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Caller</a:t>
            </a: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registers</a:t>
            </a:r>
            <a:endParaRPr kumimoji="1"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9CD966-835D-C29E-72C4-1432F91C62D9}"/>
              </a:ext>
            </a:extLst>
          </p:cNvPr>
          <p:cNvSpPr/>
          <p:nvPr/>
        </p:nvSpPr>
        <p:spPr>
          <a:xfrm>
            <a:off x="9666738" y="4000954"/>
            <a:ext cx="1238837" cy="598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Callee</a:t>
            </a: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registers</a:t>
            </a:r>
            <a:endParaRPr kumimoji="1"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4CF7280-95BC-862D-8022-4946EF1E192A}"/>
              </a:ext>
            </a:extLst>
          </p:cNvPr>
          <p:cNvSpPr txBox="1"/>
          <p:nvPr/>
        </p:nvSpPr>
        <p:spPr>
          <a:xfrm>
            <a:off x="8654331" y="2014368"/>
            <a:ext cx="1483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参数</a:t>
            </a:r>
          </a:p>
        </p:txBody>
      </p:sp>
      <p:cxnSp>
        <p:nvCxnSpPr>
          <p:cNvPr id="10" name="直接连接符 79">
            <a:extLst>
              <a:ext uri="{FF2B5EF4-FFF2-40B4-BE49-F238E27FC236}">
                <a16:creationId xmlns:a16="http://schemas.microsoft.com/office/drawing/2014/main" id="{6F429605-7279-EC63-576A-95B6A16B8526}"/>
              </a:ext>
            </a:extLst>
          </p:cNvPr>
          <p:cNvCxnSpPr>
            <a:cxnSpLocks/>
          </p:cNvCxnSpPr>
          <p:nvPr/>
        </p:nvCxnSpPr>
        <p:spPr>
          <a:xfrm flipV="1">
            <a:off x="8557031" y="2439494"/>
            <a:ext cx="2291768" cy="15640"/>
          </a:xfrm>
          <a:prstGeom prst="line">
            <a:avLst/>
          </a:prstGeom>
          <a:ln w="3810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0DD1B2FD-E6FD-56E7-6B08-67CF91867612}"/>
              </a:ext>
            </a:extLst>
          </p:cNvPr>
          <p:cNvSpPr txBox="1"/>
          <p:nvPr/>
        </p:nvSpPr>
        <p:spPr>
          <a:xfrm>
            <a:off x="638438" y="299762"/>
            <a:ext cx="4801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00" b="1" dirty="0">
                <a:solidFill>
                  <a:schemeClr val="accent3"/>
                </a:solidFill>
              </a:rPr>
              <a:t>协程状态怎么存的？</a:t>
            </a:r>
            <a:endParaRPr kumimoji="1" lang="zh-CN" altLang="en-US" sz="2400" b="1" dirty="0">
              <a:solidFill>
                <a:schemeClr val="accent3"/>
              </a:solidFill>
            </a:endParaRPr>
          </a:p>
        </p:txBody>
      </p:sp>
      <p:cxnSp>
        <p:nvCxnSpPr>
          <p:cNvPr id="12" name="直接连接符 79">
            <a:extLst>
              <a:ext uri="{FF2B5EF4-FFF2-40B4-BE49-F238E27FC236}">
                <a16:creationId xmlns:a16="http://schemas.microsoft.com/office/drawing/2014/main" id="{B02A5BA7-CBEA-8E05-14DB-8E68454D7183}"/>
              </a:ext>
            </a:extLst>
          </p:cNvPr>
          <p:cNvCxnSpPr>
            <a:cxnSpLocks/>
          </p:cNvCxnSpPr>
          <p:nvPr/>
        </p:nvCxnSpPr>
        <p:spPr>
          <a:xfrm>
            <a:off x="837191" y="1007648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4D5AE755-DECB-D03D-1BCE-CDED674DE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951" y="1200059"/>
            <a:ext cx="4911049" cy="249463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3C0473E-B968-5B2A-DAAC-87C4359E3764}"/>
              </a:ext>
            </a:extLst>
          </p:cNvPr>
          <p:cNvSpPr txBox="1"/>
          <p:nvPr/>
        </p:nvSpPr>
        <p:spPr>
          <a:xfrm>
            <a:off x="931986" y="3788442"/>
            <a:ext cx="6734906" cy="1708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是一个指向一段堆区的指针（为了方便表示，右图的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直接放在了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里）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Caller_registers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是</a:t>
            </a:r>
            <a:r>
              <a:rPr kumimoji="1" lang="zh-CN" alt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调用者（调度器）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的寄存器值暂存区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Callee_registers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是</a:t>
            </a:r>
            <a:r>
              <a:rPr kumimoji="1" lang="zh-CN" alt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被调者（当前协程）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的寄存器值暂存区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25533C5-81F6-51B6-2FC1-5E9745E41FB9}"/>
              </a:ext>
            </a:extLst>
          </p:cNvPr>
          <p:cNvSpPr txBox="1"/>
          <p:nvPr/>
        </p:nvSpPr>
        <p:spPr>
          <a:xfrm>
            <a:off x="931986" y="5856750"/>
            <a:ext cx="10689145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注：这里的</a:t>
            </a:r>
            <a:r>
              <a:rPr kumimoji="1" lang="en-US" altLang="zh-CN" dirty="0" err="1"/>
              <a:t>callxx_registers</a:t>
            </a:r>
            <a:r>
              <a:rPr kumimoji="1" lang="zh-CN" altLang="en-US" dirty="0"/>
              <a:t>并不是真的寄存器，而是每个单元格是</a:t>
            </a:r>
            <a:r>
              <a:rPr kumimoji="1" lang="en-US" altLang="zh-CN" dirty="0"/>
              <a:t>64</a:t>
            </a:r>
            <a:r>
              <a:rPr kumimoji="1" lang="zh-CN" altLang="en-US" dirty="0"/>
              <a:t>位的数组，只作为值的暂存区。</a:t>
            </a:r>
          </a:p>
        </p:txBody>
      </p:sp>
    </p:spTree>
    <p:extLst>
      <p:ext uri="{BB962C8B-B14F-4D97-AF65-F5344CB8AC3E}">
        <p14:creationId xmlns:p14="http://schemas.microsoft.com/office/powerpoint/2010/main" val="1440404883"/>
      </p:ext>
    </p:extLst>
  </p:cSld>
  <p:clrMapOvr>
    <a:masterClrMapping/>
  </p:clrMapOvr>
  <p:transition spd="slow" advClick="0" advTm="3000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E5CDA4AD-D0AD-68D8-EBAA-E68DCC6287EC}"/>
              </a:ext>
            </a:extLst>
          </p:cNvPr>
          <p:cNvSpPr/>
          <p:nvPr/>
        </p:nvSpPr>
        <p:spPr>
          <a:xfrm>
            <a:off x="8417938" y="2334652"/>
            <a:ext cx="2630904" cy="3363521"/>
          </a:xfrm>
          <a:prstGeom prst="roundRect">
            <a:avLst>
              <a:gd name="adj" fmla="val 6079"/>
            </a:avLst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B4275B-55F3-EF3A-17EB-5465893B253E}"/>
              </a:ext>
            </a:extLst>
          </p:cNvPr>
          <p:cNvSpPr txBox="1"/>
          <p:nvPr/>
        </p:nvSpPr>
        <p:spPr>
          <a:xfrm>
            <a:off x="8441602" y="2342491"/>
            <a:ext cx="2590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coroutine_context</a:t>
            </a:r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kumimoji="1" lang="zh-CN" alt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4" name="直接连接符 79">
            <a:extLst>
              <a:ext uri="{FF2B5EF4-FFF2-40B4-BE49-F238E27FC236}">
                <a16:creationId xmlns:a16="http://schemas.microsoft.com/office/drawing/2014/main" id="{3E91CDB7-8F52-1979-39E2-94C4A66A1D0E}"/>
              </a:ext>
            </a:extLst>
          </p:cNvPr>
          <p:cNvCxnSpPr>
            <a:cxnSpLocks/>
          </p:cNvCxnSpPr>
          <p:nvPr/>
        </p:nvCxnSpPr>
        <p:spPr>
          <a:xfrm flipV="1">
            <a:off x="8417938" y="2703984"/>
            <a:ext cx="2630903" cy="35444"/>
          </a:xfrm>
          <a:prstGeom prst="line">
            <a:avLst/>
          </a:prstGeom>
          <a:ln w="38100" cap="rnd">
            <a:solidFill>
              <a:srgbClr val="7030A0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表格 18">
            <a:extLst>
              <a:ext uri="{FF2B5EF4-FFF2-40B4-BE49-F238E27FC236}">
                <a16:creationId xmlns:a16="http://schemas.microsoft.com/office/drawing/2014/main" id="{ADCF60FF-72C5-916F-C903-74C02ED784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841291"/>
              </p:ext>
            </p:extLst>
          </p:nvPr>
        </p:nvGraphicFramePr>
        <p:xfrm>
          <a:off x="8738280" y="3792862"/>
          <a:ext cx="81153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536">
                  <a:extLst>
                    <a:ext uri="{9D8B030D-6E8A-4147-A177-3AD203B41FA5}">
                      <a16:colId xmlns:a16="http://schemas.microsoft.com/office/drawing/2014/main" val="2240501488"/>
                    </a:ext>
                  </a:extLst>
                </a:gridCol>
              </a:tblGrid>
              <a:tr h="31968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656416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648371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800938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492596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253131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D80E7045-4B60-84AA-6B94-83FB35D9CE39}"/>
              </a:ext>
            </a:extLst>
          </p:cNvPr>
          <p:cNvSpPr txBox="1"/>
          <p:nvPr/>
        </p:nvSpPr>
        <p:spPr>
          <a:xfrm>
            <a:off x="8738280" y="3423529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"/>
              </a:rPr>
              <a:t>stack</a:t>
            </a:r>
            <a:endParaRPr kumimoji="1" lang="zh-CN" altLang="en-US" dirty="0">
              <a:latin typeface="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6A6C5C-C1AC-A9C2-10A9-BD8F3C3000FC}"/>
              </a:ext>
            </a:extLst>
          </p:cNvPr>
          <p:cNvSpPr/>
          <p:nvPr/>
        </p:nvSpPr>
        <p:spPr>
          <a:xfrm>
            <a:off x="9708532" y="4022188"/>
            <a:ext cx="1242164" cy="598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Caller</a:t>
            </a: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registers</a:t>
            </a:r>
            <a:endParaRPr kumimoji="1"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9CD966-835D-C29E-72C4-1432F91C62D9}"/>
              </a:ext>
            </a:extLst>
          </p:cNvPr>
          <p:cNvSpPr/>
          <p:nvPr/>
        </p:nvSpPr>
        <p:spPr>
          <a:xfrm>
            <a:off x="9708531" y="4882274"/>
            <a:ext cx="1238837" cy="598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Callee</a:t>
            </a: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registers</a:t>
            </a:r>
            <a:endParaRPr kumimoji="1"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4CF7280-95BC-862D-8022-4946EF1E192A}"/>
              </a:ext>
            </a:extLst>
          </p:cNvPr>
          <p:cNvSpPr txBox="1"/>
          <p:nvPr/>
        </p:nvSpPr>
        <p:spPr>
          <a:xfrm>
            <a:off x="8696124" y="2895688"/>
            <a:ext cx="1483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参数</a:t>
            </a:r>
          </a:p>
        </p:txBody>
      </p:sp>
      <p:cxnSp>
        <p:nvCxnSpPr>
          <p:cNvPr id="10" name="直接连接符 79">
            <a:extLst>
              <a:ext uri="{FF2B5EF4-FFF2-40B4-BE49-F238E27FC236}">
                <a16:creationId xmlns:a16="http://schemas.microsoft.com/office/drawing/2014/main" id="{6F429605-7279-EC63-576A-95B6A16B8526}"/>
              </a:ext>
            </a:extLst>
          </p:cNvPr>
          <p:cNvCxnSpPr>
            <a:cxnSpLocks/>
          </p:cNvCxnSpPr>
          <p:nvPr/>
        </p:nvCxnSpPr>
        <p:spPr>
          <a:xfrm flipV="1">
            <a:off x="8598824" y="3320814"/>
            <a:ext cx="2291768" cy="15640"/>
          </a:xfrm>
          <a:prstGeom prst="line">
            <a:avLst/>
          </a:prstGeom>
          <a:ln w="3810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0DD1B2FD-E6FD-56E7-6B08-67CF91867612}"/>
              </a:ext>
            </a:extLst>
          </p:cNvPr>
          <p:cNvSpPr txBox="1"/>
          <p:nvPr/>
        </p:nvSpPr>
        <p:spPr>
          <a:xfrm>
            <a:off x="837191" y="45194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solidFill>
                  <a:schemeClr val="accent3"/>
                </a:solidFill>
              </a:rPr>
              <a:t>协程切换</a:t>
            </a:r>
            <a:endParaRPr kumimoji="1" lang="zh-CN" altLang="en-US" sz="2000" b="1" dirty="0">
              <a:solidFill>
                <a:schemeClr val="accent3"/>
              </a:solidFill>
            </a:endParaRPr>
          </a:p>
        </p:txBody>
      </p:sp>
      <p:cxnSp>
        <p:nvCxnSpPr>
          <p:cNvPr id="12" name="直接连接符 79">
            <a:extLst>
              <a:ext uri="{FF2B5EF4-FFF2-40B4-BE49-F238E27FC236}">
                <a16:creationId xmlns:a16="http://schemas.microsoft.com/office/drawing/2014/main" id="{B02A5BA7-CBEA-8E05-14DB-8E68454D7183}"/>
              </a:ext>
            </a:extLst>
          </p:cNvPr>
          <p:cNvCxnSpPr>
            <a:cxnSpLocks/>
          </p:cNvCxnSpPr>
          <p:nvPr/>
        </p:nvCxnSpPr>
        <p:spPr>
          <a:xfrm>
            <a:off x="837191" y="1159827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C8C22334-DEDA-C681-6100-C44CFD64B645}"/>
              </a:ext>
            </a:extLst>
          </p:cNvPr>
          <p:cNvSpPr txBox="1"/>
          <p:nvPr/>
        </p:nvSpPr>
        <p:spPr>
          <a:xfrm>
            <a:off x="962195" y="1370257"/>
            <a:ext cx="7776084" cy="5035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（前提：本实验中，一个协程只能由调度器唤醒，也只能切出到调度器）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切入</a:t>
            </a:r>
            <a:r>
              <a:rPr kumimoji="1" lang="en-US" altLang="zh-CN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(resume</a:t>
            </a:r>
            <a:r>
              <a:rPr kumimoji="1" lang="zh-CN" altLang="en-US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：</a:t>
            </a:r>
            <a:endParaRPr kumimoji="1" lang="en-US" altLang="zh-CN" sz="2000" b="1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现在运行的是调度器，当选择一个协程执行之后：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把调度器</a:t>
            </a:r>
            <a:r>
              <a:rPr kumimoji="1" lang="zh-CN" altLang="en-US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目前的寄存器值</a:t>
            </a:r>
            <a:r>
              <a:rPr kumimoji="1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暂存入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caller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把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callee</a:t>
            </a:r>
            <a:r>
              <a:rPr kumimoji="1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暂存的寄存器值恢复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" altLang="zh-CN" sz="1600" b="0" dirty="0" err="1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coroutine_switch</a:t>
            </a:r>
            <a:r>
              <a:rPr lang="en" altLang="zh-CN" sz="1600" b="0" dirty="0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600" b="0" dirty="0" err="1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call</a:t>
            </a:r>
            <a:r>
              <a:rPr lang="en" altLang="zh-CN" sz="1600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er</a:t>
            </a:r>
            <a:r>
              <a:rPr lang="en" altLang="zh-CN" sz="1600" b="0" dirty="0" err="1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_registers,call</a:t>
            </a:r>
            <a:r>
              <a:rPr lang="en" altLang="zh-CN" sz="1600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ee</a:t>
            </a:r>
            <a:r>
              <a:rPr lang="en" altLang="zh-CN" sz="1600" b="0" dirty="0" err="1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_registers</a:t>
            </a:r>
            <a:r>
              <a:rPr lang="en" altLang="zh-CN" sz="1600" b="0" dirty="0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切出</a:t>
            </a:r>
            <a:r>
              <a:rPr kumimoji="1" lang="en-US" altLang="zh-CN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(yield</a:t>
            </a:r>
            <a:r>
              <a:rPr kumimoji="1" lang="zh-CN" altLang="en-US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：</a:t>
            </a:r>
            <a:endParaRPr kumimoji="1" lang="en-US" altLang="zh-CN" sz="2400" b="1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现在执行的是某协程，切回到调度器后：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把现在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协程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kumimoji="1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的寄存器值暂存入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callee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把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caller</a:t>
            </a:r>
            <a:r>
              <a:rPr kumimoji="1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暂存的寄存器值恢复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" altLang="zh-CN" sz="1600" dirty="0" err="1">
                <a:solidFill>
                  <a:schemeClr val="accent5"/>
                </a:solidFill>
                <a:latin typeface="Menlo" panose="020B0609030804020204" pitchFamily="49" charset="0"/>
              </a:rPr>
              <a:t>coroutine_switch</a:t>
            </a:r>
            <a:r>
              <a:rPr lang="en" altLang="zh-CN" sz="1600" dirty="0">
                <a:solidFill>
                  <a:schemeClr val="accent5"/>
                </a:solidFill>
                <a:latin typeface="Menlo" panose="020B0609030804020204" pitchFamily="49" charset="0"/>
              </a:rPr>
              <a:t>(</a:t>
            </a:r>
            <a:r>
              <a:rPr lang="en" altLang="zh-CN" sz="1600" dirty="0" err="1">
                <a:solidFill>
                  <a:schemeClr val="accent5"/>
                </a:solidFill>
                <a:latin typeface="Menlo" panose="020B0609030804020204" pitchFamily="49" charset="0"/>
              </a:rPr>
              <a:t>call</a:t>
            </a:r>
            <a:r>
              <a:rPr lang="en" altLang="zh-CN" sz="1600" dirty="0" err="1">
                <a:solidFill>
                  <a:srgbClr val="FF0000"/>
                </a:solidFill>
                <a:latin typeface="Menlo" panose="020B0609030804020204" pitchFamily="49" charset="0"/>
              </a:rPr>
              <a:t>ee</a:t>
            </a:r>
            <a:r>
              <a:rPr lang="en" altLang="zh-CN" sz="1600" dirty="0" err="1">
                <a:solidFill>
                  <a:schemeClr val="accent5"/>
                </a:solidFill>
                <a:latin typeface="Menlo" panose="020B0609030804020204" pitchFamily="49" charset="0"/>
              </a:rPr>
              <a:t>_registers</a:t>
            </a:r>
            <a:r>
              <a:rPr lang="en" altLang="zh-CN" sz="1600" dirty="0">
                <a:solidFill>
                  <a:schemeClr val="accent5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 err="1">
                <a:solidFill>
                  <a:schemeClr val="accent5"/>
                </a:solidFill>
                <a:latin typeface="Menlo" panose="020B0609030804020204" pitchFamily="49" charset="0"/>
              </a:rPr>
              <a:t>call</a:t>
            </a:r>
            <a:r>
              <a:rPr lang="en" altLang="zh-CN" sz="1600" dirty="0" err="1">
                <a:solidFill>
                  <a:srgbClr val="FF0000"/>
                </a:solidFill>
                <a:latin typeface="Menlo" panose="020B0609030804020204" pitchFamily="49" charset="0"/>
              </a:rPr>
              <a:t>er</a:t>
            </a:r>
            <a:r>
              <a:rPr lang="en" altLang="zh-CN" sz="1600" dirty="0" err="1">
                <a:solidFill>
                  <a:schemeClr val="accent5"/>
                </a:solidFill>
                <a:latin typeface="Menlo" panose="020B0609030804020204" pitchFamily="49" charset="0"/>
              </a:rPr>
              <a:t>_registers</a:t>
            </a:r>
            <a:r>
              <a:rPr lang="en" altLang="zh-CN" sz="1600" dirty="0">
                <a:solidFill>
                  <a:schemeClr val="accent5"/>
                </a:solidFill>
                <a:latin typeface="Menlo" panose="020B060903080402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26910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Click="0" advTm="3000"/>
    </mc:Choice>
    <mc:Fallback xmlns=""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E5CDA4AD-D0AD-68D8-EBAA-E68DCC6287EC}"/>
              </a:ext>
            </a:extLst>
          </p:cNvPr>
          <p:cNvSpPr/>
          <p:nvPr/>
        </p:nvSpPr>
        <p:spPr>
          <a:xfrm>
            <a:off x="8376145" y="1453332"/>
            <a:ext cx="2630904" cy="3363521"/>
          </a:xfrm>
          <a:prstGeom prst="roundRect">
            <a:avLst>
              <a:gd name="adj" fmla="val 6079"/>
            </a:avLst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B4275B-55F3-EF3A-17EB-5465893B253E}"/>
              </a:ext>
            </a:extLst>
          </p:cNvPr>
          <p:cNvSpPr txBox="1"/>
          <p:nvPr/>
        </p:nvSpPr>
        <p:spPr>
          <a:xfrm>
            <a:off x="8399809" y="1461171"/>
            <a:ext cx="2590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coroutine_context</a:t>
            </a:r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kumimoji="1" lang="zh-CN" alt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4" name="直接连接符 79">
            <a:extLst>
              <a:ext uri="{FF2B5EF4-FFF2-40B4-BE49-F238E27FC236}">
                <a16:creationId xmlns:a16="http://schemas.microsoft.com/office/drawing/2014/main" id="{3E91CDB7-8F52-1979-39E2-94C4A66A1D0E}"/>
              </a:ext>
            </a:extLst>
          </p:cNvPr>
          <p:cNvCxnSpPr>
            <a:cxnSpLocks/>
          </p:cNvCxnSpPr>
          <p:nvPr/>
        </p:nvCxnSpPr>
        <p:spPr>
          <a:xfrm flipV="1">
            <a:off x="8376145" y="1822664"/>
            <a:ext cx="2630903" cy="35444"/>
          </a:xfrm>
          <a:prstGeom prst="line">
            <a:avLst/>
          </a:prstGeom>
          <a:ln w="38100" cap="rnd">
            <a:solidFill>
              <a:srgbClr val="7030A0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表格 18">
            <a:extLst>
              <a:ext uri="{FF2B5EF4-FFF2-40B4-BE49-F238E27FC236}">
                <a16:creationId xmlns:a16="http://schemas.microsoft.com/office/drawing/2014/main" id="{ADCF60FF-72C5-916F-C903-74C02ED78422}"/>
              </a:ext>
            </a:extLst>
          </p:cNvPr>
          <p:cNvGraphicFramePr>
            <a:graphicFrameLocks noGrp="1"/>
          </p:cNvGraphicFramePr>
          <p:nvPr/>
        </p:nvGraphicFramePr>
        <p:xfrm>
          <a:off x="8696487" y="2911542"/>
          <a:ext cx="81153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536">
                  <a:extLst>
                    <a:ext uri="{9D8B030D-6E8A-4147-A177-3AD203B41FA5}">
                      <a16:colId xmlns:a16="http://schemas.microsoft.com/office/drawing/2014/main" val="2240501488"/>
                    </a:ext>
                  </a:extLst>
                </a:gridCol>
              </a:tblGrid>
              <a:tr h="31968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656416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648371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800938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492596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253131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D80E7045-4B60-84AA-6B94-83FB35D9CE39}"/>
              </a:ext>
            </a:extLst>
          </p:cNvPr>
          <p:cNvSpPr txBox="1"/>
          <p:nvPr/>
        </p:nvSpPr>
        <p:spPr>
          <a:xfrm>
            <a:off x="8696487" y="2542209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"/>
              </a:rPr>
              <a:t>stack</a:t>
            </a:r>
            <a:endParaRPr kumimoji="1" lang="zh-CN" altLang="en-US" dirty="0">
              <a:latin typeface="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6A6C5C-C1AC-A9C2-10A9-BD8F3C3000FC}"/>
              </a:ext>
            </a:extLst>
          </p:cNvPr>
          <p:cNvSpPr/>
          <p:nvPr/>
        </p:nvSpPr>
        <p:spPr>
          <a:xfrm>
            <a:off x="9666739" y="3140868"/>
            <a:ext cx="1242164" cy="598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Caller</a:t>
            </a: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registers</a:t>
            </a:r>
            <a:endParaRPr kumimoji="1"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9CD966-835D-C29E-72C4-1432F91C62D9}"/>
              </a:ext>
            </a:extLst>
          </p:cNvPr>
          <p:cNvSpPr/>
          <p:nvPr/>
        </p:nvSpPr>
        <p:spPr>
          <a:xfrm>
            <a:off x="9666738" y="4000954"/>
            <a:ext cx="1238837" cy="598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Callee</a:t>
            </a: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registers</a:t>
            </a:r>
            <a:endParaRPr kumimoji="1"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4CF7280-95BC-862D-8022-4946EF1E192A}"/>
              </a:ext>
            </a:extLst>
          </p:cNvPr>
          <p:cNvSpPr txBox="1"/>
          <p:nvPr/>
        </p:nvSpPr>
        <p:spPr>
          <a:xfrm>
            <a:off x="8654331" y="2014368"/>
            <a:ext cx="1483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参数</a:t>
            </a:r>
          </a:p>
        </p:txBody>
      </p:sp>
      <p:cxnSp>
        <p:nvCxnSpPr>
          <p:cNvPr id="10" name="直接连接符 79">
            <a:extLst>
              <a:ext uri="{FF2B5EF4-FFF2-40B4-BE49-F238E27FC236}">
                <a16:creationId xmlns:a16="http://schemas.microsoft.com/office/drawing/2014/main" id="{6F429605-7279-EC63-576A-95B6A16B8526}"/>
              </a:ext>
            </a:extLst>
          </p:cNvPr>
          <p:cNvCxnSpPr>
            <a:cxnSpLocks/>
          </p:cNvCxnSpPr>
          <p:nvPr/>
        </p:nvCxnSpPr>
        <p:spPr>
          <a:xfrm flipV="1">
            <a:off x="8557031" y="2439494"/>
            <a:ext cx="2291768" cy="15640"/>
          </a:xfrm>
          <a:prstGeom prst="line">
            <a:avLst/>
          </a:prstGeom>
          <a:ln w="3810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0DD1B2FD-E6FD-56E7-6B08-67CF91867612}"/>
              </a:ext>
            </a:extLst>
          </p:cNvPr>
          <p:cNvSpPr txBox="1"/>
          <p:nvPr/>
        </p:nvSpPr>
        <p:spPr>
          <a:xfrm>
            <a:off x="650161" y="346784"/>
            <a:ext cx="34772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solidFill>
                  <a:schemeClr val="accent3"/>
                </a:solidFill>
              </a:rPr>
              <a:t>switch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无从下手？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12" name="直接连接符 79">
            <a:extLst>
              <a:ext uri="{FF2B5EF4-FFF2-40B4-BE49-F238E27FC236}">
                <a16:creationId xmlns:a16="http://schemas.microsoft.com/office/drawing/2014/main" id="{B02A5BA7-CBEA-8E05-14DB-8E68454D7183}"/>
              </a:ext>
            </a:extLst>
          </p:cNvPr>
          <p:cNvCxnSpPr>
            <a:cxnSpLocks/>
          </p:cNvCxnSpPr>
          <p:nvPr/>
        </p:nvCxnSpPr>
        <p:spPr>
          <a:xfrm>
            <a:off x="837191" y="1007648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C8C22334-DEDA-C681-6100-C44CFD64B645}"/>
              </a:ext>
            </a:extLst>
          </p:cNvPr>
          <p:cNvSpPr txBox="1"/>
          <p:nvPr/>
        </p:nvSpPr>
        <p:spPr>
          <a:xfrm>
            <a:off x="692686" y="1159827"/>
            <a:ext cx="7776084" cy="788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以</a:t>
            </a:r>
            <a:r>
              <a:rPr kumimoji="1" lang="en-US" altLang="zh-CN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resume</a:t>
            </a:r>
            <a:r>
              <a:rPr kumimoji="1" lang="zh-CN" altLang="en-US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为例：</a:t>
            </a:r>
            <a:endParaRPr kumimoji="1" lang="en-US" altLang="zh-CN" sz="2400" b="1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" altLang="zh-CN" sz="1600" b="0" dirty="0" err="1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coroutine_switch</a:t>
            </a:r>
            <a:r>
              <a:rPr lang="en" altLang="zh-CN" sz="1600" b="0" dirty="0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600" b="0" dirty="0" err="1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call</a:t>
            </a:r>
            <a:r>
              <a:rPr lang="en" altLang="zh-CN" sz="1600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er</a:t>
            </a:r>
            <a:r>
              <a:rPr lang="en" altLang="zh-CN" sz="1600" b="0" dirty="0" err="1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_registers,call</a:t>
            </a:r>
            <a:r>
              <a:rPr lang="en" altLang="zh-CN" sz="1600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ee</a:t>
            </a:r>
            <a:r>
              <a:rPr lang="en" altLang="zh-CN" sz="1600" b="0" dirty="0" err="1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_registers</a:t>
            </a:r>
            <a:r>
              <a:rPr lang="en" altLang="zh-CN" sz="1600" b="0" dirty="0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B1A284-7F3D-C901-A000-D87AD47DB3B8}"/>
              </a:ext>
            </a:extLst>
          </p:cNvPr>
          <p:cNvSpPr txBox="1"/>
          <p:nvPr/>
        </p:nvSpPr>
        <p:spPr>
          <a:xfrm>
            <a:off x="3470248" y="136940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rdi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20A316-84A4-C88F-510F-E68DA30384F0}"/>
              </a:ext>
            </a:extLst>
          </p:cNvPr>
          <p:cNvSpPr txBox="1"/>
          <p:nvPr/>
        </p:nvSpPr>
        <p:spPr>
          <a:xfrm>
            <a:off x="5623901" y="136940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rsi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6B5F330-2F59-4000-093E-A83257F16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31" y="2220781"/>
            <a:ext cx="6477000" cy="419521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C926FE4-9D4F-8F2F-17C8-5B2A9CB03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64" y="2971799"/>
            <a:ext cx="1800213" cy="294395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2E208573-CA2C-6ABF-C9FE-0DBEDC27C2E3}"/>
              </a:ext>
            </a:extLst>
          </p:cNvPr>
          <p:cNvSpPr txBox="1"/>
          <p:nvPr/>
        </p:nvSpPr>
        <p:spPr>
          <a:xfrm>
            <a:off x="3377273" y="2862698"/>
            <a:ext cx="20746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以保存</a:t>
            </a:r>
            <a:r>
              <a:rPr kumimoji="1" lang="en-US" altLang="zh-CN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rbx</a:t>
            </a:r>
            <a:r>
              <a:rPr kumimoji="1" lang="zh-CN" altLang="en-US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为例：</a:t>
            </a:r>
            <a:endParaRPr kumimoji="1" lang="en-US" altLang="zh-CN" b="1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rbx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的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index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是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8=72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777247E-E2C6-6206-75BE-9DC2E4728FBA}"/>
              </a:ext>
            </a:extLst>
          </p:cNvPr>
          <p:cNvSpPr txBox="1"/>
          <p:nvPr/>
        </p:nvSpPr>
        <p:spPr>
          <a:xfrm>
            <a:off x="1232597" y="44437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9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B08835E-74CB-091D-C131-788708DAC5B3}"/>
              </a:ext>
            </a:extLst>
          </p:cNvPr>
          <p:cNvSpPr txBox="1"/>
          <p:nvPr/>
        </p:nvSpPr>
        <p:spPr>
          <a:xfrm>
            <a:off x="3377273" y="376426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accent3"/>
                </a:solidFill>
              </a:rPr>
              <a:t>所以：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7848541-EC34-2782-FAEF-F20F3F09F284}"/>
              </a:ext>
            </a:extLst>
          </p:cNvPr>
          <p:cNvSpPr txBox="1"/>
          <p:nvPr/>
        </p:nvSpPr>
        <p:spPr>
          <a:xfrm>
            <a:off x="3470248" y="4165416"/>
            <a:ext cx="2717411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" altLang="zh-CN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coroutine_switch</a:t>
            </a:r>
            <a:r>
              <a:rPr kumimoji="1" lang="en" altLang="zh-CN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保存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rip</a:t>
            </a: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movq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rbx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72</a:t>
            </a:r>
            <a:r>
              <a:rPr kumimoji="1" lang="en-US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(%</a:t>
            </a:r>
            <a:r>
              <a:rPr kumimoji="1" lang="en-US" altLang="zh-CN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rdi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movq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72</a:t>
            </a:r>
            <a:r>
              <a:rPr kumimoji="1" lang="en-US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(%</a:t>
            </a:r>
            <a:r>
              <a:rPr kumimoji="1" lang="en-US" altLang="zh-CN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rsi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rbx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jmpq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120(%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rsi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858F85F-DB27-8DC7-98E7-C08589EF04A8}"/>
              </a:ext>
            </a:extLst>
          </p:cNvPr>
          <p:cNvSpPr txBox="1"/>
          <p:nvPr/>
        </p:nvSpPr>
        <p:spPr>
          <a:xfrm>
            <a:off x="6673026" y="5134912"/>
            <a:ext cx="4580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可以参考课件上的 </a:t>
            </a:r>
            <a:r>
              <a:rPr lang="en-US" altLang="zh-CN" dirty="0" err="1"/>
              <a:t>setjmp</a:t>
            </a:r>
            <a:r>
              <a:rPr lang="en-US" altLang="zh-CN" dirty="0"/>
              <a:t>/</a:t>
            </a:r>
            <a:r>
              <a:rPr lang="en-US" altLang="zh-CN" dirty="0" err="1"/>
              <a:t>longjmp</a:t>
            </a:r>
            <a:r>
              <a:rPr lang="en-US" altLang="zh-CN" dirty="0"/>
              <a:t> </a:t>
            </a:r>
            <a:r>
              <a:rPr lang="zh-CN" altLang="en-US" dirty="0"/>
              <a:t>来写 </a:t>
            </a:r>
          </a:p>
        </p:txBody>
      </p:sp>
    </p:spTree>
    <p:extLst>
      <p:ext uri="{BB962C8B-B14F-4D97-AF65-F5344CB8AC3E}">
        <p14:creationId xmlns:p14="http://schemas.microsoft.com/office/powerpoint/2010/main" val="1963071002"/>
      </p:ext>
    </p:extLst>
  </p:cSld>
  <p:clrMapOvr>
    <a:masterClrMapping/>
  </p:clrMapOvr>
  <p:transition spd="slow" advClick="0" advTm="3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5C5CC16-CFA5-D6D3-CA09-537AD3E92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7334"/>
            <a:ext cx="12245272" cy="682829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03796CC-15C4-BAD3-650C-78E845D10784}"/>
              </a:ext>
            </a:extLst>
          </p:cNvPr>
          <p:cNvSpPr/>
          <p:nvPr/>
        </p:nvSpPr>
        <p:spPr>
          <a:xfrm>
            <a:off x="200722" y="780585"/>
            <a:ext cx="4438185" cy="604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A4AE18A-475D-1E43-F0FA-A3F40BE7B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04" y="1479550"/>
            <a:ext cx="2654300" cy="389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334059"/>
      </p:ext>
    </p:extLst>
  </p:cSld>
  <p:clrMapOvr>
    <a:masterClrMapping/>
  </p:clrMapOvr>
  <p:transition spd="slow" advClick="0" advTm="3000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8729688B-5D13-E1D7-B834-697B47851BFF}"/>
              </a:ext>
            </a:extLst>
          </p:cNvPr>
          <p:cNvCxnSpPr>
            <a:cxnSpLocks/>
          </p:cNvCxnSpPr>
          <p:nvPr/>
        </p:nvCxnSpPr>
        <p:spPr>
          <a:xfrm flipH="1">
            <a:off x="8787275" y="4751804"/>
            <a:ext cx="725126" cy="64916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A8C6608-634C-4D01-95BD-3AB8661C61B8}"/>
              </a:ext>
            </a:extLst>
          </p:cNvPr>
          <p:cNvCxnSpPr>
            <a:cxnSpLocks/>
          </p:cNvCxnSpPr>
          <p:nvPr/>
        </p:nvCxnSpPr>
        <p:spPr>
          <a:xfrm flipH="1" flipV="1">
            <a:off x="8787275" y="3831725"/>
            <a:ext cx="707215" cy="61370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512387" y="423873"/>
            <a:ext cx="8392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chemeClr val="accent3"/>
                </a:solidFill>
              </a:rPr>
              <a:t>每个协程是如何</a:t>
            </a:r>
            <a:r>
              <a:rPr kumimoji="1" lang="zh-CN" altLang="en-US" sz="3200" b="1" dirty="0">
                <a:solidFill>
                  <a:schemeClr val="accent5"/>
                </a:solidFill>
              </a:rPr>
              <a:t>注册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、</a:t>
            </a:r>
            <a:r>
              <a:rPr kumimoji="1" lang="zh-CN" altLang="en-US" sz="3200" b="1" dirty="0">
                <a:solidFill>
                  <a:schemeClr val="accent5"/>
                </a:solidFill>
              </a:rPr>
              <a:t>初始化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、</a:t>
            </a:r>
            <a:r>
              <a:rPr kumimoji="1" lang="zh-CN" altLang="en-US" sz="3200" b="1" dirty="0">
                <a:solidFill>
                  <a:schemeClr val="accent5"/>
                </a:solidFill>
              </a:rPr>
              <a:t>运行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起来的？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108108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0A846288-1516-3A57-FCA0-FC8C775921A0}"/>
              </a:ext>
            </a:extLst>
          </p:cNvPr>
          <p:cNvSpPr txBox="1"/>
          <p:nvPr/>
        </p:nvSpPr>
        <p:spPr>
          <a:xfrm>
            <a:off x="512387" y="1359845"/>
            <a:ext cx="7058163" cy="5120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en-US" altLang="zh-CN" sz="24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new_coroutine</a:t>
            </a:r>
            <a:r>
              <a:rPr kumimoji="1" lang="en-US" altLang="zh-CN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调用了协程的构造函数并在</a:t>
            </a:r>
            <a:r>
              <a:rPr kumimoji="1" lang="zh-CN" alt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堆区</a:t>
            </a:r>
            <a:r>
              <a:rPr kumimoji="1" lang="zh-CN" altLang="en-US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为协程申请了空间</a:t>
            </a:r>
            <a:endParaRPr kumimoji="1" lang="en-US" altLang="zh-CN" sz="2400" b="1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endParaRPr kumimoji="1" lang="en-US" altLang="zh-CN" sz="2400" b="1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endParaRPr kumimoji="1" lang="en-US" altLang="zh-CN" sz="2400" b="1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kumimoji="1" lang="en-US" altLang="zh-CN" sz="24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basic_context</a:t>
            </a:r>
            <a:r>
              <a:rPr kumimoji="1" lang="en-US" altLang="zh-CN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的构造函数主要做啥？</a:t>
            </a:r>
            <a:endParaRPr kumimoji="1" lang="en-US" altLang="zh-CN" sz="2400" b="1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给每个协程</a:t>
            </a:r>
            <a:r>
              <a:rPr kumimoji="1" lang="en-US" altLang="zh-CN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kumimoji="1" lang="zh-CN" altLang="en-US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一段</a:t>
            </a:r>
            <a:r>
              <a:rPr kumimoji="1" lang="zh-CN" alt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“栈帧”（也就是图中的</a:t>
            </a:r>
            <a:r>
              <a:rPr kumimoji="1"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r>
              <a:rPr kumimoji="1" lang="zh-CN" alt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，在堆区）</a:t>
            </a:r>
            <a:endParaRPr kumimoji="1" lang="en-US" altLang="zh-CN" sz="20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给</a:t>
            </a:r>
            <a:r>
              <a:rPr kumimoji="1" lang="en-US" altLang="zh-CN" sz="2000" b="1" dirty="0" err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callee_register</a:t>
            </a:r>
            <a:r>
              <a:rPr kumimoji="1" lang="en-US" altLang="zh-CN" b="1" dirty="0" err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kumimoji="1" lang="zh-CN" altLang="en-US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初始化了以下寄存器</a:t>
            </a:r>
            <a:endParaRPr kumimoji="1" lang="en-US" altLang="zh-CN" b="1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rsp</a:t>
            </a:r>
            <a:r>
              <a:rPr kumimoji="1" lang="zh-CN" altLang="en-US" sz="20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指向“栈帧”末尾</a:t>
            </a:r>
            <a:endParaRPr kumimoji="1" lang="en-US" altLang="zh-CN" sz="2000" b="1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rip</a:t>
            </a:r>
            <a:r>
              <a:rPr kumimoji="1" lang="zh-CN" altLang="en-US" sz="20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设置为（</a:t>
            </a:r>
            <a:r>
              <a:rPr kumimoji="1" lang="en" altLang="zh-CN" sz="20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coroutine_entry</a:t>
            </a:r>
            <a:r>
              <a:rPr kumimoji="1" lang="zh-CN" altLang="en-US" sz="20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）函数地址</a:t>
            </a:r>
            <a:endParaRPr kumimoji="1" lang="en-US" altLang="zh-CN" sz="2000" b="1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R12</a:t>
            </a:r>
            <a:r>
              <a:rPr kumimoji="1" lang="zh-CN" altLang="en-US" sz="20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设置为（</a:t>
            </a:r>
            <a:r>
              <a:rPr kumimoji="1" lang="en" altLang="zh-CN" sz="20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coroutine_main</a:t>
            </a:r>
            <a:r>
              <a:rPr kumimoji="1" lang="zh-CN" altLang="en-US" sz="20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）</a:t>
            </a:r>
            <a:endParaRPr kumimoji="1" lang="en-US" altLang="zh-CN" sz="2000" b="1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R13</a:t>
            </a:r>
            <a:r>
              <a:rPr kumimoji="1" lang="zh-CN" altLang="en-US" sz="20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设置为（本协程）</a:t>
            </a:r>
            <a:endParaRPr kumimoji="1" lang="en-US" altLang="zh-CN" sz="2000" b="1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0848C152-3445-2783-296A-0BD68E64E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20" y="3786257"/>
            <a:ext cx="1298033" cy="1626389"/>
          </a:xfrm>
          <a:prstGeom prst="rect">
            <a:avLst/>
          </a:prstGeom>
        </p:spPr>
      </p:pic>
      <p:cxnSp>
        <p:nvCxnSpPr>
          <p:cNvPr id="35" name="直接连接符 79">
            <a:extLst>
              <a:ext uri="{FF2B5EF4-FFF2-40B4-BE49-F238E27FC236}">
                <a16:creationId xmlns:a16="http://schemas.microsoft.com/office/drawing/2014/main" id="{01EF02C7-3105-CA6D-DDF4-BBF98A4EE904}"/>
              </a:ext>
            </a:extLst>
          </p:cNvPr>
          <p:cNvCxnSpPr>
            <a:cxnSpLocks/>
          </p:cNvCxnSpPr>
          <p:nvPr/>
        </p:nvCxnSpPr>
        <p:spPr>
          <a:xfrm>
            <a:off x="7583131" y="1920699"/>
            <a:ext cx="0" cy="3822052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733D6AE0-752B-8CC8-EDF1-E7AA437F915B}"/>
              </a:ext>
            </a:extLst>
          </p:cNvPr>
          <p:cNvSpPr/>
          <p:nvPr/>
        </p:nvSpPr>
        <p:spPr>
          <a:xfrm>
            <a:off x="9501768" y="1694738"/>
            <a:ext cx="1737998" cy="42813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4820B20-4203-5907-D80F-726BEDF9404A}"/>
              </a:ext>
            </a:extLst>
          </p:cNvPr>
          <p:cNvSpPr/>
          <p:nvPr/>
        </p:nvSpPr>
        <p:spPr>
          <a:xfrm>
            <a:off x="9503529" y="2358526"/>
            <a:ext cx="1743346" cy="4361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协程调度函数</a:t>
            </a:r>
          </a:p>
        </p:txBody>
      </p:sp>
      <p:sp>
        <p:nvSpPr>
          <p:cNvPr id="41" name="右大括号 40">
            <a:extLst>
              <a:ext uri="{FF2B5EF4-FFF2-40B4-BE49-F238E27FC236}">
                <a16:creationId xmlns:a16="http://schemas.microsoft.com/office/drawing/2014/main" id="{0CB8C11E-F0FA-9FA3-6BF0-A6B1F9BCB356}"/>
              </a:ext>
            </a:extLst>
          </p:cNvPr>
          <p:cNvSpPr/>
          <p:nvPr/>
        </p:nvSpPr>
        <p:spPr>
          <a:xfrm>
            <a:off x="11338636" y="1766679"/>
            <a:ext cx="229951" cy="1027961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F66E8CE-0D2C-1A71-AD7E-C423F9BE80B9}"/>
              </a:ext>
            </a:extLst>
          </p:cNvPr>
          <p:cNvSpPr txBox="1"/>
          <p:nvPr/>
        </p:nvSpPr>
        <p:spPr>
          <a:xfrm>
            <a:off x="11470132" y="1534732"/>
            <a:ext cx="5675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系统栈空间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9E01E87-0413-9E79-7689-1D59218BEC34}"/>
              </a:ext>
            </a:extLst>
          </p:cNvPr>
          <p:cNvSpPr/>
          <p:nvPr/>
        </p:nvSpPr>
        <p:spPr>
          <a:xfrm>
            <a:off x="9503529" y="3556076"/>
            <a:ext cx="1743346" cy="3417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Shard_library</a:t>
            </a:r>
            <a:endParaRPr lang="zh-CN" altLang="en-US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C13E732-8B4C-5769-8012-EDA9E7E3B089}"/>
              </a:ext>
            </a:extLst>
          </p:cNvPr>
          <p:cNvSpPr/>
          <p:nvPr/>
        </p:nvSpPr>
        <p:spPr>
          <a:xfrm>
            <a:off x="9505213" y="4146413"/>
            <a:ext cx="1743334" cy="18296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" name="右大括号 44">
            <a:extLst>
              <a:ext uri="{FF2B5EF4-FFF2-40B4-BE49-F238E27FC236}">
                <a16:creationId xmlns:a16="http://schemas.microsoft.com/office/drawing/2014/main" id="{DA825253-7027-77F3-337D-DB87471D3178}"/>
              </a:ext>
            </a:extLst>
          </p:cNvPr>
          <p:cNvSpPr/>
          <p:nvPr/>
        </p:nvSpPr>
        <p:spPr>
          <a:xfrm>
            <a:off x="11338636" y="4137708"/>
            <a:ext cx="229951" cy="164076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7EF8CAA-A0C6-4980-F99C-6059EA0727BB}"/>
              </a:ext>
            </a:extLst>
          </p:cNvPr>
          <p:cNvSpPr txBox="1"/>
          <p:nvPr/>
        </p:nvSpPr>
        <p:spPr>
          <a:xfrm>
            <a:off x="11467282" y="4216013"/>
            <a:ext cx="3461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系统堆空间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773F692-6B65-1CEF-40EB-EAD4D8364A1B}"/>
              </a:ext>
            </a:extLst>
          </p:cNvPr>
          <p:cNvSpPr/>
          <p:nvPr/>
        </p:nvSpPr>
        <p:spPr>
          <a:xfrm>
            <a:off x="9512401" y="5277646"/>
            <a:ext cx="1737998" cy="296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协程</a:t>
            </a:r>
            <a:r>
              <a:rPr lang="en-US" altLang="zh-CN" dirty="0"/>
              <a:t>A</a:t>
            </a:r>
            <a:r>
              <a:rPr lang="zh-CN" altLang="en-US" dirty="0"/>
              <a:t>的栈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A9CF107-6CB6-4C1B-58D5-AA7FECC5A753}"/>
              </a:ext>
            </a:extLst>
          </p:cNvPr>
          <p:cNvSpPr/>
          <p:nvPr/>
        </p:nvSpPr>
        <p:spPr>
          <a:xfrm>
            <a:off x="9506215" y="4856312"/>
            <a:ext cx="1737998" cy="296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协程</a:t>
            </a:r>
            <a:r>
              <a:rPr lang="en-US" altLang="zh-CN" dirty="0"/>
              <a:t>B</a:t>
            </a:r>
            <a:r>
              <a:rPr lang="zh-CN" altLang="en-US" dirty="0"/>
              <a:t>的栈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7E734C7-D8DD-27B0-495A-5C2B5C6ED74B}"/>
              </a:ext>
            </a:extLst>
          </p:cNvPr>
          <p:cNvSpPr txBox="1"/>
          <p:nvPr/>
        </p:nvSpPr>
        <p:spPr>
          <a:xfrm>
            <a:off x="9867989" y="4108771"/>
            <a:ext cx="461665" cy="24121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C1A6542-0B8C-194C-68C0-8ADF761F1B3F}"/>
              </a:ext>
            </a:extLst>
          </p:cNvPr>
          <p:cNvSpPr/>
          <p:nvPr/>
        </p:nvSpPr>
        <p:spPr>
          <a:xfrm>
            <a:off x="9506214" y="4445428"/>
            <a:ext cx="1737998" cy="296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协程</a:t>
            </a:r>
            <a:r>
              <a:rPr lang="en-US" altLang="zh-CN" dirty="0"/>
              <a:t>C</a:t>
            </a:r>
            <a:r>
              <a:rPr lang="zh-CN" altLang="en-US" dirty="0"/>
              <a:t>的栈</a:t>
            </a:r>
          </a:p>
        </p:txBody>
      </p:sp>
    </p:spTree>
    <p:extLst>
      <p:ext uri="{BB962C8B-B14F-4D97-AF65-F5344CB8AC3E}">
        <p14:creationId xmlns:p14="http://schemas.microsoft.com/office/powerpoint/2010/main" val="3277558665"/>
      </p:ext>
    </p:extLst>
  </p:cSld>
  <p:clrMapOvr>
    <a:masterClrMapping/>
  </p:clrMapOvr>
  <p:transition spd="slow" advClick="0" advTm="3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8729688B-5D13-E1D7-B834-697B47851BFF}"/>
              </a:ext>
            </a:extLst>
          </p:cNvPr>
          <p:cNvCxnSpPr>
            <a:cxnSpLocks/>
          </p:cNvCxnSpPr>
          <p:nvPr/>
        </p:nvCxnSpPr>
        <p:spPr>
          <a:xfrm flipH="1">
            <a:off x="8787275" y="4751804"/>
            <a:ext cx="725126" cy="64916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A8C6608-634C-4D01-95BD-3AB8661C61B8}"/>
              </a:ext>
            </a:extLst>
          </p:cNvPr>
          <p:cNvCxnSpPr>
            <a:cxnSpLocks/>
          </p:cNvCxnSpPr>
          <p:nvPr/>
        </p:nvCxnSpPr>
        <p:spPr>
          <a:xfrm flipH="1" flipV="1">
            <a:off x="8787275" y="3831725"/>
            <a:ext cx="707215" cy="61370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512387" y="423873"/>
            <a:ext cx="8392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chemeClr val="accent3"/>
                </a:solidFill>
              </a:rPr>
              <a:t>每个协程是如何</a:t>
            </a:r>
            <a:r>
              <a:rPr kumimoji="1" lang="zh-CN" altLang="en-US" sz="3200" b="1" dirty="0">
                <a:solidFill>
                  <a:schemeClr val="accent5"/>
                </a:solidFill>
              </a:rPr>
              <a:t>注册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、</a:t>
            </a:r>
            <a:r>
              <a:rPr kumimoji="1" lang="zh-CN" altLang="en-US" sz="3200" b="1" dirty="0">
                <a:solidFill>
                  <a:schemeClr val="accent5"/>
                </a:solidFill>
              </a:rPr>
              <a:t>初始化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、</a:t>
            </a:r>
            <a:r>
              <a:rPr kumimoji="1" lang="zh-CN" altLang="en-US" sz="3200" b="1" dirty="0">
                <a:solidFill>
                  <a:schemeClr val="accent5"/>
                </a:solidFill>
              </a:rPr>
              <a:t>运行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起来的？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108108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0848C152-3445-2783-296A-0BD68E64E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20" y="3786257"/>
            <a:ext cx="1298033" cy="1626389"/>
          </a:xfrm>
          <a:prstGeom prst="rect">
            <a:avLst/>
          </a:prstGeom>
        </p:spPr>
      </p:pic>
      <p:cxnSp>
        <p:nvCxnSpPr>
          <p:cNvPr id="35" name="直接连接符 79">
            <a:extLst>
              <a:ext uri="{FF2B5EF4-FFF2-40B4-BE49-F238E27FC236}">
                <a16:creationId xmlns:a16="http://schemas.microsoft.com/office/drawing/2014/main" id="{01EF02C7-3105-CA6D-DDF4-BBF98A4EE904}"/>
              </a:ext>
            </a:extLst>
          </p:cNvPr>
          <p:cNvCxnSpPr>
            <a:cxnSpLocks/>
          </p:cNvCxnSpPr>
          <p:nvPr/>
        </p:nvCxnSpPr>
        <p:spPr>
          <a:xfrm>
            <a:off x="7624162" y="3556076"/>
            <a:ext cx="0" cy="2420003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733D6AE0-752B-8CC8-EDF1-E7AA437F915B}"/>
              </a:ext>
            </a:extLst>
          </p:cNvPr>
          <p:cNvSpPr/>
          <p:nvPr/>
        </p:nvSpPr>
        <p:spPr>
          <a:xfrm>
            <a:off x="9501768" y="1694738"/>
            <a:ext cx="1737998" cy="42813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4820B20-4203-5907-D80F-726BEDF9404A}"/>
              </a:ext>
            </a:extLst>
          </p:cNvPr>
          <p:cNvSpPr/>
          <p:nvPr/>
        </p:nvSpPr>
        <p:spPr>
          <a:xfrm>
            <a:off x="9503529" y="2358526"/>
            <a:ext cx="1743346" cy="4361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协程调度函数</a:t>
            </a:r>
          </a:p>
        </p:txBody>
      </p:sp>
      <p:sp>
        <p:nvSpPr>
          <p:cNvPr id="41" name="右大括号 40">
            <a:extLst>
              <a:ext uri="{FF2B5EF4-FFF2-40B4-BE49-F238E27FC236}">
                <a16:creationId xmlns:a16="http://schemas.microsoft.com/office/drawing/2014/main" id="{0CB8C11E-F0FA-9FA3-6BF0-A6B1F9BCB356}"/>
              </a:ext>
            </a:extLst>
          </p:cNvPr>
          <p:cNvSpPr/>
          <p:nvPr/>
        </p:nvSpPr>
        <p:spPr>
          <a:xfrm>
            <a:off x="11338636" y="1766679"/>
            <a:ext cx="229951" cy="1027961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F66E8CE-0D2C-1A71-AD7E-C423F9BE80B9}"/>
              </a:ext>
            </a:extLst>
          </p:cNvPr>
          <p:cNvSpPr txBox="1"/>
          <p:nvPr/>
        </p:nvSpPr>
        <p:spPr>
          <a:xfrm>
            <a:off x="11470132" y="1534732"/>
            <a:ext cx="5675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系统栈空间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9E01E87-0413-9E79-7689-1D59218BEC34}"/>
              </a:ext>
            </a:extLst>
          </p:cNvPr>
          <p:cNvSpPr/>
          <p:nvPr/>
        </p:nvSpPr>
        <p:spPr>
          <a:xfrm>
            <a:off x="9503529" y="3556076"/>
            <a:ext cx="1743346" cy="3417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Shard_library</a:t>
            </a:r>
            <a:endParaRPr lang="zh-CN" altLang="en-US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C13E732-8B4C-5769-8012-EDA9E7E3B089}"/>
              </a:ext>
            </a:extLst>
          </p:cNvPr>
          <p:cNvSpPr/>
          <p:nvPr/>
        </p:nvSpPr>
        <p:spPr>
          <a:xfrm>
            <a:off x="9505213" y="4146413"/>
            <a:ext cx="1743334" cy="18296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" name="右大括号 44">
            <a:extLst>
              <a:ext uri="{FF2B5EF4-FFF2-40B4-BE49-F238E27FC236}">
                <a16:creationId xmlns:a16="http://schemas.microsoft.com/office/drawing/2014/main" id="{DA825253-7027-77F3-337D-DB87471D3178}"/>
              </a:ext>
            </a:extLst>
          </p:cNvPr>
          <p:cNvSpPr/>
          <p:nvPr/>
        </p:nvSpPr>
        <p:spPr>
          <a:xfrm>
            <a:off x="11338636" y="4137708"/>
            <a:ext cx="229951" cy="164076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7EF8CAA-A0C6-4980-F99C-6059EA0727BB}"/>
              </a:ext>
            </a:extLst>
          </p:cNvPr>
          <p:cNvSpPr txBox="1"/>
          <p:nvPr/>
        </p:nvSpPr>
        <p:spPr>
          <a:xfrm>
            <a:off x="11467282" y="4216013"/>
            <a:ext cx="3461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系统堆空间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773F692-6B65-1CEF-40EB-EAD4D8364A1B}"/>
              </a:ext>
            </a:extLst>
          </p:cNvPr>
          <p:cNvSpPr/>
          <p:nvPr/>
        </p:nvSpPr>
        <p:spPr>
          <a:xfrm>
            <a:off x="9512401" y="5277646"/>
            <a:ext cx="1737998" cy="296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协程</a:t>
            </a:r>
            <a:r>
              <a:rPr lang="en-US" altLang="zh-CN" dirty="0"/>
              <a:t>A</a:t>
            </a:r>
            <a:r>
              <a:rPr lang="zh-CN" altLang="en-US" dirty="0"/>
              <a:t>的栈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A9CF107-6CB6-4C1B-58D5-AA7FECC5A753}"/>
              </a:ext>
            </a:extLst>
          </p:cNvPr>
          <p:cNvSpPr/>
          <p:nvPr/>
        </p:nvSpPr>
        <p:spPr>
          <a:xfrm>
            <a:off x="9506215" y="4856312"/>
            <a:ext cx="1737998" cy="296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协程</a:t>
            </a:r>
            <a:r>
              <a:rPr lang="en-US" altLang="zh-CN" dirty="0"/>
              <a:t>B</a:t>
            </a:r>
            <a:r>
              <a:rPr lang="zh-CN" altLang="en-US" dirty="0"/>
              <a:t>的栈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7E734C7-D8DD-27B0-495A-5C2B5C6ED74B}"/>
              </a:ext>
            </a:extLst>
          </p:cNvPr>
          <p:cNvSpPr txBox="1"/>
          <p:nvPr/>
        </p:nvSpPr>
        <p:spPr>
          <a:xfrm>
            <a:off x="9867989" y="4108771"/>
            <a:ext cx="461665" cy="24121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C1A6542-0B8C-194C-68C0-8ADF761F1B3F}"/>
              </a:ext>
            </a:extLst>
          </p:cNvPr>
          <p:cNvSpPr/>
          <p:nvPr/>
        </p:nvSpPr>
        <p:spPr>
          <a:xfrm>
            <a:off x="9506214" y="4445428"/>
            <a:ext cx="1737998" cy="296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协程</a:t>
            </a:r>
            <a:r>
              <a:rPr lang="en-US" altLang="zh-CN" dirty="0"/>
              <a:t>C</a:t>
            </a:r>
            <a:r>
              <a:rPr lang="zh-CN" altLang="en-US" dirty="0"/>
              <a:t>的栈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EEAFFB6-9E66-8677-9543-E46B1BE1E275}"/>
              </a:ext>
            </a:extLst>
          </p:cNvPr>
          <p:cNvSpPr txBox="1"/>
          <p:nvPr/>
        </p:nvSpPr>
        <p:spPr>
          <a:xfrm>
            <a:off x="512387" y="1248949"/>
            <a:ext cx="7436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  <a:latin typeface="Menlo" panose="020B0609030804020204" pitchFamily="49" charset="0"/>
              </a:rPr>
              <a:t>r</a:t>
            </a:r>
            <a:r>
              <a:rPr lang="en" altLang="zh-CN" sz="1800" b="1" dirty="0" err="1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esume</a:t>
            </a:r>
            <a:r>
              <a:rPr lang="en-US" altLang="zh-CN" sz="1800" b="1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():</a:t>
            </a:r>
            <a:endParaRPr lang="en" altLang="zh-CN" sz="1800" b="1" dirty="0">
              <a:solidFill>
                <a:schemeClr val="accent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800" b="0" dirty="0" err="1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coroutine_switch</a:t>
            </a:r>
            <a:r>
              <a:rPr lang="en" altLang="zh-CN" sz="1800" b="0" dirty="0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800" b="0" dirty="0" err="1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call</a:t>
            </a:r>
            <a:r>
              <a:rPr lang="en" altLang="zh-CN" sz="1800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er</a:t>
            </a:r>
            <a:r>
              <a:rPr lang="en" altLang="zh-CN" sz="1800" b="0" dirty="0" err="1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_registers,call</a:t>
            </a:r>
            <a:r>
              <a:rPr lang="en" altLang="zh-CN" sz="1800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ee</a:t>
            </a:r>
            <a:r>
              <a:rPr lang="en" altLang="zh-CN" sz="1800" b="0" dirty="0" err="1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_registers</a:t>
            </a:r>
            <a:r>
              <a:rPr lang="en" altLang="zh-CN" sz="1800" b="0" dirty="0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9F0578-9AB1-A2F6-4CA8-8BC488AADBE7}"/>
              </a:ext>
            </a:extLst>
          </p:cNvPr>
          <p:cNvSpPr txBox="1"/>
          <p:nvPr/>
        </p:nvSpPr>
        <p:spPr>
          <a:xfrm>
            <a:off x="529059" y="2040040"/>
            <a:ext cx="63187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当一个协程首次被</a:t>
            </a:r>
            <a:r>
              <a:rPr kumimoji="1" lang="en-US" altLang="zh-CN" sz="20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resume</a:t>
            </a:r>
            <a:r>
              <a:rPr kumimoji="1" lang="zh-CN" altLang="en-US" sz="20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会发生什么？：</a:t>
            </a:r>
            <a:endParaRPr kumimoji="1" lang="en-US" altLang="zh-CN" sz="2000" b="1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1.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寄存器状态 暂存到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rdi</a:t>
            </a:r>
            <a:endParaRPr lang="en-US" altLang="zh-CN" sz="1800" b="0" dirty="0">
              <a:solidFill>
                <a:schemeClr val="accent5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2.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call</a:t>
            </a:r>
            <a:r>
              <a:rPr kumimoji="1" lang="en-US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ee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即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rsi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中暂存的，恢复到真实寄存器上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1E079A-C5EA-8C98-0942-60D2F4D48657}"/>
              </a:ext>
            </a:extLst>
          </p:cNvPr>
          <p:cNvSpPr txBox="1"/>
          <p:nvPr/>
        </p:nvSpPr>
        <p:spPr>
          <a:xfrm>
            <a:off x="3625359" y="128504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rdi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779391A-4795-46A0-4FC7-0BCE60EA3ADA}"/>
              </a:ext>
            </a:extLst>
          </p:cNvPr>
          <p:cNvSpPr txBox="1"/>
          <p:nvPr/>
        </p:nvSpPr>
        <p:spPr>
          <a:xfrm>
            <a:off x="6096000" y="123459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rsi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5D9A940-5139-A01A-95AB-40071260FBC1}"/>
              </a:ext>
            </a:extLst>
          </p:cNvPr>
          <p:cNvSpPr txBox="1"/>
          <p:nvPr/>
        </p:nvSpPr>
        <p:spPr>
          <a:xfrm>
            <a:off x="535336" y="3216350"/>
            <a:ext cx="35958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Callee</a:t>
            </a:r>
            <a:r>
              <a:rPr kumimoji="1" lang="zh-CN" altLang="en-US" sz="20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我们初始化了些什么？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BA632E6-2FE0-BDFF-A7D6-395AD933B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762" y="3707607"/>
            <a:ext cx="5023332" cy="270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67902"/>
      </p:ext>
    </p:extLst>
  </p:cSld>
  <p:clrMapOvr>
    <a:masterClrMapping/>
  </p:clrMapOvr>
  <p:transition spd="slow" advClick="0" advTm="3000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512387" y="423873"/>
            <a:ext cx="8392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chemeClr val="accent3"/>
                </a:solidFill>
              </a:rPr>
              <a:t>每个协程是如何</a:t>
            </a:r>
            <a:r>
              <a:rPr kumimoji="1" lang="zh-CN" altLang="en-US" sz="3200" b="1" dirty="0">
                <a:solidFill>
                  <a:schemeClr val="accent5"/>
                </a:solidFill>
              </a:rPr>
              <a:t>注册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、</a:t>
            </a:r>
            <a:r>
              <a:rPr kumimoji="1" lang="zh-CN" altLang="en-US" sz="3200" b="1" dirty="0">
                <a:solidFill>
                  <a:schemeClr val="accent5"/>
                </a:solidFill>
              </a:rPr>
              <a:t>初始化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、</a:t>
            </a:r>
            <a:r>
              <a:rPr kumimoji="1" lang="zh-CN" altLang="en-US" sz="3200" b="1" dirty="0">
                <a:solidFill>
                  <a:schemeClr val="accent5"/>
                </a:solidFill>
              </a:rPr>
              <a:t>运行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起来的？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108108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6AA9D73-5D73-FE2C-2355-B28A13A511A3}"/>
              </a:ext>
            </a:extLst>
          </p:cNvPr>
          <p:cNvSpPr txBox="1"/>
          <p:nvPr/>
        </p:nvSpPr>
        <p:spPr>
          <a:xfrm>
            <a:off x="767862" y="1406769"/>
            <a:ext cx="6813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（接上页）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首次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resume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时，会进入</a:t>
            </a:r>
            <a:r>
              <a:rPr kumimoji="1"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coroutine_entry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这个函数做了什么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3E9D83E-B7B6-B6A1-7F28-B6DC51873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479" y="2152470"/>
            <a:ext cx="3000927" cy="124038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6D96A46-9137-E7D0-5D52-6003FB0CF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981" y="2152470"/>
            <a:ext cx="3949865" cy="212874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83BE003-DCAA-2F96-147F-3649A2CB41EA}"/>
              </a:ext>
            </a:extLst>
          </p:cNvPr>
          <p:cNvSpPr txBox="1"/>
          <p:nvPr/>
        </p:nvSpPr>
        <p:spPr>
          <a:xfrm>
            <a:off x="609606" y="4989566"/>
            <a:ext cx="531427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答：以本</a:t>
            </a:r>
            <a:r>
              <a:rPr kumimoji="1" lang="en-US" altLang="zh-CN" b="1" dirty="0"/>
              <a:t>context</a:t>
            </a:r>
            <a:r>
              <a:rPr kumimoji="1" lang="zh-CN" altLang="en-US" b="1" dirty="0"/>
              <a:t>为参数，调用了</a:t>
            </a:r>
            <a:r>
              <a:rPr kumimoji="1" lang="en-US" altLang="zh-CN" b="1" dirty="0" err="1">
                <a:solidFill>
                  <a:schemeClr val="accent3"/>
                </a:solidFill>
              </a:rPr>
              <a:t>coroutine_main</a:t>
            </a:r>
            <a:endParaRPr kumimoji="1" lang="en-US" altLang="zh-CN" b="1" dirty="0">
              <a:solidFill>
                <a:schemeClr val="accent3"/>
              </a:solidFill>
            </a:endParaRPr>
          </a:p>
          <a:p>
            <a:endParaRPr kumimoji="1" lang="en-US" altLang="zh-CN" b="1" dirty="0"/>
          </a:p>
          <a:p>
            <a:r>
              <a:rPr kumimoji="1" lang="zh-CN" altLang="en-US" b="1" dirty="0">
                <a:solidFill>
                  <a:srgbClr val="FF0000"/>
                </a:solidFill>
              </a:rPr>
              <a:t>终于！ </a:t>
            </a:r>
            <a:r>
              <a:rPr kumimoji="1" lang="en-US" altLang="zh-CN" b="1" dirty="0"/>
              <a:t>Context-&gt;run();</a:t>
            </a:r>
            <a:r>
              <a:rPr kumimoji="1" lang="zh-CN" altLang="en-US" b="1" dirty="0"/>
              <a:t>  协程函数跑了起来</a:t>
            </a:r>
            <a:endParaRPr kumimoji="1" lang="en-US" altLang="zh-CN" b="1" dirty="0"/>
          </a:p>
          <a:p>
            <a:endParaRPr kumimoji="1" lang="en-US" altLang="zh-CN" b="1" dirty="0"/>
          </a:p>
          <a:p>
            <a:r>
              <a:rPr kumimoji="1" lang="zh-CN" altLang="en-US" b="1" dirty="0"/>
              <a:t>根据之前讲的</a:t>
            </a:r>
            <a:r>
              <a:rPr kumimoji="1" lang="en-US" altLang="zh-CN" b="1" dirty="0"/>
              <a:t>yield</a:t>
            </a:r>
            <a:r>
              <a:rPr kumimoji="1" lang="zh-CN" altLang="en-US" b="1" dirty="0"/>
              <a:t>、</a:t>
            </a:r>
            <a:r>
              <a:rPr kumimoji="1" lang="en-US" altLang="zh-CN" b="1" dirty="0"/>
              <a:t>resume</a:t>
            </a:r>
            <a:r>
              <a:rPr kumimoji="1" lang="zh-CN" altLang="en-US" b="1" dirty="0"/>
              <a:t>实现正常切换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7268ADD-57FE-67CB-00F7-A9B36D62A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062" y="4582392"/>
            <a:ext cx="5023332" cy="1737678"/>
          </a:xfrm>
          <a:prstGeom prst="rect">
            <a:avLst/>
          </a:prstGeom>
        </p:spPr>
      </p:pic>
      <p:sp>
        <p:nvSpPr>
          <p:cNvPr id="15" name="右箭头 14">
            <a:extLst>
              <a:ext uri="{FF2B5EF4-FFF2-40B4-BE49-F238E27FC236}">
                <a16:creationId xmlns:a16="http://schemas.microsoft.com/office/drawing/2014/main" id="{447A1C6E-A25C-5907-0D14-4183FC379D58}"/>
              </a:ext>
            </a:extLst>
          </p:cNvPr>
          <p:cNvSpPr/>
          <p:nvPr/>
        </p:nvSpPr>
        <p:spPr>
          <a:xfrm>
            <a:off x="6038196" y="5081899"/>
            <a:ext cx="491558" cy="4338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4777545"/>
      </p:ext>
    </p:extLst>
  </p:cSld>
  <p:clrMapOvr>
    <a:masterClrMapping/>
  </p:clrMapOvr>
  <p:transition spd="slow" advClick="0" advTm="3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9B5EE3E-3DD6-E889-6682-5762C99D7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318"/>
            <a:ext cx="12192000" cy="68666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C49874DF-9A7A-6A1B-6189-79E9624FAFDB}"/>
                  </a:ext>
                </a:extLst>
              </p14:cNvPr>
              <p14:cNvContentPartPr/>
              <p14:nvPr/>
            </p14:nvContentPartPr>
            <p14:xfrm>
              <a:off x="9995040" y="2635200"/>
              <a:ext cx="546480" cy="5022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C49874DF-9A7A-6A1B-6189-79E9624FAF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85680" y="2625840"/>
                <a:ext cx="565200" cy="52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9051334"/>
      </p:ext>
    </p:extLst>
  </p:cSld>
  <p:clrMapOvr>
    <a:masterClrMapping/>
  </p:clrMapOvr>
  <p:transition spd="slow" advClick="0" advTm="3000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CC2D9B5-CB71-D05B-BACD-D9AD894A8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1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524846"/>
      </p:ext>
    </p:extLst>
  </p:cSld>
  <p:clrMapOvr>
    <a:masterClrMapping/>
  </p:clrMapOvr>
  <p:transition spd="slow" advClick="0" advTm="3000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62189" y="669833"/>
            <a:ext cx="34307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solidFill>
                  <a:schemeClr val="accent3"/>
                </a:solidFill>
              </a:rPr>
              <a:t>Task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 </a:t>
            </a:r>
            <a:r>
              <a:rPr kumimoji="1" lang="en-US" altLang="zh-CN" sz="3200" b="1" dirty="0">
                <a:solidFill>
                  <a:schemeClr val="accent3"/>
                </a:solidFill>
              </a:rPr>
              <a:t>2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 </a:t>
            </a:r>
            <a:r>
              <a:rPr kumimoji="1" lang="en-US" altLang="zh-CN" sz="3200" b="1" dirty="0">
                <a:solidFill>
                  <a:schemeClr val="accent3"/>
                </a:solidFill>
              </a:rPr>
              <a:t>Sleep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 </a:t>
            </a:r>
            <a:r>
              <a:rPr kumimoji="1" lang="en-US" altLang="zh-CN" sz="3200" b="1" dirty="0">
                <a:solidFill>
                  <a:schemeClr val="accent3"/>
                </a:solidFill>
              </a:rPr>
              <a:t>sort</a:t>
            </a:r>
            <a:endParaRPr kumimoji="1" lang="zh-CN" altLang="en-US" sz="3200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369365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56C47B8-3132-D7BA-B1A5-9B5A5F9DB64A}"/>
              </a:ext>
            </a:extLst>
          </p:cNvPr>
          <p:cNvSpPr txBox="1"/>
          <p:nvPr/>
        </p:nvSpPr>
        <p:spPr>
          <a:xfrm>
            <a:off x="836114" y="1621215"/>
            <a:ext cx="296747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Sleep</a:t>
            </a:r>
            <a:r>
              <a:rPr lang="zh-CN" altLang="en-US" sz="2400" b="1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2400" b="1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sort</a:t>
            </a:r>
            <a:r>
              <a:rPr lang="zh-CN" altLang="en-US" sz="2400" b="1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原理：</a:t>
            </a:r>
            <a:endParaRPr lang="en-US" altLang="zh-CN" sz="2400" b="1" dirty="0">
              <a:solidFill>
                <a:schemeClr val="accent3"/>
              </a:solidFill>
              <a:effectLst/>
              <a:latin typeface="Menlo" panose="020B0609030804020204" pitchFamily="49" charset="0"/>
            </a:endParaRPr>
          </a:p>
          <a:p>
            <a:endParaRPr kumimoji="1" lang="en-US" altLang="zh-CN" sz="2000" dirty="0">
              <a:latin typeface="Menlo" panose="020B0609030804020204" pitchFamily="49" charset="0"/>
            </a:endParaRPr>
          </a:p>
          <a:p>
            <a:r>
              <a:rPr kumimoji="1" lang="en-US" altLang="zh-CN" sz="2000" dirty="0">
                <a:latin typeface="Menlo" panose="020B0609030804020204" pitchFamily="49" charset="0"/>
              </a:rPr>
              <a:t>3</a:t>
            </a:r>
            <a:r>
              <a:rPr kumimoji="1" lang="zh-CN" altLang="en-US" sz="2000" dirty="0">
                <a:latin typeface="Menlo" panose="020B0609030804020204" pitchFamily="49" charset="0"/>
              </a:rPr>
              <a:t> </a:t>
            </a:r>
            <a:r>
              <a:rPr kumimoji="1" lang="en-US" altLang="zh-CN" sz="2000" dirty="0">
                <a:latin typeface="Menlo" panose="020B0609030804020204" pitchFamily="49" charset="0"/>
              </a:rPr>
              <a:t>4</a:t>
            </a:r>
            <a:r>
              <a:rPr kumimoji="1" lang="zh-CN" altLang="en-US" sz="2000" dirty="0">
                <a:latin typeface="Menlo" panose="020B0609030804020204" pitchFamily="49" charset="0"/>
              </a:rPr>
              <a:t> </a:t>
            </a:r>
            <a:r>
              <a:rPr kumimoji="1" lang="en-US" altLang="zh-CN" sz="2000" dirty="0">
                <a:latin typeface="Menlo" panose="020B0609030804020204" pitchFamily="49" charset="0"/>
              </a:rPr>
              <a:t>2</a:t>
            </a:r>
            <a:r>
              <a:rPr kumimoji="1" lang="zh-CN" altLang="en-US" sz="2000" dirty="0">
                <a:latin typeface="Menlo" panose="020B0609030804020204" pitchFamily="49" charset="0"/>
              </a:rPr>
              <a:t> </a:t>
            </a:r>
            <a:r>
              <a:rPr kumimoji="1" lang="en-US" altLang="zh-CN" sz="2000" dirty="0">
                <a:latin typeface="Menlo" panose="020B0609030804020204" pitchFamily="49" charset="0"/>
              </a:rPr>
              <a:t>1</a:t>
            </a:r>
            <a:r>
              <a:rPr kumimoji="1" lang="zh-CN" altLang="en-US" sz="2000" dirty="0">
                <a:latin typeface="Menlo" panose="020B0609030804020204" pitchFamily="49" charset="0"/>
              </a:rPr>
              <a:t> </a:t>
            </a:r>
            <a:r>
              <a:rPr kumimoji="1" lang="en-US" altLang="zh-CN" sz="2000" dirty="0">
                <a:latin typeface="Menlo" panose="020B0609030804020204" pitchFamily="49" charset="0"/>
              </a:rPr>
              <a:t>5</a:t>
            </a:r>
            <a:r>
              <a:rPr kumimoji="1" lang="zh-CN" altLang="en-US" sz="2000" dirty="0">
                <a:latin typeface="Menlo" panose="020B0609030804020204" pitchFamily="49" charset="0"/>
              </a:rPr>
              <a:t> </a:t>
            </a:r>
            <a:r>
              <a:rPr kumimoji="1" lang="en-US" altLang="zh-CN" sz="2000" dirty="0">
                <a:latin typeface="Menlo" panose="020B0609030804020204" pitchFamily="49" charset="0"/>
              </a:rPr>
              <a:t>6</a:t>
            </a:r>
            <a:endParaRPr kumimoji="1"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819A11-01F1-72BA-7418-16232679AD65}"/>
              </a:ext>
            </a:extLst>
          </p:cNvPr>
          <p:cNvSpPr txBox="1"/>
          <p:nvPr/>
        </p:nvSpPr>
        <p:spPr>
          <a:xfrm>
            <a:off x="431266" y="3013103"/>
            <a:ext cx="5863136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b="1" dirty="0">
                <a:solidFill>
                  <a:schemeClr val="accent3"/>
                </a:solidFill>
              </a:rPr>
              <a:t>Sleep</a:t>
            </a:r>
            <a:r>
              <a:rPr kumimoji="1" lang="zh-CN" altLang="en-US" sz="2000" b="1" dirty="0">
                <a:solidFill>
                  <a:schemeClr val="accent3"/>
                </a:solidFill>
              </a:rPr>
              <a:t>（）怎么写？</a:t>
            </a:r>
            <a:endParaRPr kumimoji="1" lang="en-US" altLang="zh-CN" sz="2000" b="1" dirty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从 </a:t>
            </a:r>
            <a:r>
              <a:rPr lang="en-US" altLang="zh-CN" dirty="0" err="1"/>
              <a:t>g_pool</a:t>
            </a:r>
            <a:r>
              <a:rPr lang="en-US" altLang="zh-CN" dirty="0"/>
              <a:t> </a:t>
            </a:r>
            <a:r>
              <a:rPr lang="zh-CN" altLang="en-US" dirty="0"/>
              <a:t>中根据 </a:t>
            </a:r>
            <a:r>
              <a:rPr lang="en-US" altLang="zh-CN" dirty="0" err="1"/>
              <a:t>context_id</a:t>
            </a:r>
            <a:r>
              <a:rPr lang="zh-CN" altLang="en-US" dirty="0"/>
              <a:t>获取当前协程状态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将协程置为不可用状态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获取当前时间，更新 </a:t>
            </a:r>
            <a:r>
              <a:rPr lang="en-US" altLang="zh-CN" dirty="0" err="1"/>
              <a:t>ready_func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 </a:t>
            </a:r>
            <a:r>
              <a:rPr lang="en-US" altLang="zh-CN" dirty="0" err="1"/>
              <a:t>ready_func</a:t>
            </a:r>
            <a:r>
              <a:rPr lang="zh-CN" altLang="en-US" dirty="0"/>
              <a:t>：检查当前时间，如果已经超时，则返回 </a:t>
            </a:r>
            <a:r>
              <a:rPr lang="en-US" altLang="zh-CN" dirty="0"/>
              <a:t>true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最后 </a:t>
            </a:r>
            <a:r>
              <a:rPr lang="en-US" altLang="zh-CN" dirty="0"/>
              <a:t>yield </a:t>
            </a:r>
            <a:r>
              <a:rPr lang="zh-CN" altLang="en-US" dirty="0"/>
              <a:t>切换上下文</a:t>
            </a:r>
            <a:endParaRPr lang="en-US" altLang="zh-CN" dirty="0"/>
          </a:p>
          <a:p>
            <a:endParaRPr lang="zh-CN" altLang="en-US" dirty="0"/>
          </a:p>
          <a:p>
            <a:endParaRPr kumimoji="1" lang="zh-CN" altLang="en-US" sz="2000" b="1" dirty="0">
              <a:solidFill>
                <a:schemeClr val="accent3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B26FAF-7577-690B-E6BF-26159056C172}"/>
              </a:ext>
            </a:extLst>
          </p:cNvPr>
          <p:cNvSpPr txBox="1"/>
          <p:nvPr/>
        </p:nvSpPr>
        <p:spPr>
          <a:xfrm>
            <a:off x="4315522" y="2329101"/>
            <a:ext cx="7116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睡 </a:t>
            </a:r>
            <a:r>
              <a:rPr kumimoji="1" lang="en-US" altLang="zh-CN" dirty="0"/>
              <a:t>x</a:t>
            </a:r>
            <a:r>
              <a:rPr kumimoji="1" lang="zh-CN" altLang="en-US" dirty="0"/>
              <a:t> 时间后，报数 （例如：第一个数字需要睡眠</a:t>
            </a:r>
            <a:r>
              <a:rPr kumimoji="1" lang="en-US" altLang="zh-CN" dirty="0"/>
              <a:t>3ms</a:t>
            </a:r>
            <a:r>
              <a:rPr kumimoji="1" lang="zh-CN" altLang="en-US" dirty="0"/>
              <a:t>后，打印</a:t>
            </a:r>
            <a:r>
              <a:rPr kumimoji="1" lang="en-US" altLang="zh-CN" dirty="0"/>
              <a:t>3</a:t>
            </a:r>
            <a:r>
              <a:rPr kumimoji="1" lang="zh-CN" altLang="en-US" dirty="0"/>
              <a:t> 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97764EB-7CBC-8E4A-496F-B0DA52A00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401" y="2801903"/>
            <a:ext cx="5629507" cy="378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3924"/>
      </p:ext>
    </p:extLst>
  </p:cSld>
  <p:clrMapOvr>
    <a:masterClrMapping/>
  </p:clrMapOvr>
  <p:transition spd="slow" advClick="0" advTm="3000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62189" y="669833"/>
            <a:ext cx="31502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solidFill>
                  <a:schemeClr val="accent3"/>
                </a:solidFill>
              </a:rPr>
              <a:t>Task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 </a:t>
            </a:r>
            <a:r>
              <a:rPr kumimoji="1" lang="en-US" altLang="zh-CN" sz="3200" b="1" dirty="0">
                <a:solidFill>
                  <a:schemeClr val="accent3"/>
                </a:solidFill>
              </a:rPr>
              <a:t>3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 二分搜索</a:t>
            </a: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369365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0CC0473-2DE3-B59D-C678-C63D078B64EC}"/>
              </a:ext>
            </a:extLst>
          </p:cNvPr>
          <p:cNvSpPr txBox="1"/>
          <p:nvPr/>
        </p:nvSpPr>
        <p:spPr>
          <a:xfrm>
            <a:off x="565392" y="2024776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二分搜索核心函数需要频繁的不规则访存，会导致</a:t>
            </a:r>
            <a:endParaRPr kumimoji="1" lang="en-US" altLang="zh-CN" dirty="0"/>
          </a:p>
          <a:p>
            <a:r>
              <a:rPr kumimoji="1" lang="en-US" altLang="zh-CN" dirty="0"/>
              <a:t>Cache</a:t>
            </a:r>
            <a:r>
              <a:rPr kumimoji="1" lang="zh-CN" altLang="en-US" dirty="0"/>
              <a:t> </a:t>
            </a:r>
            <a:r>
              <a:rPr kumimoji="1" lang="en-US" altLang="zh-CN" dirty="0"/>
              <a:t>miss</a:t>
            </a:r>
            <a:r>
              <a:rPr kumimoji="1" lang="zh-CN" altLang="en-US" dirty="0"/>
              <a:t> ，影响程序执行效率</a:t>
            </a:r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37F83B40-0AC1-CDB0-22AE-078715645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599023"/>
              </p:ext>
            </p:extLst>
          </p:nvPr>
        </p:nvGraphicFramePr>
        <p:xfrm>
          <a:off x="895787" y="2762133"/>
          <a:ext cx="3830454" cy="649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409">
                  <a:extLst>
                    <a:ext uri="{9D8B030D-6E8A-4147-A177-3AD203B41FA5}">
                      <a16:colId xmlns:a16="http://schemas.microsoft.com/office/drawing/2014/main" val="1673868206"/>
                    </a:ext>
                  </a:extLst>
                </a:gridCol>
                <a:gridCol w="638409">
                  <a:extLst>
                    <a:ext uri="{9D8B030D-6E8A-4147-A177-3AD203B41FA5}">
                      <a16:colId xmlns:a16="http://schemas.microsoft.com/office/drawing/2014/main" val="54139024"/>
                    </a:ext>
                  </a:extLst>
                </a:gridCol>
                <a:gridCol w="638409">
                  <a:extLst>
                    <a:ext uri="{9D8B030D-6E8A-4147-A177-3AD203B41FA5}">
                      <a16:colId xmlns:a16="http://schemas.microsoft.com/office/drawing/2014/main" val="3214155719"/>
                    </a:ext>
                  </a:extLst>
                </a:gridCol>
                <a:gridCol w="638409">
                  <a:extLst>
                    <a:ext uri="{9D8B030D-6E8A-4147-A177-3AD203B41FA5}">
                      <a16:colId xmlns:a16="http://schemas.microsoft.com/office/drawing/2014/main" val="1371788204"/>
                    </a:ext>
                  </a:extLst>
                </a:gridCol>
                <a:gridCol w="638409">
                  <a:extLst>
                    <a:ext uri="{9D8B030D-6E8A-4147-A177-3AD203B41FA5}">
                      <a16:colId xmlns:a16="http://schemas.microsoft.com/office/drawing/2014/main" val="1062754705"/>
                    </a:ext>
                  </a:extLst>
                </a:gridCol>
                <a:gridCol w="638409">
                  <a:extLst>
                    <a:ext uri="{9D8B030D-6E8A-4147-A177-3AD203B41FA5}">
                      <a16:colId xmlns:a16="http://schemas.microsoft.com/office/drawing/2014/main" val="393977227"/>
                    </a:ext>
                  </a:extLst>
                </a:gridCol>
              </a:tblGrid>
              <a:tr h="649697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084454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EE35BE53-8B69-71D0-3E5A-D529AFAB8DF7}"/>
              </a:ext>
            </a:extLst>
          </p:cNvPr>
          <p:cNvSpPr txBox="1"/>
          <p:nvPr/>
        </p:nvSpPr>
        <p:spPr>
          <a:xfrm>
            <a:off x="1044789" y="3384979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L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4790E54-AAB4-F778-BD2B-CF4B674AB472}"/>
              </a:ext>
            </a:extLst>
          </p:cNvPr>
          <p:cNvSpPr txBox="1"/>
          <p:nvPr/>
        </p:nvSpPr>
        <p:spPr>
          <a:xfrm>
            <a:off x="4256126" y="334235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B7652D7-A516-92A7-FDDF-9ABC4E62D1DD}"/>
              </a:ext>
            </a:extLst>
          </p:cNvPr>
          <p:cNvSpPr txBox="1"/>
          <p:nvPr/>
        </p:nvSpPr>
        <p:spPr>
          <a:xfrm>
            <a:off x="2204758" y="3384979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mid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5EF0894-4C98-B253-62BE-011D55FB8B46}"/>
              </a:ext>
            </a:extLst>
          </p:cNvPr>
          <p:cNvSpPr txBox="1"/>
          <p:nvPr/>
        </p:nvSpPr>
        <p:spPr>
          <a:xfrm>
            <a:off x="658549" y="3968733"/>
            <a:ext cx="5025735" cy="17543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提示：通过</a:t>
            </a:r>
            <a:r>
              <a:rPr kumimoji="1" lang="en-US" altLang="zh-CN" dirty="0"/>
              <a:t>【</a:t>
            </a:r>
            <a:r>
              <a:rPr kumimoji="1" lang="zh-CN" altLang="en-US" dirty="0"/>
              <a:t>预取后切出</a:t>
            </a:r>
            <a:r>
              <a:rPr kumimoji="1" lang="en-US" altLang="zh-CN" dirty="0"/>
              <a:t>】</a:t>
            </a:r>
            <a:r>
              <a:rPr kumimoji="1" lang="zh-CN" altLang="en-US" dirty="0"/>
              <a:t>优化搜索函数</a:t>
            </a:r>
            <a:endParaRPr kumimoji="1" lang="en-US" altLang="zh-CN" dirty="0"/>
          </a:p>
          <a:p>
            <a:r>
              <a:rPr kumimoji="1" lang="zh-CN" altLang="en-US" dirty="0"/>
              <a:t>预取指令：</a:t>
            </a:r>
            <a:r>
              <a:rPr lang="en" altLang="zh-CN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__builtin_prefetch</a:t>
            </a:r>
            <a:r>
              <a:rPr kumimoji="1" lang="en-US" altLang="zh-CN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(</a:t>
            </a:r>
            <a:r>
              <a:rPr kumimoji="1" lang="en-US" altLang="zh-CN" dirty="0">
                <a:solidFill>
                  <a:srgbClr val="6A9955"/>
                </a:solidFill>
                <a:latin typeface="Menlo" panose="020B0609030804020204" pitchFamily="49" charset="0"/>
              </a:rPr>
              <a:t>&amp;</a:t>
            </a:r>
            <a:r>
              <a:rPr kumimoji="1" lang="en-US" altLang="zh-CN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zh-CN" altLang="zh-CN" dirty="0"/>
              <a:t> __builtin_prefetch(&amp;table[probe]);</a:t>
            </a:r>
          </a:p>
          <a:p>
            <a:r>
              <a:rPr lang="zh-CN" altLang="zh-CN" dirty="0"/>
              <a:t>    yield();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0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可能需要微调 </a:t>
            </a:r>
            <a:r>
              <a:rPr lang="en-US" altLang="zh-CN" b="0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–l –m –b </a:t>
            </a:r>
            <a:r>
              <a:rPr lang="zh-CN" altLang="en-US" b="0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等参数来达到正优化效果</a:t>
            </a:r>
            <a:endParaRPr lang="en" altLang="zh-CN" b="0" dirty="0">
              <a:solidFill>
                <a:schemeClr val="accent1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73BD8FB-4F66-496E-95C0-0A6466EC6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646" y="1710665"/>
            <a:ext cx="6005245" cy="404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29861"/>
      </p:ext>
    </p:extLst>
  </p:cSld>
  <p:clrMapOvr>
    <a:masterClrMapping/>
  </p:clrMapOvr>
  <p:transition spd="slow" advClick="0" advTm="3000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224878-C13A-40F4-AE81-80A17F13DE3E}"/>
              </a:ext>
            </a:extLst>
          </p:cNvPr>
          <p:cNvSpPr txBox="1"/>
          <p:nvPr/>
        </p:nvSpPr>
        <p:spPr>
          <a:xfrm>
            <a:off x="3008721" y="3075057"/>
            <a:ext cx="61745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spc="200" dirty="0">
                <a:solidFill>
                  <a:schemeClr val="accent1">
                    <a:lumMod val="75000"/>
                  </a:schemeClr>
                </a:solidFill>
              </a:rPr>
              <a:t>Thanks</a:t>
            </a:r>
            <a:endParaRPr lang="zh-CN" altLang="en-US" sz="4000" b="1" spc="2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0C83E1A-48F1-4AD6-A6B5-D725B238B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446" y="2351240"/>
            <a:ext cx="1848822" cy="69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56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2.0.50727.8662"/>
  <p:tag name="AS_OS" val="Microsoft Windows NT 6.2.9200.0"/>
  <p:tag name="AS_RELEASE_DATE" val="2018.07.12"/>
  <p:tag name="AS_TITLE" val="Aspose.Slides for .NET 2.0"/>
  <p:tag name="AS_VERSION" val="18.7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4276AA"/>
      </a:accent1>
      <a:accent2>
        <a:srgbClr val="1689A0"/>
      </a:accent2>
      <a:accent3>
        <a:srgbClr val="3FA692"/>
      </a:accent3>
      <a:accent4>
        <a:srgbClr val="5167A4"/>
      </a:accent4>
      <a:accent5>
        <a:srgbClr val="5E5CA2"/>
      </a:accent5>
      <a:accent6>
        <a:srgbClr val="768395"/>
      </a:accent6>
      <a:hlink>
        <a:srgbClr val="4276AA"/>
      </a:hlink>
      <a:folHlink>
        <a:srgbClr val="BFBFBF"/>
      </a:folHlink>
    </a:clrScheme>
    <a:fontScheme name="自定义 1">
      <a:majorFont>
        <a:latin typeface="Century Gothic"/>
        <a:ea typeface="微软雅黑"/>
        <a:cs typeface="Arial"/>
      </a:majorFont>
      <a:minorFont>
        <a:latin typeface="Century Gothic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15635</TotalTime>
  <Words>1149</Words>
  <Application>Microsoft Office PowerPoint</Application>
  <PresentationFormat>宽屏</PresentationFormat>
  <Paragraphs>207</Paragraphs>
  <Slides>18</Slides>
  <Notes>4</Notes>
  <HiddenSlides>1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Menlo</vt:lpstr>
      <vt:lpstr>Arial</vt:lpstr>
      <vt:lpstr>Calibri</vt:lpstr>
      <vt:lpstr>Century Gothic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 </Manager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小清新毕业论文答辩PPT模板</dc:title>
  <dc:subject> </dc:subject>
  <dc:creator>极简办公</dc:creator>
  <cp:keywords>www.jjppt.com</cp:keywords>
  <dc:description>www.jjppt.com</dc:description>
  <cp:lastModifiedBy>新雨 于</cp:lastModifiedBy>
  <cp:revision>358</cp:revision>
  <dcterms:created xsi:type="dcterms:W3CDTF">2018-01-29T03:04:35Z</dcterms:created>
  <dcterms:modified xsi:type="dcterms:W3CDTF">2025-12-18T09:13:36Z</dcterms:modified>
  <cp:category> </cp:category>
  <cp:contentStatus> </cp:contentStatus>
  <cp:version>1</cp:version>
</cp:coreProperties>
</file>