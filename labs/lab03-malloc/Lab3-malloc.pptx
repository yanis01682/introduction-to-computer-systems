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1"/>
  </p:sldMasterIdLst>
  <p:sldIdLst>
    <p:sldId id="256" r:id="rId2"/>
    <p:sldId id="279" r:id="rId3"/>
    <p:sldId id="265" r:id="rId4"/>
    <p:sldId id="267" r:id="rId5"/>
    <p:sldId id="268" r:id="rId6"/>
    <p:sldId id="269" r:id="rId7"/>
    <p:sldId id="270" r:id="rId8"/>
    <p:sldId id="271" r:id="rId9"/>
    <p:sldId id="272" r:id="rId10"/>
    <p:sldId id="273" r:id="rId11"/>
    <p:sldId id="274" r:id="rId12"/>
    <p:sldId id="275" r:id="rId13"/>
    <p:sldId id="280" r:id="rId14"/>
    <p:sldId id="276" r:id="rId15"/>
    <p:sldId id="281" r:id="rId16"/>
    <p:sldId id="283" r:id="rId17"/>
    <p:sldId id="277" r:id="rId18"/>
    <p:sldId id="282" r:id="rId19"/>
    <p:sldId id="278" r:id="rId20"/>
    <p:sldId id="26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DFF"/>
    <a:srgbClr val="E1DFE2"/>
    <a:srgbClr val="5C30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80" autoAdjust="0"/>
    <p:restoredTop sz="86377"/>
  </p:normalViewPr>
  <p:slideViewPr>
    <p:cSldViewPr snapToGrid="0" snapToObjects="1">
      <p:cViewPr>
        <p:scale>
          <a:sx n="75" d="100"/>
          <a:sy n="75" d="100"/>
        </p:scale>
        <p:origin x="-1668" y="432"/>
      </p:cViewPr>
      <p:guideLst/>
    </p:cSldViewPr>
  </p:slideViewPr>
  <p:outlineViewPr>
    <p:cViewPr>
      <p:scale>
        <a:sx n="33" d="100"/>
        <a:sy n="33" d="100"/>
      </p:scale>
      <p:origin x="0" y="-11400"/>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0" y="1512712"/>
            <a:ext cx="12192000" cy="2561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99226" y="1731653"/>
            <a:ext cx="10993549" cy="2123126"/>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581193" y="4194262"/>
            <a:ext cx="10993547" cy="1340999"/>
          </a:xfrm>
        </p:spPr>
        <p:txBody>
          <a:bodyPr anchor="t">
            <a:normAutofit/>
          </a:bodyPr>
          <a:lstStyle>
            <a:lvl1pPr marL="0" indent="0" algn="ctr">
              <a:buNone/>
              <a:defRPr sz="2000" cap="none" baseline="0">
                <a:solidFill>
                  <a:schemeClr val="accent2"/>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dirty="0"/>
              <a:t>单击此处编辑母版副标题样式</a:t>
            </a:r>
            <a:endParaRPr lang="en-US" dirty="0"/>
          </a:p>
        </p:txBody>
      </p:sp>
      <p:pic>
        <p:nvPicPr>
          <p:cNvPr id="10" name="图片 9">
            <a:extLst>
              <a:ext uri="{FF2B5EF4-FFF2-40B4-BE49-F238E27FC236}">
                <a16:creationId xmlns:a16="http://schemas.microsoft.com/office/drawing/2014/main" id="{198C1FBC-DB92-8D4C-8889-541C754A53DF}"/>
              </a:ext>
            </a:extLst>
          </p:cNvPr>
          <p:cNvPicPr>
            <a:picLocks noChangeAspect="1"/>
          </p:cNvPicPr>
          <p:nvPr userDrawn="1"/>
        </p:nvPicPr>
        <p:blipFill>
          <a:blip r:embed="rId2"/>
          <a:stretch>
            <a:fillRect/>
          </a:stretch>
        </p:blipFill>
        <p:spPr>
          <a:xfrm>
            <a:off x="459200" y="275794"/>
            <a:ext cx="2519770" cy="992105"/>
          </a:xfrm>
          <a:prstGeom prst="rect">
            <a:avLst/>
          </a:prstGeom>
        </p:spPr>
      </p:pic>
      <p:sp>
        <p:nvSpPr>
          <p:cNvPr id="9" name="Date Placeholder 3">
            <a:extLst>
              <a:ext uri="{FF2B5EF4-FFF2-40B4-BE49-F238E27FC236}">
                <a16:creationId xmlns:a16="http://schemas.microsoft.com/office/drawing/2014/main" id="{0B807CA4-C594-3747-811D-AECABC927C45}"/>
              </a:ext>
            </a:extLst>
          </p:cNvPr>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2025/12/10</a:t>
            </a:fld>
            <a:endParaRPr kumimoji="1" lang="zh-CN" altLang="en-US"/>
          </a:p>
        </p:txBody>
      </p:sp>
      <p:sp>
        <p:nvSpPr>
          <p:cNvPr id="11" name="Footer Placeholder 4">
            <a:extLst>
              <a:ext uri="{FF2B5EF4-FFF2-40B4-BE49-F238E27FC236}">
                <a16:creationId xmlns:a16="http://schemas.microsoft.com/office/drawing/2014/main" id="{20223C87-E140-FC47-8247-2D68FF33A865}"/>
              </a:ext>
            </a:extLst>
          </p:cNvPr>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12" name="Slide Number Placeholder 5">
            <a:extLst>
              <a:ext uri="{FF2B5EF4-FFF2-40B4-BE49-F238E27FC236}">
                <a16:creationId xmlns:a16="http://schemas.microsoft.com/office/drawing/2014/main" id="{4E42ACB8-E538-4440-8190-A3204936344D}"/>
              </a:ext>
            </a:extLst>
          </p:cNvPr>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9349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normAutofit/>
          </a:bodyPr>
          <a:lstStyle>
            <a:lvl1pPr>
              <a:defRPr sz="2000"/>
            </a:lvl1pPr>
            <a:lvl2pPr>
              <a:defRPr sz="1800"/>
            </a:lvl2pPr>
            <a:lvl3pPr>
              <a:defRPr sz="1600"/>
            </a:lvl3pPr>
            <a:lvl4pPr>
              <a:defRPr sz="1400"/>
            </a:lvl4pPr>
            <a:lvl5pPr>
              <a:defRPr sz="14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C5D466B2-7417-6A44-93CE-B6AD2C9CEBFC}"/>
              </a:ext>
            </a:extLst>
          </p:cNvPr>
          <p:cNvSpPr>
            <a:spLocks noGrp="1"/>
          </p:cNvSpPr>
          <p:nvPr>
            <p:ph type="title"/>
          </p:nvPr>
        </p:nvSpPr>
        <p:spPr/>
        <p:txBody>
          <a:bodyPr>
            <a:normAutofit/>
          </a:bodyPr>
          <a:lstStyle>
            <a:lvl1pPr>
              <a:defRPr sz="3200" cap="none" baseline="0"/>
            </a:lvl1pPr>
          </a:lstStyle>
          <a:p>
            <a:r>
              <a:rPr kumimoji="1" lang="zh-CN" altLang="en-US" dirty="0"/>
              <a:t>单击此处编辑母版标题样式</a:t>
            </a:r>
          </a:p>
        </p:txBody>
      </p:sp>
    </p:spTree>
    <p:extLst>
      <p:ext uri="{BB962C8B-B14F-4D97-AF65-F5344CB8AC3E}">
        <p14:creationId xmlns:p14="http://schemas.microsoft.com/office/powerpoint/2010/main" val="340990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4" name="Rectangle 6">
            <a:extLst>
              <a:ext uri="{FF2B5EF4-FFF2-40B4-BE49-F238E27FC236}">
                <a16:creationId xmlns:a16="http://schemas.microsoft.com/office/drawing/2014/main" id="{712CA51D-FD70-C947-AA2A-7D31051F37F6}"/>
              </a:ext>
            </a:extLst>
          </p:cNvPr>
          <p:cNvSpPr>
            <a:spLocks noChangeAspect="1"/>
          </p:cNvSpPr>
          <p:nvPr userDrawn="1"/>
        </p:nvSpPr>
        <p:spPr>
          <a:xfrm>
            <a:off x="2" y="0"/>
            <a:ext cx="348800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Date Placeholder 3"/>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12" name="Title 1">
            <a:extLst>
              <a:ext uri="{FF2B5EF4-FFF2-40B4-BE49-F238E27FC236}">
                <a16:creationId xmlns:a16="http://schemas.microsoft.com/office/drawing/2014/main" id="{E05C3A77-996F-D547-A946-FD706C8EF29B}"/>
              </a:ext>
            </a:extLst>
          </p:cNvPr>
          <p:cNvSpPr>
            <a:spLocks noGrp="1"/>
          </p:cNvSpPr>
          <p:nvPr>
            <p:ph type="title"/>
          </p:nvPr>
        </p:nvSpPr>
        <p:spPr>
          <a:xfrm>
            <a:off x="248291" y="1964075"/>
            <a:ext cx="2991424" cy="2929850"/>
          </a:xfrm>
          <a:prstGeom prst="rect">
            <a:avLst/>
          </a:prstGeom>
        </p:spPr>
        <p:txBody>
          <a:bodyPr anchor="ctr">
            <a:normAutofit/>
          </a:bodyPr>
          <a:lstStyle>
            <a:lvl1pPr algn="ctr">
              <a:defRPr sz="3600" cap="none" baseline="0"/>
            </a:lvl1pPr>
          </a:lstStyle>
          <a:p>
            <a:r>
              <a:rPr lang="zh-CN" altLang="en-US" dirty="0"/>
              <a:t>单击此处编辑母版标题样式</a:t>
            </a:r>
            <a:endParaRPr lang="en-US" dirty="0"/>
          </a:p>
        </p:txBody>
      </p:sp>
      <p:sp>
        <p:nvSpPr>
          <p:cNvPr id="9" name="Content Placeholder 2">
            <a:extLst>
              <a:ext uri="{FF2B5EF4-FFF2-40B4-BE49-F238E27FC236}">
                <a16:creationId xmlns:a16="http://schemas.microsoft.com/office/drawing/2014/main" id="{96EA75F0-3C7C-6E4E-BC95-17186F7990B4}"/>
              </a:ext>
            </a:extLst>
          </p:cNvPr>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pic>
        <p:nvPicPr>
          <p:cNvPr id="10" name="图片 9">
            <a:extLst>
              <a:ext uri="{FF2B5EF4-FFF2-40B4-BE49-F238E27FC236}">
                <a16:creationId xmlns:a16="http://schemas.microsoft.com/office/drawing/2014/main" id="{5E98806B-B47C-4F4E-99EE-E81C923B8C56}"/>
              </a:ext>
            </a:extLst>
          </p:cNvPr>
          <p:cNvPicPr>
            <a:picLocks noChangeAspect="1"/>
          </p:cNvPicPr>
          <p:nvPr userDrawn="1"/>
        </p:nvPicPr>
        <p:blipFill>
          <a:blip r:embed="rId2"/>
          <a:stretch>
            <a:fillRect/>
          </a:stretch>
        </p:blipFill>
        <p:spPr>
          <a:xfrm>
            <a:off x="92600" y="92600"/>
            <a:ext cx="1015763" cy="1019553"/>
          </a:xfrm>
          <a:prstGeom prst="rect">
            <a:avLst/>
          </a:prstGeom>
        </p:spPr>
      </p:pic>
    </p:spTree>
    <p:extLst>
      <p:ext uri="{BB962C8B-B14F-4D97-AF65-F5344CB8AC3E}">
        <p14:creationId xmlns:p14="http://schemas.microsoft.com/office/powerpoint/2010/main" val="29961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a:extLst>
              <a:ext uri="{FF2B5EF4-FFF2-40B4-BE49-F238E27FC236}">
                <a16:creationId xmlns:a16="http://schemas.microsoft.com/office/drawing/2014/main" id="{B4B44660-41EC-A14F-B294-9C3C6742590D}"/>
              </a:ext>
            </a:extLst>
          </p:cNvPr>
          <p:cNvPicPr>
            <a:picLocks noChangeAspect="1"/>
          </p:cNvPicPr>
          <p:nvPr userDrawn="1"/>
        </p:nvPicPr>
        <p:blipFill>
          <a:blip r:embed="rId2"/>
          <a:stretch>
            <a:fillRect/>
          </a:stretch>
        </p:blipFill>
        <p:spPr>
          <a:xfrm>
            <a:off x="11072241" y="5257877"/>
            <a:ext cx="1015763" cy="1019553"/>
          </a:xfrm>
          <a:prstGeom prst="rect">
            <a:avLst/>
          </a:prstGeom>
        </p:spPr>
      </p:pic>
      <p:sp>
        <p:nvSpPr>
          <p:cNvPr id="2" name="Title 1"/>
          <p:cNvSpPr>
            <a:spLocks noGrp="1"/>
          </p:cNvSpPr>
          <p:nvPr>
            <p:ph type="title"/>
          </p:nvPr>
        </p:nvSpPr>
        <p:spPr>
          <a:xfrm>
            <a:off x="581194" y="3043912"/>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none" baseline="0">
                <a:solidFill>
                  <a:schemeClr val="accent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zh-CN" altLang="en-US" dirty="0"/>
              <a:t>单击此处编辑母版文本样式</a:t>
            </a:r>
          </a:p>
        </p:txBody>
      </p:sp>
      <p:sp>
        <p:nvSpPr>
          <p:cNvPr id="10" name="Date Placeholder 4">
            <a:extLst>
              <a:ext uri="{FF2B5EF4-FFF2-40B4-BE49-F238E27FC236}">
                <a16:creationId xmlns:a16="http://schemas.microsoft.com/office/drawing/2014/main" id="{A0E62274-98AF-2241-9A77-674A409D7235}"/>
              </a:ext>
            </a:extLst>
          </p:cNvPr>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2025/12/10</a:t>
            </a:fld>
            <a:endParaRPr kumimoji="1" lang="zh-CN" altLang="en-US" dirty="0"/>
          </a:p>
        </p:txBody>
      </p:sp>
      <p:sp>
        <p:nvSpPr>
          <p:cNvPr id="11" name="Footer Placeholder 5">
            <a:extLst>
              <a:ext uri="{FF2B5EF4-FFF2-40B4-BE49-F238E27FC236}">
                <a16:creationId xmlns:a16="http://schemas.microsoft.com/office/drawing/2014/main" id="{CEBDF014-FCAB-094A-9CD9-F9DA807CDF98}"/>
              </a:ext>
            </a:extLst>
          </p:cNvPr>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kumimoji="1" lang="zh-CN" altLang="en-US"/>
          </a:p>
        </p:txBody>
      </p:sp>
      <p:sp>
        <p:nvSpPr>
          <p:cNvPr id="12" name="Slide Number Placeholder 6">
            <a:extLst>
              <a:ext uri="{FF2B5EF4-FFF2-40B4-BE49-F238E27FC236}">
                <a16:creationId xmlns:a16="http://schemas.microsoft.com/office/drawing/2014/main" id="{6A392C9B-44C0-6644-BD6C-E143FA2F8C1D}"/>
              </a:ext>
            </a:extLst>
          </p:cNvPr>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extLst>
      <p:ext uri="{BB962C8B-B14F-4D97-AF65-F5344CB8AC3E}">
        <p14:creationId xmlns:p14="http://schemas.microsoft.com/office/powerpoint/2010/main" val="2282667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66943B4F-7DD9-1B4F-B557-A91CFB8F74EC}"/>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Tree>
    <p:extLst>
      <p:ext uri="{BB962C8B-B14F-4D97-AF65-F5344CB8AC3E}">
        <p14:creationId xmlns:p14="http://schemas.microsoft.com/office/powerpoint/2010/main" val="401461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9CB22468-F02A-F448-8B18-5B7757B695E7}"/>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Tree>
    <p:extLst>
      <p:ext uri="{BB962C8B-B14F-4D97-AF65-F5344CB8AC3E}">
        <p14:creationId xmlns:p14="http://schemas.microsoft.com/office/powerpoint/2010/main" val="3206004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7B770DA6-1AF1-C940-AA73-A65453BE0367}"/>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Tree>
    <p:extLst>
      <p:ext uri="{BB962C8B-B14F-4D97-AF65-F5344CB8AC3E}">
        <p14:creationId xmlns:p14="http://schemas.microsoft.com/office/powerpoint/2010/main" val="285752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5" name="Rectangle 6">
            <a:extLst>
              <a:ext uri="{FF2B5EF4-FFF2-40B4-BE49-F238E27FC236}">
                <a16:creationId xmlns:a16="http://schemas.microsoft.com/office/drawing/2014/main" id="{31DAF1E9-59CF-2D42-8740-6D200FC4192A}"/>
              </a:ext>
            </a:extLst>
          </p:cNvPr>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8948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01B2277-AA70-E141-BC48-4D053E71C76E}"/>
              </a:ext>
            </a:extLst>
          </p:cNvPr>
          <p:cNvSpPr>
            <a:spLocks noChangeAspect="1"/>
          </p:cNvSpPr>
          <p:nvPr userDrawn="1"/>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cap="none" baseline="0">
                <a:solidFill>
                  <a:schemeClr val="bg1"/>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5" y="5262298"/>
            <a:ext cx="4709928" cy="689515"/>
          </a:xfrm>
        </p:spPr>
        <p:txBody>
          <a:bodyPr anchor="ctr">
            <a:normAutofit/>
          </a:bodyPr>
          <a:lstStyle>
            <a:lvl1pPr marL="0" indent="0" algn="r">
              <a:buNone/>
              <a:defRPr sz="16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2025/12/10</a:t>
            </a:fld>
            <a:endParaRPr kumimoji="1" lang="zh-CN" alt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zh-CN" altLang="en-US"/>
          </a:p>
        </p:txBody>
      </p:sp>
      <p:pic>
        <p:nvPicPr>
          <p:cNvPr id="10" name="图片 9">
            <a:extLst>
              <a:ext uri="{FF2B5EF4-FFF2-40B4-BE49-F238E27FC236}">
                <a16:creationId xmlns:a16="http://schemas.microsoft.com/office/drawing/2014/main" id="{5B735133-AAF8-B043-8177-73831FB4A04D}"/>
              </a:ext>
            </a:extLst>
          </p:cNvPr>
          <p:cNvPicPr>
            <a:picLocks noChangeAspect="1"/>
          </p:cNvPicPr>
          <p:nvPr userDrawn="1"/>
        </p:nvPicPr>
        <p:blipFill>
          <a:blip r:embed="rId2"/>
          <a:stretch>
            <a:fillRect/>
          </a:stretch>
        </p:blipFill>
        <p:spPr>
          <a:xfrm>
            <a:off x="11072241" y="5257877"/>
            <a:ext cx="1015763" cy="1019553"/>
          </a:xfrm>
          <a:prstGeom prst="rect">
            <a:avLst/>
          </a:prstGeom>
        </p:spPr>
      </p:pic>
      <p:sp>
        <p:nvSpPr>
          <p:cNvPr id="7"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extLst>
      <p:ext uri="{BB962C8B-B14F-4D97-AF65-F5344CB8AC3E}">
        <p14:creationId xmlns:p14="http://schemas.microsoft.com/office/powerpoint/2010/main" val="70207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cap="none" baseline="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8" name="Rectangle 6">
            <a:extLst>
              <a:ext uri="{FF2B5EF4-FFF2-40B4-BE49-F238E27FC236}">
                <a16:creationId xmlns:a16="http://schemas.microsoft.com/office/drawing/2014/main" id="{652075E8-AF1D-904C-94C1-FC4415AEDE22}"/>
              </a:ext>
            </a:extLst>
          </p:cNvPr>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79797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2025/12/10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613FAC5A-AE07-2149-BE0E-FF68E2AACCF1}"/>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Tree>
    <p:extLst>
      <p:ext uri="{BB962C8B-B14F-4D97-AF65-F5344CB8AC3E}">
        <p14:creationId xmlns:p14="http://schemas.microsoft.com/office/powerpoint/2010/main" val="422769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a:spLocks noChangeAspect="1"/>
          </p:cNvSpPr>
          <p:nvPr/>
        </p:nvSpPr>
        <p:spPr>
          <a:xfrm>
            <a:off x="8839202" y="0"/>
            <a:ext cx="335279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993673" y="675728"/>
            <a:ext cx="2089963" cy="5183073"/>
          </a:xfrm>
          <a:prstGeom prst="rect">
            <a:avLst/>
          </a:prstGeom>
        </p:spPr>
        <p:txBody>
          <a:bodyPr vert="eaVert" anchor="b"/>
          <a:lstStyle>
            <a:lvl1pPr>
              <a:defRPr cap="none" baseline="0"/>
            </a:lvl1p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2025/12/10</a:t>
            </a:fld>
            <a:endParaRPr kumimoji="1" lang="zh-CN" altLang="en-US"/>
          </a:p>
        </p:txBody>
      </p:sp>
      <p:sp>
        <p:nvSpPr>
          <p:cNvPr id="5" name="Footer Placeholder 4"/>
          <p:cNvSpPr>
            <a:spLocks noGrp="1"/>
          </p:cNvSpPr>
          <p:nvPr>
            <p:ph type="ftr" sz="quarter" idx="11"/>
          </p:nvPr>
        </p:nvSpPr>
        <p:spPr>
          <a:xfrm>
            <a:off x="774925" y="5951813"/>
            <a:ext cx="7896279" cy="365125"/>
          </a:xfrm>
        </p:spPr>
        <p:txBody>
          <a:bodyPr/>
          <a:lstStyle/>
          <a:p>
            <a:endParaRPr kumimoji="1" lang="zh-CN" altLang="en-US"/>
          </a:p>
        </p:txBody>
      </p:sp>
      <p:sp>
        <p:nvSpPr>
          <p:cNvPr id="6" name="Slide Number Placeholder 5"/>
          <p:cNvSpPr>
            <a:spLocks noGrp="1"/>
          </p:cNvSpPr>
          <p:nvPr>
            <p:ph type="sldNum" sz="quarter" idx="12"/>
          </p:nvPr>
        </p:nvSpPr>
        <p:spPr>
          <a:xfrm>
            <a:off x="10446616" y="5956139"/>
            <a:ext cx="970459"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pic>
        <p:nvPicPr>
          <p:cNvPr id="10" name="图片 9">
            <a:extLst>
              <a:ext uri="{FF2B5EF4-FFF2-40B4-BE49-F238E27FC236}">
                <a16:creationId xmlns:a16="http://schemas.microsoft.com/office/drawing/2014/main" id="{585B7696-CB4E-1240-9BA7-6A9255852434}"/>
              </a:ext>
            </a:extLst>
          </p:cNvPr>
          <p:cNvPicPr>
            <a:picLocks noChangeAspect="1"/>
          </p:cNvPicPr>
          <p:nvPr userDrawn="1"/>
        </p:nvPicPr>
        <p:blipFill>
          <a:blip r:embed="rId2"/>
          <a:stretch>
            <a:fillRect/>
          </a:stretch>
        </p:blipFill>
        <p:spPr>
          <a:xfrm>
            <a:off x="11083637" y="92600"/>
            <a:ext cx="1015763" cy="1019553"/>
          </a:xfrm>
          <a:prstGeom prst="rect">
            <a:avLst/>
          </a:prstGeom>
        </p:spPr>
      </p:pic>
    </p:spTree>
    <p:extLst>
      <p:ext uri="{BB962C8B-B14F-4D97-AF65-F5344CB8AC3E}">
        <p14:creationId xmlns:p14="http://schemas.microsoft.com/office/powerpoint/2010/main" val="279494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6">
            <a:extLst>
              <a:ext uri="{FF2B5EF4-FFF2-40B4-BE49-F238E27FC236}">
                <a16:creationId xmlns:a16="http://schemas.microsoft.com/office/drawing/2014/main" id="{D2BB52D3-7EE7-624D-A686-4D1AE1F2C90A}"/>
              </a:ext>
            </a:extLst>
          </p:cNvPr>
          <p:cNvSpPr>
            <a:spLocks noChangeAspect="1"/>
          </p:cNvSpPr>
          <p:nvPr userDrawn="1"/>
        </p:nvSpPr>
        <p:spPr>
          <a:xfrm>
            <a:off x="0" y="0"/>
            <a:ext cx="12192000"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2025/12/10</a:t>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
        <p:nvSpPr>
          <p:cNvPr id="11" name="Rectangle 6">
            <a:extLst>
              <a:ext uri="{FF2B5EF4-FFF2-40B4-BE49-F238E27FC236}">
                <a16:creationId xmlns:a16="http://schemas.microsoft.com/office/drawing/2014/main" id="{27018390-25F4-D64E-878B-24CA2E1122C5}"/>
              </a:ext>
            </a:extLst>
          </p:cNvPr>
          <p:cNvSpPr>
            <a:spLocks noChangeAspect="1"/>
          </p:cNvSpPr>
          <p:nvPr userDrawn="1"/>
        </p:nvSpPr>
        <p:spPr>
          <a:xfrm>
            <a:off x="0" y="6612003"/>
            <a:ext cx="12192000" cy="245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 name="图片 9">
            <a:extLst>
              <a:ext uri="{FF2B5EF4-FFF2-40B4-BE49-F238E27FC236}">
                <a16:creationId xmlns:a16="http://schemas.microsoft.com/office/drawing/2014/main" id="{D4C6A3C0-9B9A-6346-8E2E-CDD5319CED1A}"/>
              </a:ext>
            </a:extLst>
          </p:cNvPr>
          <p:cNvPicPr>
            <a:picLocks noChangeAspect="1"/>
          </p:cNvPicPr>
          <p:nvPr userDrawn="1"/>
        </p:nvPicPr>
        <p:blipFill>
          <a:blip r:embed="rId14"/>
          <a:stretch>
            <a:fillRect/>
          </a:stretch>
        </p:blipFill>
        <p:spPr>
          <a:xfrm>
            <a:off x="11072160" y="87749"/>
            <a:ext cx="1015763" cy="1019553"/>
          </a:xfrm>
          <a:prstGeom prst="rect">
            <a:avLst/>
          </a:prstGeom>
        </p:spPr>
      </p:pic>
      <p:sp>
        <p:nvSpPr>
          <p:cNvPr id="2" name="Title Placeholder 1"/>
          <p:cNvSpPr>
            <a:spLocks noGrp="1"/>
          </p:cNvSpPr>
          <p:nvPr>
            <p:ph type="title"/>
          </p:nvPr>
        </p:nvSpPr>
        <p:spPr>
          <a:xfrm>
            <a:off x="270377" y="87749"/>
            <a:ext cx="10795605" cy="10152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144104772"/>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4" r:id="rId3"/>
    <p:sldLayoutId id="2147483865" r:id="rId4"/>
    <p:sldLayoutId id="2147483866" r:id="rId5"/>
    <p:sldLayoutId id="2147483868" r:id="rId6"/>
    <p:sldLayoutId id="2147483870" r:id="rId7"/>
    <p:sldLayoutId id="2147483871" r:id="rId8"/>
    <p:sldLayoutId id="2147483872" r:id="rId9"/>
    <p:sldLayoutId id="2147483873" r:id="rId10"/>
    <p:sldLayoutId id="2147483874" r:id="rId11"/>
    <p:sldLayoutId id="2147483875" r:id="rId12"/>
  </p:sldLayoutIdLst>
  <p:txStyles>
    <p:titleStyle>
      <a:lvl1pPr algn="l" defTabSz="457189"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5C4A8A-A46B-8D41-8F44-8C17E1B63584}"/>
              </a:ext>
            </a:extLst>
          </p:cNvPr>
          <p:cNvSpPr>
            <a:spLocks noGrp="1"/>
          </p:cNvSpPr>
          <p:nvPr>
            <p:ph type="ctrTitle"/>
          </p:nvPr>
        </p:nvSpPr>
        <p:spPr>
          <a:xfrm>
            <a:off x="599226" y="1731653"/>
            <a:ext cx="10993549" cy="2123126"/>
          </a:xfrm>
        </p:spPr>
        <p:txBody>
          <a:bodyPr/>
          <a:lstStyle/>
          <a:p>
            <a:r>
              <a:rPr lang="zh-CN" altLang="en-US" dirty="0"/>
              <a:t>计算机系统概论</a:t>
            </a:r>
            <a:r>
              <a:rPr lang="en-US" altLang="zh-CN" dirty="0"/>
              <a:t>-</a:t>
            </a:r>
            <a:r>
              <a:rPr lang="zh-CN" altLang="en-US" dirty="0"/>
              <a:t>实验</a:t>
            </a:r>
            <a:r>
              <a:rPr lang="en-US" altLang="zh-CN" dirty="0"/>
              <a:t>3</a:t>
            </a:r>
            <a:br>
              <a:rPr lang="en-US" altLang="zh-CN" dirty="0"/>
            </a:br>
            <a:r>
              <a:rPr lang="zh-CN" altLang="en-US" dirty="0"/>
              <a:t>内存分配</a:t>
            </a:r>
          </a:p>
        </p:txBody>
      </p:sp>
      <p:sp>
        <p:nvSpPr>
          <p:cNvPr id="3" name="副标题 2">
            <a:extLst>
              <a:ext uri="{FF2B5EF4-FFF2-40B4-BE49-F238E27FC236}">
                <a16:creationId xmlns:a16="http://schemas.microsoft.com/office/drawing/2014/main" id="{5B7C49AC-161B-B74A-A7A2-0878EABB0F3A}"/>
              </a:ext>
            </a:extLst>
          </p:cNvPr>
          <p:cNvSpPr>
            <a:spLocks noGrp="1"/>
          </p:cNvSpPr>
          <p:nvPr>
            <p:ph type="subTitle" idx="1"/>
          </p:nvPr>
        </p:nvSpPr>
        <p:spPr>
          <a:xfrm>
            <a:off x="581193" y="4194262"/>
            <a:ext cx="10993547" cy="1340999"/>
          </a:xfrm>
        </p:spPr>
        <p:txBody>
          <a:bodyPr>
            <a:normAutofit/>
          </a:bodyPr>
          <a:lstStyle/>
          <a:p>
            <a:r>
              <a:rPr lang="zh-CN" altLang="en-US" dirty="0"/>
              <a:t>张铭哲</a:t>
            </a:r>
            <a:endParaRPr lang="en-US" altLang="zh-CN" dirty="0"/>
          </a:p>
          <a:p>
            <a:r>
              <a:rPr lang="en-US" altLang="zh-CN" dirty="0"/>
              <a:t>zmz21@mails.tsinghua.edu.cn</a:t>
            </a:r>
          </a:p>
          <a:p>
            <a:r>
              <a:rPr lang="en-US" altLang="zh-CN" dirty="0"/>
              <a:t>2025.11.25</a:t>
            </a:r>
          </a:p>
        </p:txBody>
      </p:sp>
    </p:spTree>
    <p:extLst>
      <p:ext uri="{BB962C8B-B14F-4D97-AF65-F5344CB8AC3E}">
        <p14:creationId xmlns:p14="http://schemas.microsoft.com/office/powerpoint/2010/main" val="1722271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实验说明</a:t>
            </a:r>
          </a:p>
        </p:txBody>
      </p:sp>
      <p:sp>
        <p:nvSpPr>
          <p:cNvPr id="5" name="文本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73616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20000"/>
          </a:bodyPr>
          <a:lstStyle/>
          <a:p>
            <a:r>
              <a:rPr lang="zh-CN" altLang="en-US" dirty="0"/>
              <a:t>从网络学堂获取 </a:t>
            </a:r>
            <a:r>
              <a:rPr lang="en-US" altLang="zh-CN" dirty="0"/>
              <a:t>malloclab-handout.tar </a:t>
            </a:r>
          </a:p>
          <a:p>
            <a:r>
              <a:rPr lang="zh-CN" altLang="en-US" dirty="0"/>
              <a:t>解压缩：</a:t>
            </a:r>
            <a:r>
              <a:rPr lang="en-US" altLang="zh-CN" dirty="0"/>
              <a:t>tar -</a:t>
            </a:r>
            <a:r>
              <a:rPr lang="en-US" altLang="zh-CN" dirty="0" err="1"/>
              <a:t>xvf</a:t>
            </a:r>
            <a:r>
              <a:rPr lang="en-US" altLang="zh-CN" dirty="0"/>
              <a:t> malloclab-handout.tar </a:t>
            </a:r>
          </a:p>
          <a:p>
            <a:r>
              <a:rPr lang="zh-CN" altLang="en-US" b="1" dirty="0"/>
              <a:t>仅需要且仅允许修改 </a:t>
            </a:r>
            <a:r>
              <a:rPr lang="en-US" altLang="zh-CN" b="1" dirty="0" err="1"/>
              <a:t>mm.c</a:t>
            </a:r>
            <a:r>
              <a:rPr lang="en-US" altLang="zh-CN" b="1" dirty="0"/>
              <a:t> </a:t>
            </a:r>
            <a:r>
              <a:rPr lang="zh-CN" altLang="en-US" b="1" dirty="0"/>
              <a:t>文件 </a:t>
            </a:r>
            <a:endParaRPr lang="en-US" altLang="zh-CN" b="1" dirty="0"/>
          </a:p>
          <a:p>
            <a:r>
              <a:rPr lang="zh-CN" altLang="en-US" dirty="0"/>
              <a:t>通过 </a:t>
            </a:r>
            <a:r>
              <a:rPr lang="en-US" altLang="zh-CN" dirty="0" err="1"/>
              <a:t>mdriver</a:t>
            </a:r>
            <a:r>
              <a:rPr lang="en-US" altLang="zh-CN" dirty="0"/>
              <a:t> </a:t>
            </a:r>
            <a:r>
              <a:rPr lang="zh-CN" altLang="en-US" dirty="0"/>
              <a:t>（文件为 </a:t>
            </a:r>
            <a:r>
              <a:rPr lang="en-US" altLang="zh-CN" dirty="0" err="1"/>
              <a:t>mdriver.c</a:t>
            </a:r>
            <a:r>
              <a:rPr lang="zh-CN" altLang="en-US" dirty="0"/>
              <a:t>）进行评测，运行方法：</a:t>
            </a:r>
            <a:endParaRPr lang="en-US" altLang="zh-CN" dirty="0"/>
          </a:p>
          <a:p>
            <a:pPr lvl="1"/>
            <a:r>
              <a:rPr lang="en-US" altLang="zh-CN" dirty="0"/>
              <a:t>make </a:t>
            </a:r>
          </a:p>
          <a:p>
            <a:pPr lvl="1"/>
            <a:r>
              <a:rPr lang="en-US" altLang="zh-CN" dirty="0"/>
              <a:t>./</a:t>
            </a:r>
            <a:r>
              <a:rPr lang="en-US" altLang="zh-CN" dirty="0" err="1"/>
              <a:t>mdriver</a:t>
            </a:r>
            <a:r>
              <a:rPr lang="en-US" altLang="zh-CN" dirty="0"/>
              <a:t> -V</a:t>
            </a:r>
          </a:p>
          <a:p>
            <a:r>
              <a:rPr lang="zh-CN" altLang="en-US" dirty="0"/>
              <a:t>提交：</a:t>
            </a:r>
            <a:endParaRPr lang="en-US" altLang="zh-CN" dirty="0"/>
          </a:p>
          <a:p>
            <a:pPr lvl="1"/>
            <a:r>
              <a:rPr lang="zh-CN" altLang="en-US" dirty="0"/>
              <a:t>在 </a:t>
            </a:r>
            <a:r>
              <a:rPr lang="en-US" altLang="zh-CN" dirty="0" err="1"/>
              <a:t>mm.c</a:t>
            </a:r>
            <a:r>
              <a:rPr lang="en-US" altLang="zh-CN" dirty="0"/>
              <a:t> </a:t>
            </a:r>
            <a:r>
              <a:rPr lang="zh-CN" altLang="en-US" dirty="0"/>
              <a:t>中的 </a:t>
            </a:r>
            <a:r>
              <a:rPr lang="en-US" altLang="zh-CN" dirty="0"/>
              <a:t>Team </a:t>
            </a:r>
            <a:r>
              <a:rPr lang="zh-CN" altLang="en-US" dirty="0"/>
              <a:t>结构体中填写自己的姓名和学号 </a:t>
            </a:r>
            <a:endParaRPr lang="en-US" altLang="zh-CN" dirty="0"/>
          </a:p>
          <a:p>
            <a:pPr lvl="1"/>
            <a:r>
              <a:rPr lang="zh-CN" altLang="en-US" dirty="0"/>
              <a:t>在实验截止日期前将 </a:t>
            </a:r>
            <a:r>
              <a:rPr lang="en-US" altLang="zh-CN" dirty="0" err="1"/>
              <a:t>mm.c</a:t>
            </a:r>
            <a:r>
              <a:rPr lang="en-US" altLang="zh-CN" dirty="0"/>
              <a:t> </a:t>
            </a:r>
            <a:r>
              <a:rPr lang="zh-CN" altLang="en-US" dirty="0"/>
              <a:t>放置到服务器上 </a:t>
            </a:r>
            <a:r>
              <a:rPr lang="en-US" altLang="zh-CN" dirty="0"/>
              <a:t>~/</a:t>
            </a:r>
            <a:r>
              <a:rPr lang="en-US" altLang="zh-CN" dirty="0" err="1"/>
              <a:t>mm.c</a:t>
            </a:r>
            <a:r>
              <a:rPr lang="en-US" altLang="zh-CN" dirty="0"/>
              <a:t> </a:t>
            </a:r>
            <a:r>
              <a:rPr lang="zh-CN" altLang="en-US" dirty="0"/>
              <a:t>路径 </a:t>
            </a:r>
            <a:endParaRPr lang="en-US" altLang="zh-CN" dirty="0"/>
          </a:p>
          <a:p>
            <a:pPr lvl="1"/>
            <a:r>
              <a:rPr lang="zh-CN" altLang="en-US" dirty="0"/>
              <a:t>将实验报告提交至网络学堂，命名为学号</a:t>
            </a:r>
            <a:r>
              <a:rPr lang="en-US" altLang="zh-CN" dirty="0"/>
              <a:t>.pdf</a:t>
            </a:r>
            <a:r>
              <a:rPr lang="zh-CN" altLang="en-US" dirty="0"/>
              <a:t>（如 </a:t>
            </a:r>
            <a:r>
              <a:rPr lang="en-US" altLang="zh-CN" dirty="0"/>
              <a:t>2021000000.pdf</a:t>
            </a:r>
            <a:r>
              <a:rPr lang="zh-CN" altLang="en-US" dirty="0"/>
              <a:t>）</a:t>
            </a:r>
          </a:p>
          <a:p>
            <a:endParaRPr lang="en-US" altLang="zh-CN" dirty="0"/>
          </a:p>
          <a:p>
            <a:pPr marL="0" indent="0">
              <a:buNone/>
            </a:pPr>
            <a:endParaRPr lang="zh-CN" altLang="en-US" dirty="0"/>
          </a:p>
        </p:txBody>
      </p:sp>
      <p:sp>
        <p:nvSpPr>
          <p:cNvPr id="3" name="标题 2"/>
          <p:cNvSpPr>
            <a:spLocks noGrp="1"/>
          </p:cNvSpPr>
          <p:nvPr>
            <p:ph type="title"/>
          </p:nvPr>
        </p:nvSpPr>
        <p:spPr/>
        <p:txBody>
          <a:bodyPr/>
          <a:lstStyle/>
          <a:p>
            <a:r>
              <a:rPr lang="zh-CN" altLang="en-US" dirty="0"/>
              <a:t>实验流程</a:t>
            </a:r>
          </a:p>
        </p:txBody>
      </p:sp>
    </p:spTree>
    <p:extLst>
      <p:ext uri="{BB962C8B-B14F-4D97-AF65-F5344CB8AC3E}">
        <p14:creationId xmlns:p14="http://schemas.microsoft.com/office/powerpoint/2010/main" val="292668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实现动态内存分配器的以下 </a:t>
            </a:r>
            <a:r>
              <a:rPr lang="en-US" altLang="zh-CN" dirty="0"/>
              <a:t>4 </a:t>
            </a:r>
            <a:r>
              <a:rPr lang="zh-CN" altLang="en-US" dirty="0"/>
              <a:t>个函数（声明位于 </a:t>
            </a:r>
            <a:r>
              <a:rPr lang="en-US" altLang="zh-CN" dirty="0" err="1"/>
              <a:t>mm.h</a:t>
            </a:r>
            <a:r>
              <a:rPr lang="zh-CN" altLang="en-US" dirty="0"/>
              <a:t>，定义位于 </a:t>
            </a:r>
            <a:r>
              <a:rPr lang="en-US" altLang="zh-CN" dirty="0" err="1"/>
              <a:t>mm.c</a:t>
            </a:r>
            <a:r>
              <a:rPr lang="zh-CN" altLang="en-US" dirty="0"/>
              <a:t>） </a:t>
            </a:r>
            <a:endParaRPr lang="en-US" altLang="zh-CN" dirty="0"/>
          </a:p>
          <a:p>
            <a:pPr lvl="1"/>
            <a:r>
              <a:rPr lang="en-US" altLang="zh-CN" dirty="0" err="1"/>
              <a:t>int</a:t>
            </a:r>
            <a:r>
              <a:rPr lang="en-US" altLang="zh-CN" dirty="0"/>
              <a:t> </a:t>
            </a:r>
            <a:r>
              <a:rPr lang="en-US" altLang="zh-CN" dirty="0" err="1"/>
              <a:t>mm_init</a:t>
            </a:r>
            <a:r>
              <a:rPr lang="en-US" altLang="zh-CN" dirty="0"/>
              <a:t>(void); </a:t>
            </a:r>
          </a:p>
          <a:p>
            <a:pPr lvl="1"/>
            <a:r>
              <a:rPr lang="en-US" altLang="zh-CN" dirty="0"/>
              <a:t>void *</a:t>
            </a:r>
            <a:r>
              <a:rPr lang="en-US" altLang="zh-CN" dirty="0" err="1"/>
              <a:t>mm_malloc</a:t>
            </a:r>
            <a:r>
              <a:rPr lang="en-US" altLang="zh-CN" dirty="0"/>
              <a:t>(</a:t>
            </a:r>
            <a:r>
              <a:rPr lang="en-US" altLang="zh-CN" dirty="0" err="1"/>
              <a:t>size_t</a:t>
            </a:r>
            <a:r>
              <a:rPr lang="en-US" altLang="zh-CN" dirty="0"/>
              <a:t> size); </a:t>
            </a:r>
          </a:p>
          <a:p>
            <a:pPr lvl="1"/>
            <a:r>
              <a:rPr lang="en-US" altLang="zh-CN" dirty="0"/>
              <a:t>void </a:t>
            </a:r>
            <a:r>
              <a:rPr lang="en-US" altLang="zh-CN" dirty="0" err="1"/>
              <a:t>mm_free</a:t>
            </a:r>
            <a:r>
              <a:rPr lang="en-US" altLang="zh-CN" dirty="0"/>
              <a:t>(void *</a:t>
            </a:r>
            <a:r>
              <a:rPr lang="en-US" altLang="zh-CN" dirty="0" err="1"/>
              <a:t>ptr</a:t>
            </a:r>
            <a:r>
              <a:rPr lang="en-US" altLang="zh-CN" dirty="0"/>
              <a:t>); </a:t>
            </a:r>
          </a:p>
          <a:p>
            <a:pPr lvl="1"/>
            <a:r>
              <a:rPr lang="en-US" altLang="zh-CN" dirty="0"/>
              <a:t>void *</a:t>
            </a:r>
            <a:r>
              <a:rPr lang="en-US" altLang="zh-CN" dirty="0" err="1"/>
              <a:t>mm_realloc</a:t>
            </a:r>
            <a:r>
              <a:rPr lang="en-US" altLang="zh-CN" dirty="0"/>
              <a:t>(void *</a:t>
            </a:r>
            <a:r>
              <a:rPr lang="en-US" altLang="zh-CN" dirty="0" err="1"/>
              <a:t>ptr</a:t>
            </a:r>
            <a:r>
              <a:rPr lang="en-US" altLang="zh-CN" dirty="0"/>
              <a:t>, </a:t>
            </a:r>
            <a:r>
              <a:rPr lang="en-US" altLang="zh-CN" dirty="0" err="1"/>
              <a:t>size_t</a:t>
            </a:r>
            <a:r>
              <a:rPr lang="en-US" altLang="zh-CN" dirty="0"/>
              <a:t> size); </a:t>
            </a:r>
          </a:p>
          <a:p>
            <a:r>
              <a:rPr lang="en-US" altLang="zh-CN" dirty="0" err="1"/>
              <a:t>mm.c</a:t>
            </a:r>
            <a:r>
              <a:rPr lang="en-US" altLang="zh-CN" dirty="0"/>
              <a:t> </a:t>
            </a:r>
            <a:r>
              <a:rPr lang="zh-CN" altLang="en-US" dirty="0"/>
              <a:t>中包含动态内存分配器的最简单的实现，可以跑过一部分测例，大家需要修改相关函数的实现</a:t>
            </a:r>
            <a:endParaRPr lang="en-US" altLang="zh-CN" dirty="0"/>
          </a:p>
          <a:p>
            <a:r>
              <a:rPr lang="zh-CN" altLang="en-US" dirty="0"/>
              <a:t>单人独立完成作业 </a:t>
            </a:r>
            <a:endParaRPr lang="en-US" altLang="zh-CN" dirty="0"/>
          </a:p>
        </p:txBody>
      </p:sp>
      <p:sp>
        <p:nvSpPr>
          <p:cNvPr id="3" name="标题 2"/>
          <p:cNvSpPr>
            <a:spLocks noGrp="1"/>
          </p:cNvSpPr>
          <p:nvPr>
            <p:ph type="title"/>
          </p:nvPr>
        </p:nvSpPr>
        <p:spPr/>
        <p:txBody>
          <a:bodyPr/>
          <a:lstStyle/>
          <a:p>
            <a:r>
              <a:rPr lang="zh-CN" altLang="en-US" dirty="0"/>
              <a:t>实验要求</a:t>
            </a:r>
          </a:p>
        </p:txBody>
      </p:sp>
    </p:spTree>
    <p:extLst>
      <p:ext uri="{BB962C8B-B14F-4D97-AF65-F5344CB8AC3E}">
        <p14:creationId xmlns:p14="http://schemas.microsoft.com/office/powerpoint/2010/main" val="2728601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接口：</a:t>
            </a:r>
            <a:r>
              <a:rPr lang="en-US" altLang="zh-CN" dirty="0" err="1"/>
              <a:t>int</a:t>
            </a:r>
            <a:r>
              <a:rPr lang="en-US" altLang="zh-CN" dirty="0"/>
              <a:t> </a:t>
            </a:r>
            <a:r>
              <a:rPr lang="en-US" altLang="zh-CN" dirty="0" err="1"/>
              <a:t>mm_init</a:t>
            </a:r>
            <a:r>
              <a:rPr lang="en-US" altLang="zh-CN" dirty="0"/>
              <a:t>(void); </a:t>
            </a:r>
          </a:p>
          <a:p>
            <a:r>
              <a:rPr lang="zh-CN" altLang="en-US" dirty="0"/>
              <a:t>在调用 </a:t>
            </a:r>
            <a:r>
              <a:rPr lang="en-US" altLang="zh-CN" dirty="0" err="1"/>
              <a:t>mm_malloc</a:t>
            </a:r>
            <a:r>
              <a:rPr lang="zh-CN" altLang="en-US" dirty="0"/>
              <a:t>、</a:t>
            </a:r>
            <a:r>
              <a:rPr lang="en-US" altLang="zh-CN" dirty="0" err="1"/>
              <a:t>mm_realloc</a:t>
            </a:r>
            <a:r>
              <a:rPr lang="zh-CN" altLang="en-US" dirty="0"/>
              <a:t>、或 </a:t>
            </a:r>
            <a:r>
              <a:rPr lang="en-US" altLang="zh-CN" dirty="0" err="1"/>
              <a:t>mm_free</a:t>
            </a:r>
            <a:r>
              <a:rPr lang="en-US" altLang="zh-CN" dirty="0"/>
              <a:t> </a:t>
            </a:r>
            <a:r>
              <a:rPr lang="zh-CN" altLang="en-US" dirty="0"/>
              <a:t>之前，程序会调用 </a:t>
            </a:r>
            <a:r>
              <a:rPr lang="en-US" altLang="zh-CN" dirty="0" err="1"/>
              <a:t>mm_init</a:t>
            </a:r>
            <a:r>
              <a:rPr lang="en-US" altLang="zh-CN" dirty="0"/>
              <a:t> </a:t>
            </a:r>
            <a:r>
              <a:rPr lang="zh-CN" altLang="en-US" dirty="0"/>
              <a:t>进行所有必要的初始化</a:t>
            </a:r>
            <a:endParaRPr lang="en-US" altLang="zh-CN" dirty="0"/>
          </a:p>
          <a:p>
            <a:r>
              <a:rPr lang="zh-CN" altLang="en-US" dirty="0"/>
              <a:t>如果执行初始化时出现问题返回 </a:t>
            </a:r>
            <a:r>
              <a:rPr lang="en-US" altLang="zh-CN" dirty="0"/>
              <a:t>-1</a:t>
            </a:r>
            <a:r>
              <a:rPr lang="zh-CN" altLang="en-US" dirty="0"/>
              <a:t>，如果正常结束返回 </a:t>
            </a:r>
            <a:r>
              <a:rPr lang="en-US" altLang="zh-CN" dirty="0"/>
              <a:t>0</a:t>
            </a:r>
          </a:p>
          <a:p>
            <a:r>
              <a:rPr lang="en-US" altLang="zh-CN" dirty="0" err="1"/>
              <a:t>mdriver</a:t>
            </a:r>
            <a:r>
              <a:rPr lang="en-US" altLang="zh-CN" dirty="0"/>
              <a:t> </a:t>
            </a:r>
            <a:r>
              <a:rPr lang="zh-CN" altLang="en-US" dirty="0"/>
              <a:t>在每次测试新 </a:t>
            </a:r>
            <a:r>
              <a:rPr lang="en-US" altLang="zh-CN" dirty="0"/>
              <a:t>trace </a:t>
            </a:r>
            <a:r>
              <a:rPr lang="zh-CN" altLang="en-US" dirty="0"/>
              <a:t>前调用该函数进行初始化</a:t>
            </a:r>
            <a:endParaRPr lang="en-US" altLang="zh-CN" dirty="0"/>
          </a:p>
          <a:p>
            <a:r>
              <a:rPr lang="zh-CN" altLang="en-US" dirty="0"/>
              <a:t>不要在此函数中调用 </a:t>
            </a:r>
            <a:r>
              <a:rPr lang="en-US" altLang="zh-CN" dirty="0" err="1"/>
              <a:t>memlib</a:t>
            </a:r>
            <a:r>
              <a:rPr lang="en-US" altLang="zh-CN" dirty="0"/>
              <a:t> </a:t>
            </a:r>
            <a:r>
              <a:rPr lang="zh-CN" altLang="en-US" dirty="0"/>
              <a:t>中的 </a:t>
            </a:r>
            <a:r>
              <a:rPr lang="en-US" altLang="zh-CN" dirty="0" err="1"/>
              <a:t>mem_init</a:t>
            </a:r>
            <a:endParaRPr lang="zh-CN" altLang="en-US" dirty="0"/>
          </a:p>
        </p:txBody>
      </p:sp>
      <p:sp>
        <p:nvSpPr>
          <p:cNvPr id="3" name="标题 2"/>
          <p:cNvSpPr>
            <a:spLocks noGrp="1"/>
          </p:cNvSpPr>
          <p:nvPr>
            <p:ph type="title"/>
          </p:nvPr>
        </p:nvSpPr>
        <p:spPr/>
        <p:txBody>
          <a:bodyPr/>
          <a:lstStyle/>
          <a:p>
            <a:r>
              <a:rPr lang="en-US" altLang="zh-CN" dirty="0" err="1"/>
              <a:t>mm_init</a:t>
            </a:r>
            <a:endParaRPr lang="zh-CN" altLang="en-US" dirty="0"/>
          </a:p>
        </p:txBody>
      </p:sp>
    </p:spTree>
    <p:extLst>
      <p:ext uri="{BB962C8B-B14F-4D97-AF65-F5344CB8AC3E}">
        <p14:creationId xmlns:p14="http://schemas.microsoft.com/office/powerpoint/2010/main" val="258041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接口：</a:t>
            </a:r>
            <a:r>
              <a:rPr lang="en-US" altLang="zh-CN" dirty="0"/>
              <a:t>void *</a:t>
            </a:r>
            <a:r>
              <a:rPr lang="en-US" altLang="zh-CN" dirty="0" err="1"/>
              <a:t>mm_malloc</a:t>
            </a:r>
            <a:r>
              <a:rPr lang="en-US" altLang="zh-CN" dirty="0"/>
              <a:t>(</a:t>
            </a:r>
            <a:r>
              <a:rPr lang="en-US" altLang="zh-CN" dirty="0" err="1"/>
              <a:t>size_t</a:t>
            </a:r>
            <a:r>
              <a:rPr lang="en-US" altLang="zh-CN" dirty="0"/>
              <a:t> size);</a:t>
            </a:r>
          </a:p>
          <a:p>
            <a:r>
              <a:rPr lang="zh-CN" altLang="en-US" dirty="0"/>
              <a:t>返回一个指向至少为 </a:t>
            </a:r>
            <a:r>
              <a:rPr lang="en-US" altLang="zh-CN" dirty="0"/>
              <a:t>size </a:t>
            </a:r>
            <a:r>
              <a:rPr lang="zh-CN" altLang="en-US" dirty="0"/>
              <a:t>字节的连续内存块的指针</a:t>
            </a:r>
            <a:endParaRPr lang="en-US" altLang="zh-CN" dirty="0"/>
          </a:p>
          <a:p>
            <a:r>
              <a:rPr lang="zh-CN" altLang="en-US" dirty="0"/>
              <a:t>分配的内存块应完全位于堆内，且不与任何其他已分配的块重叠</a:t>
            </a:r>
            <a:endParaRPr lang="en-US" altLang="zh-CN" dirty="0"/>
          </a:p>
          <a:p>
            <a:r>
              <a:rPr lang="zh-CN" altLang="en-US" dirty="0"/>
              <a:t>若无法分配，需调用 </a:t>
            </a:r>
            <a:r>
              <a:rPr lang="en-US" altLang="zh-CN" dirty="0"/>
              <a:t>void *</a:t>
            </a:r>
            <a:r>
              <a:rPr lang="en-US" altLang="zh-CN" dirty="0" err="1"/>
              <a:t>mem_sbrk</a:t>
            </a:r>
            <a:r>
              <a:rPr lang="en-US" altLang="zh-CN" dirty="0"/>
              <a:t>(</a:t>
            </a:r>
            <a:r>
              <a:rPr lang="en-US" altLang="zh-CN" dirty="0" err="1"/>
              <a:t>int</a:t>
            </a:r>
            <a:r>
              <a:rPr lang="en-US" altLang="zh-CN" dirty="0"/>
              <a:t> </a:t>
            </a:r>
            <a:r>
              <a:rPr lang="en-US" altLang="zh-CN" dirty="0" err="1"/>
              <a:t>incr</a:t>
            </a:r>
            <a:r>
              <a:rPr lang="en-US" altLang="zh-CN" dirty="0"/>
              <a:t>) </a:t>
            </a:r>
            <a:r>
              <a:rPr lang="zh-CN" altLang="en-US" dirty="0"/>
              <a:t>申请一块新的堆区域</a:t>
            </a:r>
            <a:endParaRPr lang="en-US" altLang="zh-CN" dirty="0"/>
          </a:p>
          <a:p>
            <a:r>
              <a:rPr lang="zh-CN" altLang="en-US" dirty="0"/>
              <a:t>在 </a:t>
            </a:r>
            <a:r>
              <a:rPr lang="en-US" altLang="zh-CN" dirty="0"/>
              <a:t>64 </a:t>
            </a:r>
            <a:r>
              <a:rPr lang="zh-CN" altLang="en-US" dirty="0"/>
              <a:t>位的环境下进行实验，故根据 </a:t>
            </a:r>
            <a:r>
              <a:rPr lang="en-US" altLang="zh-CN" dirty="0"/>
              <a:t>C </a:t>
            </a:r>
            <a:r>
              <a:rPr lang="zh-CN" altLang="en-US" dirty="0"/>
              <a:t>语言标准，应对齐到 </a:t>
            </a:r>
            <a:r>
              <a:rPr lang="en-US" altLang="zh-CN" dirty="0"/>
              <a:t>16 </a:t>
            </a:r>
            <a:r>
              <a:rPr lang="zh-CN" altLang="en-US" dirty="0"/>
              <a:t>字 节。</a:t>
            </a:r>
          </a:p>
        </p:txBody>
      </p:sp>
      <p:sp>
        <p:nvSpPr>
          <p:cNvPr id="3" name="标题 2"/>
          <p:cNvSpPr>
            <a:spLocks noGrp="1"/>
          </p:cNvSpPr>
          <p:nvPr>
            <p:ph type="title"/>
          </p:nvPr>
        </p:nvSpPr>
        <p:spPr/>
        <p:txBody>
          <a:bodyPr/>
          <a:lstStyle/>
          <a:p>
            <a:r>
              <a:rPr lang="en-US" altLang="zh-CN" dirty="0" err="1"/>
              <a:t>mm_malloc</a:t>
            </a:r>
            <a:endParaRPr lang="zh-CN" altLang="en-US" dirty="0"/>
          </a:p>
        </p:txBody>
      </p:sp>
    </p:spTree>
    <p:extLst>
      <p:ext uri="{BB962C8B-B14F-4D97-AF65-F5344CB8AC3E}">
        <p14:creationId xmlns:p14="http://schemas.microsoft.com/office/powerpoint/2010/main" val="1558684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接口：</a:t>
            </a:r>
            <a:r>
              <a:rPr lang="en-US" altLang="zh-CN" dirty="0"/>
              <a:t>void </a:t>
            </a:r>
            <a:r>
              <a:rPr lang="en-US" altLang="zh-CN" dirty="0" err="1"/>
              <a:t>mm_free</a:t>
            </a:r>
            <a:r>
              <a:rPr lang="en-US" altLang="zh-CN" dirty="0"/>
              <a:t>(void *</a:t>
            </a:r>
            <a:r>
              <a:rPr lang="en-US" altLang="zh-CN" dirty="0" err="1"/>
              <a:t>ptr</a:t>
            </a:r>
            <a:r>
              <a:rPr lang="en-US" altLang="zh-CN" dirty="0"/>
              <a:t>);</a:t>
            </a:r>
          </a:p>
          <a:p>
            <a:r>
              <a:rPr lang="zh-CN" altLang="en-US" dirty="0"/>
              <a:t>释放 </a:t>
            </a:r>
            <a:r>
              <a:rPr lang="en-US" altLang="zh-CN" dirty="0" err="1"/>
              <a:t>ptr</a:t>
            </a:r>
            <a:r>
              <a:rPr lang="en-US" altLang="zh-CN" dirty="0"/>
              <a:t> </a:t>
            </a:r>
            <a:r>
              <a:rPr lang="zh-CN" altLang="en-US" dirty="0"/>
              <a:t>指向的内存块，无返回值</a:t>
            </a:r>
            <a:endParaRPr lang="en-US" altLang="zh-CN" dirty="0"/>
          </a:p>
          <a:p>
            <a:r>
              <a:rPr lang="zh-CN" altLang="en-US" dirty="0"/>
              <a:t>若 </a:t>
            </a:r>
            <a:r>
              <a:rPr lang="en-US" altLang="zh-CN" dirty="0" err="1"/>
              <a:t>ptr</a:t>
            </a:r>
            <a:r>
              <a:rPr lang="en-US" altLang="zh-CN" dirty="0"/>
              <a:t> </a:t>
            </a:r>
            <a:r>
              <a:rPr lang="zh-CN" altLang="en-US" dirty="0"/>
              <a:t>为 </a:t>
            </a:r>
            <a:r>
              <a:rPr lang="en-US" altLang="zh-CN" dirty="0"/>
              <a:t>NULL</a:t>
            </a:r>
            <a:r>
              <a:rPr lang="zh-CN" altLang="en-US" dirty="0"/>
              <a:t>，该调用不进行任何操作</a:t>
            </a:r>
            <a:endParaRPr lang="en-US" altLang="zh-CN" dirty="0"/>
          </a:p>
          <a:p>
            <a:r>
              <a:rPr lang="zh-CN" altLang="en-US" dirty="0"/>
              <a:t>保证 </a:t>
            </a:r>
            <a:r>
              <a:rPr lang="en-US" altLang="zh-CN" dirty="0" err="1"/>
              <a:t>ptr</a:t>
            </a:r>
            <a:r>
              <a:rPr lang="en-US" altLang="zh-CN" dirty="0"/>
              <a:t> </a:t>
            </a:r>
            <a:r>
              <a:rPr lang="zh-CN" altLang="en-US" dirty="0"/>
              <a:t>为之前 </a:t>
            </a:r>
            <a:r>
              <a:rPr lang="en-US" altLang="zh-CN" dirty="0" err="1"/>
              <a:t>malloc</a:t>
            </a:r>
            <a:r>
              <a:rPr lang="en-US" altLang="zh-CN" dirty="0"/>
              <a:t> </a:t>
            </a:r>
            <a:r>
              <a:rPr lang="zh-CN" altLang="en-US" dirty="0"/>
              <a:t>或 </a:t>
            </a:r>
            <a:r>
              <a:rPr lang="en-US" altLang="zh-CN" dirty="0" err="1"/>
              <a:t>realloc</a:t>
            </a:r>
            <a:r>
              <a:rPr lang="en-US" altLang="zh-CN" dirty="0"/>
              <a:t> </a:t>
            </a:r>
            <a:r>
              <a:rPr lang="zh-CN" altLang="en-US" dirty="0"/>
              <a:t>返回的指针，且未被释放</a:t>
            </a:r>
          </a:p>
        </p:txBody>
      </p:sp>
      <p:sp>
        <p:nvSpPr>
          <p:cNvPr id="3" name="标题 2"/>
          <p:cNvSpPr>
            <a:spLocks noGrp="1"/>
          </p:cNvSpPr>
          <p:nvPr>
            <p:ph type="title"/>
          </p:nvPr>
        </p:nvSpPr>
        <p:spPr/>
        <p:txBody>
          <a:bodyPr/>
          <a:lstStyle/>
          <a:p>
            <a:r>
              <a:rPr lang="en-US" altLang="zh-CN" dirty="0" err="1"/>
              <a:t>mm_free</a:t>
            </a:r>
            <a:endParaRPr lang="zh-CN" altLang="en-US" dirty="0"/>
          </a:p>
        </p:txBody>
      </p:sp>
    </p:spTree>
    <p:extLst>
      <p:ext uri="{BB962C8B-B14F-4D97-AF65-F5344CB8AC3E}">
        <p14:creationId xmlns:p14="http://schemas.microsoft.com/office/powerpoint/2010/main" val="688726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接口：</a:t>
            </a:r>
            <a:r>
              <a:rPr lang="en-US" altLang="zh-CN" dirty="0"/>
              <a:t>void *</a:t>
            </a:r>
            <a:r>
              <a:rPr lang="en-US" altLang="zh-CN" dirty="0" err="1"/>
              <a:t>mm_realloc</a:t>
            </a:r>
            <a:r>
              <a:rPr lang="en-US" altLang="zh-CN" dirty="0"/>
              <a:t>(void *</a:t>
            </a:r>
            <a:r>
              <a:rPr lang="en-US" altLang="zh-CN" dirty="0" err="1"/>
              <a:t>ptr</a:t>
            </a:r>
            <a:r>
              <a:rPr lang="en-US" altLang="zh-CN" dirty="0"/>
              <a:t>, </a:t>
            </a:r>
            <a:r>
              <a:rPr lang="en-US" altLang="zh-CN" dirty="0" err="1"/>
              <a:t>size_t</a:t>
            </a:r>
            <a:r>
              <a:rPr lang="en-US" altLang="zh-CN" dirty="0"/>
              <a:t> size);</a:t>
            </a:r>
          </a:p>
          <a:p>
            <a:r>
              <a:rPr lang="zh-CN" altLang="en-US" dirty="0"/>
              <a:t>返回一个指向至少为 </a:t>
            </a:r>
            <a:r>
              <a:rPr lang="en-US" altLang="zh-CN" dirty="0"/>
              <a:t>size </a:t>
            </a:r>
            <a:r>
              <a:rPr lang="zh-CN" altLang="en-US" dirty="0"/>
              <a:t>字节的连续内存块的指针，有如下要求： </a:t>
            </a:r>
            <a:endParaRPr lang="en-US" altLang="zh-CN" dirty="0"/>
          </a:p>
          <a:p>
            <a:pPr lvl="1"/>
            <a:r>
              <a:rPr lang="zh-CN" altLang="en-US" dirty="0"/>
              <a:t>如果 </a:t>
            </a:r>
            <a:r>
              <a:rPr lang="en-US" altLang="zh-CN" dirty="0" err="1"/>
              <a:t>ptr</a:t>
            </a:r>
            <a:r>
              <a:rPr lang="en-US" altLang="zh-CN" dirty="0"/>
              <a:t> </a:t>
            </a:r>
            <a:r>
              <a:rPr lang="zh-CN" altLang="en-US" dirty="0"/>
              <a:t>为 </a:t>
            </a:r>
            <a:r>
              <a:rPr lang="en-US" altLang="zh-CN" dirty="0"/>
              <a:t>NULL</a:t>
            </a:r>
            <a:r>
              <a:rPr lang="zh-CN" altLang="en-US" dirty="0"/>
              <a:t>，相当于调用 </a:t>
            </a:r>
            <a:r>
              <a:rPr lang="en-US" altLang="zh-CN" dirty="0" err="1"/>
              <a:t>mm_malloc</a:t>
            </a:r>
            <a:r>
              <a:rPr lang="en-US" altLang="zh-CN" dirty="0"/>
              <a:t>(size)</a:t>
            </a:r>
          </a:p>
          <a:p>
            <a:pPr lvl="1"/>
            <a:r>
              <a:rPr lang="zh-CN" altLang="en-US" dirty="0"/>
              <a:t>如果 </a:t>
            </a:r>
            <a:r>
              <a:rPr lang="en-US" altLang="zh-CN" dirty="0"/>
              <a:t>size </a:t>
            </a:r>
            <a:r>
              <a:rPr lang="zh-CN" altLang="en-US" dirty="0"/>
              <a:t>为 </a:t>
            </a:r>
            <a:r>
              <a:rPr lang="en-US" altLang="zh-CN" dirty="0"/>
              <a:t>0</a:t>
            </a:r>
            <a:r>
              <a:rPr lang="zh-CN" altLang="en-US" dirty="0"/>
              <a:t>，相当于调用 </a:t>
            </a:r>
            <a:r>
              <a:rPr lang="en-US" altLang="zh-CN" dirty="0" err="1"/>
              <a:t>mm_free</a:t>
            </a:r>
            <a:r>
              <a:rPr lang="en-US" altLang="zh-CN" dirty="0"/>
              <a:t>(</a:t>
            </a:r>
            <a:r>
              <a:rPr lang="en-US" altLang="zh-CN" dirty="0" err="1"/>
              <a:t>ptr</a:t>
            </a:r>
            <a:r>
              <a:rPr lang="en-US" altLang="zh-CN" dirty="0"/>
              <a:t>)</a:t>
            </a:r>
          </a:p>
          <a:p>
            <a:pPr lvl="1"/>
            <a:r>
              <a:rPr lang="zh-CN" altLang="en-US" dirty="0"/>
              <a:t>如果 </a:t>
            </a:r>
            <a:r>
              <a:rPr lang="en-US" altLang="zh-CN" dirty="0" err="1"/>
              <a:t>ptr</a:t>
            </a:r>
            <a:r>
              <a:rPr lang="en-US" altLang="zh-CN" dirty="0"/>
              <a:t> </a:t>
            </a:r>
            <a:r>
              <a:rPr lang="zh-CN" altLang="en-US" dirty="0"/>
              <a:t>不为 </a:t>
            </a:r>
            <a:r>
              <a:rPr lang="en-US" altLang="zh-CN" dirty="0"/>
              <a:t>NULL</a:t>
            </a:r>
            <a:r>
              <a:rPr lang="zh-CN" altLang="en-US" dirty="0"/>
              <a:t>，则一定为之前 </a:t>
            </a:r>
            <a:r>
              <a:rPr lang="en-US" altLang="zh-CN" dirty="0" err="1"/>
              <a:t>malloc</a:t>
            </a:r>
            <a:r>
              <a:rPr lang="en-US" altLang="zh-CN" dirty="0"/>
              <a:t> </a:t>
            </a:r>
            <a:r>
              <a:rPr lang="zh-CN" altLang="en-US" dirty="0"/>
              <a:t>或 </a:t>
            </a:r>
            <a:r>
              <a:rPr lang="en-US" altLang="zh-CN" dirty="0" err="1"/>
              <a:t>realloc</a:t>
            </a:r>
            <a:r>
              <a:rPr lang="en-US" altLang="zh-CN" dirty="0"/>
              <a:t> </a:t>
            </a:r>
            <a:r>
              <a:rPr lang="zh-CN" altLang="en-US" dirty="0"/>
              <a:t>返回的指针，且未被释放。该调用将 </a:t>
            </a:r>
            <a:r>
              <a:rPr lang="en-US" altLang="zh-CN" dirty="0" err="1"/>
              <a:t>ptr</a:t>
            </a:r>
            <a:r>
              <a:rPr lang="en-US" altLang="zh-CN" dirty="0"/>
              <a:t> </a:t>
            </a:r>
            <a:r>
              <a:rPr lang="zh-CN" altLang="en-US" dirty="0"/>
              <a:t>指向的内存块（旧块）的大小更改为 </a:t>
            </a:r>
            <a:r>
              <a:rPr lang="en-US" altLang="zh-CN" dirty="0"/>
              <a:t>size </a:t>
            </a:r>
            <a:r>
              <a:rPr lang="zh-CN" altLang="en-US" dirty="0"/>
              <a:t>字节并返回新块的地址。新块的地址可以与旧块相同，也可以不同。 </a:t>
            </a:r>
            <a:endParaRPr lang="en-US" altLang="zh-CN" dirty="0"/>
          </a:p>
          <a:p>
            <a:pPr lvl="1"/>
            <a:r>
              <a:rPr lang="zh-CN" altLang="en-US" dirty="0"/>
              <a:t>新块需复制旧块的内容，大小由新旧两块的较小者决定，例如： </a:t>
            </a:r>
            <a:endParaRPr lang="en-US" altLang="zh-CN" dirty="0"/>
          </a:p>
          <a:p>
            <a:pPr lvl="2"/>
            <a:r>
              <a:rPr lang="zh-CN" altLang="en-US" dirty="0"/>
              <a:t>旧块 </a:t>
            </a:r>
            <a:r>
              <a:rPr lang="en-US" altLang="zh-CN" dirty="0"/>
              <a:t>8 </a:t>
            </a:r>
            <a:r>
              <a:rPr lang="zh-CN" altLang="en-US" dirty="0"/>
              <a:t>字节，新块 </a:t>
            </a:r>
            <a:r>
              <a:rPr lang="en-US" altLang="zh-CN" dirty="0"/>
              <a:t>12 </a:t>
            </a:r>
            <a:r>
              <a:rPr lang="zh-CN" altLang="en-US" dirty="0"/>
              <a:t>字节，则复制前 </a:t>
            </a:r>
            <a:r>
              <a:rPr lang="en-US" altLang="zh-CN" dirty="0"/>
              <a:t>8 </a:t>
            </a:r>
            <a:r>
              <a:rPr lang="zh-CN" altLang="en-US" dirty="0"/>
              <a:t>字节</a:t>
            </a:r>
            <a:endParaRPr lang="en-US" altLang="zh-CN" dirty="0"/>
          </a:p>
          <a:p>
            <a:pPr lvl="2"/>
            <a:r>
              <a:rPr lang="zh-CN" altLang="en-US" dirty="0"/>
              <a:t>旧块 </a:t>
            </a:r>
            <a:r>
              <a:rPr lang="en-US" altLang="zh-CN" dirty="0"/>
              <a:t>8 </a:t>
            </a:r>
            <a:r>
              <a:rPr lang="zh-CN" altLang="en-US" dirty="0"/>
              <a:t>字节，新块 </a:t>
            </a:r>
            <a:r>
              <a:rPr lang="en-US" altLang="zh-CN" dirty="0"/>
              <a:t>4 </a:t>
            </a:r>
            <a:r>
              <a:rPr lang="zh-CN" altLang="en-US" dirty="0"/>
              <a:t>字节，则复制前 </a:t>
            </a:r>
            <a:r>
              <a:rPr lang="en-US" altLang="zh-CN" dirty="0"/>
              <a:t>4 </a:t>
            </a:r>
            <a:r>
              <a:rPr lang="zh-CN" altLang="en-US" dirty="0"/>
              <a:t>字节 </a:t>
            </a:r>
          </a:p>
        </p:txBody>
      </p:sp>
      <p:sp>
        <p:nvSpPr>
          <p:cNvPr id="3" name="标题 2"/>
          <p:cNvSpPr>
            <a:spLocks noGrp="1"/>
          </p:cNvSpPr>
          <p:nvPr>
            <p:ph type="title"/>
          </p:nvPr>
        </p:nvSpPr>
        <p:spPr/>
        <p:txBody>
          <a:bodyPr/>
          <a:lstStyle/>
          <a:p>
            <a:r>
              <a:rPr lang="en-US" altLang="zh-CN" dirty="0" err="1"/>
              <a:t>mm_realloc</a:t>
            </a:r>
            <a:endParaRPr lang="zh-CN" altLang="en-US" dirty="0"/>
          </a:p>
        </p:txBody>
      </p:sp>
    </p:spTree>
    <p:extLst>
      <p:ext uri="{BB962C8B-B14F-4D97-AF65-F5344CB8AC3E}">
        <p14:creationId xmlns:p14="http://schemas.microsoft.com/office/powerpoint/2010/main" val="763636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err="1"/>
              <a:t>memlib.c</a:t>
            </a:r>
            <a:r>
              <a:rPr lang="en-US" altLang="zh-CN" dirty="0"/>
              <a:t> </a:t>
            </a:r>
            <a:r>
              <a:rPr lang="zh-CN" altLang="en-US" dirty="0"/>
              <a:t>包为动态内存分配器模拟内存系统。你可以调用其中的以 下函数： </a:t>
            </a:r>
            <a:endParaRPr lang="en-US" altLang="zh-CN" dirty="0"/>
          </a:p>
          <a:p>
            <a:pPr lvl="1"/>
            <a:r>
              <a:rPr lang="en-US" altLang="zh-CN" dirty="0"/>
              <a:t>void *</a:t>
            </a:r>
            <a:r>
              <a:rPr lang="en-US" altLang="zh-CN" dirty="0" err="1"/>
              <a:t>mem_sbrk</a:t>
            </a:r>
            <a:r>
              <a:rPr lang="en-US" altLang="zh-CN" dirty="0"/>
              <a:t>(</a:t>
            </a:r>
            <a:r>
              <a:rPr lang="en-US" altLang="zh-CN" dirty="0" err="1"/>
              <a:t>int</a:t>
            </a:r>
            <a:r>
              <a:rPr lang="en-US" altLang="zh-CN" dirty="0"/>
              <a:t> </a:t>
            </a:r>
            <a:r>
              <a:rPr lang="en-US" altLang="zh-CN" dirty="0" err="1"/>
              <a:t>incr</a:t>
            </a:r>
            <a:r>
              <a:rPr lang="en-US" altLang="zh-CN" dirty="0"/>
              <a:t>): </a:t>
            </a:r>
            <a:r>
              <a:rPr lang="zh-CN" altLang="en-US" dirty="0"/>
              <a:t>扩展 </a:t>
            </a:r>
            <a:r>
              <a:rPr lang="en-US" altLang="zh-CN" dirty="0" err="1"/>
              <a:t>incr</a:t>
            </a:r>
            <a:r>
              <a:rPr lang="en-US" altLang="zh-CN" dirty="0"/>
              <a:t> </a:t>
            </a:r>
            <a:r>
              <a:rPr lang="zh-CN" altLang="en-US" dirty="0"/>
              <a:t>字节的堆，其中 </a:t>
            </a:r>
            <a:r>
              <a:rPr lang="en-US" altLang="zh-CN" dirty="0" err="1"/>
              <a:t>incr</a:t>
            </a:r>
            <a:r>
              <a:rPr lang="en-US" altLang="zh-CN" dirty="0"/>
              <a:t> </a:t>
            </a:r>
            <a:r>
              <a:rPr lang="zh-CN" altLang="en-US" dirty="0"/>
              <a:t>是一个 正整数。该函数返回一个通用指针，指向新分配的堆的第一个字节。 语义与 </a:t>
            </a:r>
            <a:r>
              <a:rPr lang="en-US" altLang="zh-CN" dirty="0"/>
              <a:t>Unix </a:t>
            </a:r>
            <a:r>
              <a:rPr lang="zh-CN" altLang="en-US" dirty="0"/>
              <a:t>的 </a:t>
            </a:r>
            <a:r>
              <a:rPr lang="en-US" altLang="zh-CN" dirty="0" err="1"/>
              <a:t>sbrk</a:t>
            </a:r>
            <a:r>
              <a:rPr lang="en-US" altLang="zh-CN" dirty="0"/>
              <a:t> </a:t>
            </a:r>
            <a:r>
              <a:rPr lang="zh-CN" altLang="en-US" dirty="0"/>
              <a:t>相同，只是 </a:t>
            </a:r>
            <a:r>
              <a:rPr lang="en-US" altLang="zh-CN" dirty="0" err="1"/>
              <a:t>mem_sbrk</a:t>
            </a:r>
            <a:r>
              <a:rPr lang="en-US" altLang="zh-CN" dirty="0"/>
              <a:t> </a:t>
            </a:r>
            <a:r>
              <a:rPr lang="zh-CN" altLang="en-US" dirty="0"/>
              <a:t>只接受正的参数。 </a:t>
            </a:r>
            <a:endParaRPr lang="en-US" altLang="zh-CN" dirty="0"/>
          </a:p>
          <a:p>
            <a:pPr lvl="1"/>
            <a:r>
              <a:rPr lang="en-US" altLang="zh-CN" dirty="0"/>
              <a:t>void *</a:t>
            </a:r>
            <a:r>
              <a:rPr lang="en-US" altLang="zh-CN" dirty="0" err="1"/>
              <a:t>mem_heap_lo</a:t>
            </a:r>
            <a:r>
              <a:rPr lang="en-US" altLang="zh-CN" dirty="0"/>
              <a:t>(void)</a:t>
            </a:r>
            <a:r>
              <a:rPr lang="zh-CN" altLang="en-US" dirty="0"/>
              <a:t>：返回指向堆中第一个字节的通用指针 </a:t>
            </a:r>
            <a:endParaRPr lang="en-US" altLang="zh-CN" dirty="0"/>
          </a:p>
          <a:p>
            <a:pPr lvl="1"/>
            <a:r>
              <a:rPr lang="en-US" altLang="zh-CN" dirty="0"/>
              <a:t>void *</a:t>
            </a:r>
            <a:r>
              <a:rPr lang="en-US" altLang="zh-CN" dirty="0" err="1"/>
              <a:t>mem_heap_hi</a:t>
            </a:r>
            <a:r>
              <a:rPr lang="en-US" altLang="zh-CN" dirty="0"/>
              <a:t>(void)</a:t>
            </a:r>
            <a:r>
              <a:rPr lang="zh-CN" altLang="en-US" dirty="0"/>
              <a:t>：返回指向堆中最后一个字节的通用指针 </a:t>
            </a:r>
            <a:endParaRPr lang="en-US" altLang="zh-CN" dirty="0"/>
          </a:p>
          <a:p>
            <a:pPr lvl="1"/>
            <a:r>
              <a:rPr lang="en-US" altLang="zh-CN" dirty="0" err="1"/>
              <a:t>size_t</a:t>
            </a:r>
            <a:r>
              <a:rPr lang="en-US" altLang="zh-CN" dirty="0"/>
              <a:t> </a:t>
            </a:r>
            <a:r>
              <a:rPr lang="en-US" altLang="zh-CN" dirty="0" err="1"/>
              <a:t>mem_heapsize</a:t>
            </a:r>
            <a:r>
              <a:rPr lang="en-US" altLang="zh-CN" dirty="0"/>
              <a:t>(void)</a:t>
            </a:r>
            <a:r>
              <a:rPr lang="zh-CN" altLang="en-US" dirty="0"/>
              <a:t>：返回堆的当前大小，单位为字节 </a:t>
            </a:r>
            <a:endParaRPr lang="en-US" altLang="zh-CN" dirty="0"/>
          </a:p>
          <a:p>
            <a:pPr lvl="1"/>
            <a:r>
              <a:rPr lang="en-US" altLang="zh-CN" dirty="0" err="1"/>
              <a:t>size_t</a:t>
            </a:r>
            <a:r>
              <a:rPr lang="en-US" altLang="zh-CN" dirty="0"/>
              <a:t> </a:t>
            </a:r>
            <a:r>
              <a:rPr lang="en-US" altLang="zh-CN" dirty="0" err="1"/>
              <a:t>mem_pagesize</a:t>
            </a:r>
            <a:r>
              <a:rPr lang="en-US" altLang="zh-CN" dirty="0"/>
              <a:t>(void)</a:t>
            </a:r>
            <a:r>
              <a:rPr lang="zh-CN" altLang="en-US" dirty="0"/>
              <a:t>：返回系统的页大小，单位为字节。 </a:t>
            </a:r>
            <a:r>
              <a:rPr lang="en-US" altLang="zh-CN" dirty="0"/>
              <a:t>Linux </a:t>
            </a:r>
            <a:r>
              <a:rPr lang="zh-CN" altLang="en-US" dirty="0"/>
              <a:t>为 </a:t>
            </a:r>
            <a:r>
              <a:rPr lang="en-US" altLang="zh-CN" dirty="0"/>
              <a:t>4K</a:t>
            </a:r>
            <a:r>
              <a:rPr lang="zh-CN" altLang="en-US" dirty="0"/>
              <a:t> </a:t>
            </a:r>
          </a:p>
        </p:txBody>
      </p:sp>
      <p:sp>
        <p:nvSpPr>
          <p:cNvPr id="3" name="标题 2"/>
          <p:cNvSpPr>
            <a:spLocks noGrp="1"/>
          </p:cNvSpPr>
          <p:nvPr>
            <p:ph type="title"/>
          </p:nvPr>
        </p:nvSpPr>
        <p:spPr/>
        <p:txBody>
          <a:bodyPr/>
          <a:lstStyle/>
          <a:p>
            <a:r>
              <a:rPr lang="zh-CN" altLang="en-US" dirty="0"/>
              <a:t>支撑函数</a:t>
            </a:r>
          </a:p>
        </p:txBody>
      </p:sp>
    </p:spTree>
    <p:extLst>
      <p:ext uri="{BB962C8B-B14F-4D97-AF65-F5344CB8AC3E}">
        <p14:creationId xmlns:p14="http://schemas.microsoft.com/office/powerpoint/2010/main" val="4031503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用于测试 </a:t>
            </a:r>
            <a:r>
              <a:rPr lang="en-US" altLang="zh-CN" dirty="0" err="1"/>
              <a:t>mm.c</a:t>
            </a:r>
            <a:r>
              <a:rPr lang="en-US" altLang="zh-CN" dirty="0"/>
              <a:t> </a:t>
            </a:r>
            <a:r>
              <a:rPr lang="zh-CN" altLang="en-US" dirty="0"/>
              <a:t>中各函数的正确性、空间利用率和吞吐量</a:t>
            </a:r>
            <a:endParaRPr lang="en-US" altLang="zh-CN" dirty="0"/>
          </a:p>
          <a:p>
            <a:r>
              <a:rPr lang="zh-CN" altLang="en-US" dirty="0"/>
              <a:t>测试的 </a:t>
            </a:r>
            <a:r>
              <a:rPr lang="en-US" altLang="zh-CN" dirty="0"/>
              <a:t>trace </a:t>
            </a:r>
            <a:r>
              <a:rPr lang="zh-CN" altLang="en-US" dirty="0"/>
              <a:t>位于 </a:t>
            </a:r>
            <a:r>
              <a:rPr lang="en-US" altLang="zh-CN" dirty="0"/>
              <a:t>traces </a:t>
            </a:r>
            <a:r>
              <a:rPr lang="zh-CN" altLang="en-US" dirty="0"/>
              <a:t>文件夹中</a:t>
            </a:r>
            <a:endParaRPr lang="en-US" altLang="zh-CN" dirty="0"/>
          </a:p>
          <a:p>
            <a:r>
              <a:rPr lang="zh-CN" altLang="en-US" dirty="0"/>
              <a:t>使用方式可通过 </a:t>
            </a:r>
            <a:r>
              <a:rPr lang="en-US" altLang="zh-CN" dirty="0"/>
              <a:t>./</a:t>
            </a:r>
            <a:r>
              <a:rPr lang="en-US" altLang="zh-CN" dirty="0" err="1"/>
              <a:t>mdriver</a:t>
            </a:r>
            <a:r>
              <a:rPr lang="en-US" altLang="zh-CN" dirty="0"/>
              <a:t> -h </a:t>
            </a:r>
            <a:r>
              <a:rPr lang="zh-CN" altLang="en-US" dirty="0"/>
              <a:t>查看。其中 </a:t>
            </a:r>
            <a:r>
              <a:rPr lang="en-US" altLang="zh-CN" dirty="0"/>
              <a:t>-V </a:t>
            </a:r>
            <a:r>
              <a:rPr lang="zh-CN" altLang="en-US" dirty="0"/>
              <a:t>可用于定位报错出现的文件，</a:t>
            </a:r>
            <a:r>
              <a:rPr lang="en-US" altLang="zh-CN" dirty="0"/>
              <a:t>-f </a:t>
            </a:r>
            <a:r>
              <a:rPr lang="zh-CN" altLang="en-US" dirty="0"/>
              <a:t>可用于指定 </a:t>
            </a:r>
            <a:r>
              <a:rPr lang="en-US" altLang="zh-CN" dirty="0"/>
              <a:t>trace </a:t>
            </a:r>
            <a:r>
              <a:rPr lang="zh-CN" altLang="en-US" dirty="0"/>
              <a:t>进行测试 </a:t>
            </a:r>
          </a:p>
        </p:txBody>
      </p:sp>
      <p:sp>
        <p:nvSpPr>
          <p:cNvPr id="3" name="标题 2"/>
          <p:cNvSpPr>
            <a:spLocks noGrp="1"/>
          </p:cNvSpPr>
          <p:nvPr>
            <p:ph type="title"/>
          </p:nvPr>
        </p:nvSpPr>
        <p:spPr/>
        <p:txBody>
          <a:bodyPr/>
          <a:lstStyle/>
          <a:p>
            <a:r>
              <a:rPr lang="en-US" altLang="zh-CN" dirty="0"/>
              <a:t>driver</a:t>
            </a:r>
            <a:endParaRPr lang="zh-CN" altLang="en-US" dirty="0"/>
          </a:p>
        </p:txBody>
      </p:sp>
    </p:spTree>
    <p:extLst>
      <p:ext uri="{BB962C8B-B14F-4D97-AF65-F5344CB8AC3E}">
        <p14:creationId xmlns:p14="http://schemas.microsoft.com/office/powerpoint/2010/main" val="1526646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不允许改变 </a:t>
            </a:r>
            <a:r>
              <a:rPr lang="en-US" altLang="zh-CN" dirty="0" err="1"/>
              <a:t>mm.c</a:t>
            </a:r>
            <a:r>
              <a:rPr lang="en-US" altLang="zh-CN" dirty="0"/>
              <a:t> </a:t>
            </a:r>
            <a:r>
              <a:rPr lang="zh-CN" altLang="en-US" dirty="0"/>
              <a:t>的接口函数 </a:t>
            </a:r>
            <a:endParaRPr lang="en-US" altLang="zh-CN" dirty="0"/>
          </a:p>
          <a:p>
            <a:r>
              <a:rPr lang="zh-CN" altLang="en-US" dirty="0"/>
              <a:t>不允许调用系统的库函数 </a:t>
            </a:r>
            <a:endParaRPr lang="en-US" altLang="zh-CN" dirty="0"/>
          </a:p>
          <a:p>
            <a:r>
              <a:rPr lang="zh-CN" altLang="en-US" dirty="0"/>
              <a:t>不允许在 </a:t>
            </a:r>
            <a:r>
              <a:rPr lang="en-US" altLang="zh-CN" dirty="0" err="1"/>
              <a:t>mm.c</a:t>
            </a:r>
            <a:r>
              <a:rPr lang="en-US" altLang="zh-CN" dirty="0"/>
              <a:t> </a:t>
            </a:r>
            <a:r>
              <a:rPr lang="zh-CN" altLang="en-US" dirty="0"/>
              <a:t>程序中定义全局或静态的复合数据结构，如数组、 结构体、树或列表；但是可以在 </a:t>
            </a:r>
            <a:r>
              <a:rPr lang="en-US" altLang="zh-CN" dirty="0" err="1"/>
              <a:t>mm.c</a:t>
            </a:r>
            <a:r>
              <a:rPr lang="en-US" altLang="zh-CN" dirty="0"/>
              <a:t> </a:t>
            </a:r>
            <a:r>
              <a:rPr lang="zh-CN" altLang="en-US" dirty="0"/>
              <a:t>中声明全局标量变量，如整数、 浮点数和指针</a:t>
            </a:r>
            <a:endParaRPr lang="en-US" altLang="zh-CN" dirty="0"/>
          </a:p>
          <a:p>
            <a:r>
              <a:rPr lang="zh-CN" altLang="en-US" dirty="0"/>
              <a:t>返回的内存块应 </a:t>
            </a:r>
            <a:r>
              <a:rPr lang="en-US" altLang="zh-CN" dirty="0"/>
              <a:t>16 </a:t>
            </a:r>
            <a:r>
              <a:rPr lang="zh-CN" altLang="en-US" dirty="0"/>
              <a:t>字节对齐</a:t>
            </a:r>
          </a:p>
        </p:txBody>
      </p:sp>
      <p:sp>
        <p:nvSpPr>
          <p:cNvPr id="3" name="标题 2"/>
          <p:cNvSpPr>
            <a:spLocks noGrp="1"/>
          </p:cNvSpPr>
          <p:nvPr>
            <p:ph type="title"/>
          </p:nvPr>
        </p:nvSpPr>
        <p:spPr/>
        <p:txBody>
          <a:bodyPr/>
          <a:lstStyle/>
          <a:p>
            <a:r>
              <a:rPr lang="zh-CN" altLang="en-US" dirty="0"/>
              <a:t>编程规则</a:t>
            </a:r>
          </a:p>
        </p:txBody>
      </p:sp>
    </p:spTree>
    <p:extLst>
      <p:ext uri="{BB962C8B-B14F-4D97-AF65-F5344CB8AC3E}">
        <p14:creationId xmlns:p14="http://schemas.microsoft.com/office/powerpoint/2010/main" val="1933290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a:t>正确性：</a:t>
            </a:r>
            <a:r>
              <a:rPr lang="en-US" altLang="zh-CN" dirty="0"/>
              <a:t>10 </a:t>
            </a:r>
            <a:r>
              <a:rPr lang="zh-CN" altLang="en-US" dirty="0"/>
              <a:t>分</a:t>
            </a:r>
            <a:endParaRPr lang="en-US" altLang="zh-CN" dirty="0"/>
          </a:p>
          <a:p>
            <a:r>
              <a:rPr lang="zh-CN" altLang="en-US" dirty="0"/>
              <a:t>性能：</a:t>
            </a:r>
            <a:r>
              <a:rPr lang="en-US" altLang="zh-CN" dirty="0"/>
              <a:t>50 </a:t>
            </a:r>
            <a:r>
              <a:rPr lang="zh-CN" altLang="en-US" dirty="0"/>
              <a:t>分 </a:t>
            </a:r>
            <a:endParaRPr lang="en-US" altLang="zh-CN" dirty="0"/>
          </a:p>
          <a:p>
            <a:pPr lvl="1"/>
            <a:r>
              <a:rPr lang="zh-CN" altLang="en-US" dirty="0"/>
              <a:t>空间利用率：程序使用的最大内存量与分配程序使用的堆大小之间的比率，最佳比率为 </a:t>
            </a:r>
            <a:r>
              <a:rPr lang="en-US" altLang="zh-CN" dirty="0"/>
              <a:t>1</a:t>
            </a:r>
          </a:p>
          <a:p>
            <a:pPr lvl="1"/>
            <a:r>
              <a:rPr lang="zh-CN" altLang="en-US" dirty="0"/>
              <a:t>吞吐量：</a:t>
            </a:r>
            <a:r>
              <a:rPr lang="en-US" altLang="zh-CN" dirty="0"/>
              <a:t>Kops (kilo operations per second) </a:t>
            </a:r>
          </a:p>
          <a:p>
            <a:pPr lvl="1"/>
            <a:r>
              <a:rPr lang="zh-CN" altLang="en-US" dirty="0"/>
              <a:t>评分公式：</a:t>
            </a:r>
            <a:endParaRPr lang="en-US" altLang="zh-CN" dirty="0"/>
          </a:p>
          <a:p>
            <a:pPr lvl="2"/>
            <a:r>
              <a:rPr lang="en-US" altLang="zh-CN" dirty="0">
                <a:latin typeface="Consolas" panose="020B0609020204030204" pitchFamily="49" charset="0"/>
              </a:rPr>
              <a:t>P = </a:t>
            </a:r>
            <a:r>
              <a:rPr lang="en-US" altLang="zh-CN" dirty="0" err="1">
                <a:latin typeface="Consolas" panose="020B0609020204030204" pitchFamily="49" charset="0"/>
              </a:rPr>
              <a:t>wU</a:t>
            </a:r>
            <a:r>
              <a:rPr lang="en-US" altLang="zh-CN" dirty="0">
                <a:latin typeface="Consolas" panose="020B0609020204030204" pitchFamily="49" charset="0"/>
              </a:rPr>
              <a:t> + (1 − w) min(1, T/T</a:t>
            </a:r>
            <a:r>
              <a:rPr lang="en-US" altLang="zh-CN" baseline="-25000" dirty="0">
                <a:latin typeface="Consolas" panose="020B0609020204030204" pitchFamily="49" charset="0"/>
              </a:rPr>
              <a:t>libc</a:t>
            </a:r>
            <a:r>
              <a:rPr lang="en-US" altLang="zh-CN" dirty="0">
                <a:latin typeface="Consolas" panose="020B0609020204030204" pitchFamily="49" charset="0"/>
              </a:rPr>
              <a:t> ) </a:t>
            </a:r>
          </a:p>
          <a:p>
            <a:pPr lvl="2"/>
            <a:r>
              <a:rPr lang="en-US" altLang="zh-CN" dirty="0"/>
              <a:t>U </a:t>
            </a:r>
            <a:r>
              <a:rPr lang="zh-CN" altLang="en-US" dirty="0"/>
              <a:t>为空间利用率，</a:t>
            </a:r>
            <a:r>
              <a:rPr lang="en-US" altLang="zh-CN" dirty="0"/>
              <a:t>T </a:t>
            </a:r>
            <a:r>
              <a:rPr lang="zh-CN" altLang="en-US" dirty="0"/>
              <a:t>为吞吐量，</a:t>
            </a:r>
            <a:r>
              <a:rPr lang="en-US" altLang="zh-CN" dirty="0">
                <a:ea typeface="+mj-ea"/>
              </a:rPr>
              <a:t>T</a:t>
            </a:r>
            <a:r>
              <a:rPr lang="en-US" altLang="zh-CN" baseline="-25000" dirty="0">
                <a:ea typeface="+mj-ea"/>
              </a:rPr>
              <a:t>libc</a:t>
            </a:r>
            <a:r>
              <a:rPr lang="en-US" altLang="zh-CN" dirty="0"/>
              <a:t> </a:t>
            </a:r>
            <a:r>
              <a:rPr lang="zh-CN" altLang="en-US" dirty="0"/>
              <a:t>是助教在课程集群上测试的 </a:t>
            </a:r>
            <a:r>
              <a:rPr lang="en-US" altLang="zh-CN" dirty="0" err="1"/>
              <a:t>libc</a:t>
            </a:r>
            <a:r>
              <a:rPr lang="zh-CN" altLang="en-US" dirty="0"/>
              <a:t> </a:t>
            </a:r>
            <a:r>
              <a:rPr lang="en-US" altLang="zh-CN" dirty="0" err="1"/>
              <a:t>malloc</a:t>
            </a:r>
            <a:r>
              <a:rPr lang="en-US" altLang="zh-CN" dirty="0"/>
              <a:t> </a:t>
            </a:r>
            <a:r>
              <a:rPr lang="zh-CN" altLang="en-US" dirty="0"/>
              <a:t>的吞吐量，具体值以 </a:t>
            </a:r>
            <a:r>
              <a:rPr lang="en-US" altLang="zh-CN" dirty="0" err="1"/>
              <a:t>config.h</a:t>
            </a:r>
            <a:r>
              <a:rPr lang="en-US" altLang="zh-CN" dirty="0"/>
              <a:t> </a:t>
            </a:r>
            <a:r>
              <a:rPr lang="zh-CN" altLang="en-US" dirty="0"/>
              <a:t>的 </a:t>
            </a:r>
            <a:r>
              <a:rPr lang="en-US" altLang="zh-CN" dirty="0"/>
              <a:t>AVG_LIBC_THRUPUT </a:t>
            </a:r>
            <a:r>
              <a:rPr lang="zh-CN" altLang="en-US" dirty="0"/>
              <a:t>为准。 </a:t>
            </a:r>
            <a:r>
              <a:rPr lang="en-US" altLang="zh-CN" dirty="0"/>
              <a:t>w = 0.6</a:t>
            </a:r>
            <a:r>
              <a:rPr lang="zh-CN" altLang="en-US" dirty="0"/>
              <a:t>，需要均衡地考虑内存利用率和吞吐量的优化。</a:t>
            </a:r>
            <a:endParaRPr lang="en-US" altLang="zh-CN" dirty="0"/>
          </a:p>
          <a:p>
            <a:r>
              <a:rPr lang="zh-CN" altLang="en-US" dirty="0"/>
              <a:t>代码风格：</a:t>
            </a:r>
            <a:r>
              <a:rPr lang="en-US" altLang="zh-CN" dirty="0"/>
              <a:t>10 </a:t>
            </a:r>
            <a:r>
              <a:rPr lang="zh-CN" altLang="en-US" dirty="0"/>
              <a:t>分</a:t>
            </a:r>
            <a:endParaRPr lang="en-US" altLang="zh-CN" dirty="0"/>
          </a:p>
          <a:p>
            <a:r>
              <a:rPr lang="zh-CN" altLang="en-US" dirty="0"/>
              <a:t>实验报告：</a:t>
            </a:r>
            <a:r>
              <a:rPr lang="en-US" altLang="zh-CN" dirty="0"/>
              <a:t>30 </a:t>
            </a:r>
            <a:r>
              <a:rPr lang="zh-CN" altLang="en-US" dirty="0"/>
              <a:t>分 </a:t>
            </a:r>
          </a:p>
        </p:txBody>
      </p:sp>
      <p:sp>
        <p:nvSpPr>
          <p:cNvPr id="3" name="标题 2"/>
          <p:cNvSpPr>
            <a:spLocks noGrp="1"/>
          </p:cNvSpPr>
          <p:nvPr>
            <p:ph type="title"/>
          </p:nvPr>
        </p:nvSpPr>
        <p:spPr/>
        <p:txBody>
          <a:bodyPr/>
          <a:lstStyle/>
          <a:p>
            <a:r>
              <a:rPr lang="zh-CN" altLang="en-US" dirty="0"/>
              <a:t>评分标准</a:t>
            </a:r>
          </a:p>
        </p:txBody>
      </p:sp>
    </p:spTree>
    <p:extLst>
      <p:ext uri="{BB962C8B-B14F-4D97-AF65-F5344CB8AC3E}">
        <p14:creationId xmlns:p14="http://schemas.microsoft.com/office/powerpoint/2010/main" val="2388572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一些建议</a:t>
            </a:r>
          </a:p>
        </p:txBody>
      </p:sp>
      <p:sp>
        <p:nvSpPr>
          <p:cNvPr id="5" name="文本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75149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利用 </a:t>
            </a:r>
            <a:r>
              <a:rPr lang="en-US" altLang="zh-CN" dirty="0" err="1"/>
              <a:t>mdriver</a:t>
            </a:r>
            <a:r>
              <a:rPr lang="en-US" altLang="zh-CN" dirty="0"/>
              <a:t> -f </a:t>
            </a:r>
            <a:r>
              <a:rPr lang="zh-CN" altLang="en-US" dirty="0"/>
              <a:t>使用小文件简化调试，如 </a:t>
            </a:r>
            <a:r>
              <a:rPr lang="en-US" altLang="zh-CN" dirty="0"/>
              <a:t>traces/short{1,2}-</a:t>
            </a:r>
            <a:r>
              <a:rPr lang="en-US" altLang="zh-CN" dirty="0" err="1"/>
              <a:t>bal.rep</a:t>
            </a:r>
            <a:r>
              <a:rPr lang="en-US" altLang="zh-CN" dirty="0"/>
              <a:t> </a:t>
            </a:r>
          </a:p>
          <a:p>
            <a:r>
              <a:rPr lang="zh-CN" altLang="en-US" dirty="0"/>
              <a:t>利用 </a:t>
            </a:r>
            <a:r>
              <a:rPr lang="en-US" altLang="zh-CN" dirty="0"/>
              <a:t>-v </a:t>
            </a:r>
            <a:r>
              <a:rPr lang="zh-CN" altLang="en-US" dirty="0"/>
              <a:t>和 </a:t>
            </a:r>
            <a:r>
              <a:rPr lang="en-US" altLang="zh-CN" dirty="0"/>
              <a:t>-V </a:t>
            </a:r>
            <a:r>
              <a:rPr lang="zh-CN" altLang="en-US" dirty="0"/>
              <a:t>查看详细输出</a:t>
            </a:r>
            <a:endParaRPr lang="en-US" altLang="zh-CN" dirty="0"/>
          </a:p>
          <a:p>
            <a:r>
              <a:rPr lang="zh-CN" altLang="en-US" dirty="0"/>
              <a:t>前 </a:t>
            </a:r>
            <a:r>
              <a:rPr lang="en-US" altLang="zh-CN" dirty="0"/>
              <a:t>9 </a:t>
            </a:r>
            <a:r>
              <a:rPr lang="zh-CN" altLang="en-US" dirty="0"/>
              <a:t>条 </a:t>
            </a:r>
            <a:r>
              <a:rPr lang="en-US" altLang="zh-CN" dirty="0"/>
              <a:t>trace </a:t>
            </a:r>
            <a:r>
              <a:rPr lang="zh-CN" altLang="en-US" dirty="0"/>
              <a:t>仅包括 </a:t>
            </a:r>
            <a:r>
              <a:rPr lang="en-US" altLang="zh-CN" dirty="0" err="1"/>
              <a:t>malloc</a:t>
            </a:r>
            <a:r>
              <a:rPr lang="en-US" altLang="zh-CN" dirty="0"/>
              <a:t> </a:t>
            </a:r>
            <a:r>
              <a:rPr lang="zh-CN" altLang="en-US" dirty="0"/>
              <a:t>和 </a:t>
            </a:r>
            <a:r>
              <a:rPr lang="en-US" altLang="zh-CN" dirty="0"/>
              <a:t>free</a:t>
            </a:r>
            <a:r>
              <a:rPr lang="zh-CN" altLang="en-US" dirty="0"/>
              <a:t>，后两条包含 </a:t>
            </a:r>
            <a:r>
              <a:rPr lang="en-US" altLang="zh-CN" dirty="0" err="1"/>
              <a:t>malloc</a:t>
            </a:r>
            <a:r>
              <a:rPr lang="en-US" altLang="zh-CN" dirty="0"/>
              <a:t>, free </a:t>
            </a:r>
            <a:r>
              <a:rPr lang="zh-CN" altLang="en-US" dirty="0"/>
              <a:t>和 </a:t>
            </a:r>
            <a:r>
              <a:rPr lang="en-US" altLang="zh-CN" dirty="0" err="1"/>
              <a:t>realloc</a:t>
            </a:r>
            <a:r>
              <a:rPr lang="zh-CN" altLang="en-US" dirty="0"/>
              <a:t>。建议在 </a:t>
            </a:r>
            <a:r>
              <a:rPr lang="en-US" altLang="zh-CN" dirty="0" err="1"/>
              <a:t>malloc</a:t>
            </a:r>
            <a:r>
              <a:rPr lang="en-US" altLang="zh-CN" dirty="0"/>
              <a:t> </a:t>
            </a:r>
            <a:r>
              <a:rPr lang="zh-CN" altLang="en-US" dirty="0"/>
              <a:t>和 </a:t>
            </a:r>
            <a:r>
              <a:rPr lang="en-US" altLang="zh-CN" dirty="0"/>
              <a:t>free </a:t>
            </a:r>
            <a:r>
              <a:rPr lang="zh-CN" altLang="en-US" dirty="0"/>
              <a:t>能够在前 </a:t>
            </a:r>
            <a:r>
              <a:rPr lang="en-US" altLang="zh-CN" dirty="0"/>
              <a:t>9 </a:t>
            </a:r>
            <a:r>
              <a:rPr lang="zh-CN" altLang="en-US" dirty="0"/>
              <a:t>条 </a:t>
            </a:r>
            <a:r>
              <a:rPr lang="en-US" altLang="zh-CN" dirty="0"/>
              <a:t>trace </a:t>
            </a:r>
            <a:r>
              <a:rPr lang="zh-CN" altLang="en-US" dirty="0"/>
              <a:t>上正常工作后再调试 </a:t>
            </a:r>
            <a:r>
              <a:rPr lang="en-US" altLang="zh-CN" dirty="0" err="1"/>
              <a:t>realloc</a:t>
            </a:r>
            <a:endParaRPr lang="en-US" altLang="zh-CN" dirty="0"/>
          </a:p>
        </p:txBody>
      </p:sp>
      <p:sp>
        <p:nvSpPr>
          <p:cNvPr id="3" name="标题 2"/>
          <p:cNvSpPr>
            <a:spLocks noGrp="1"/>
          </p:cNvSpPr>
          <p:nvPr>
            <p:ph type="title"/>
          </p:nvPr>
        </p:nvSpPr>
        <p:spPr/>
        <p:txBody>
          <a:bodyPr/>
          <a:lstStyle/>
          <a:p>
            <a:r>
              <a:rPr lang="zh-CN" altLang="en-US" dirty="0"/>
              <a:t>调试建议</a:t>
            </a:r>
          </a:p>
        </p:txBody>
      </p:sp>
    </p:spTree>
    <p:extLst>
      <p:ext uri="{BB962C8B-B14F-4D97-AF65-F5344CB8AC3E}">
        <p14:creationId xmlns:p14="http://schemas.microsoft.com/office/powerpoint/2010/main" val="2702088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详细了解书中 </a:t>
            </a:r>
            <a:r>
              <a:rPr lang="en-US" altLang="zh-CN" dirty="0" err="1"/>
              <a:t>malloc</a:t>
            </a:r>
            <a:r>
              <a:rPr lang="en-US" altLang="zh-CN" dirty="0"/>
              <a:t> </a:t>
            </a:r>
            <a:r>
              <a:rPr lang="zh-CN" altLang="en-US" dirty="0"/>
              <a:t>实现的每一行代码。该示例实现了一个基于隐式空闲链表的简单分配器 </a:t>
            </a:r>
            <a:endParaRPr lang="en-US" altLang="zh-CN" dirty="0"/>
          </a:p>
          <a:p>
            <a:r>
              <a:rPr lang="zh-CN" altLang="en-US" dirty="0"/>
              <a:t>将指针算术封装在 </a:t>
            </a:r>
            <a:r>
              <a:rPr lang="en-US" altLang="zh-CN" dirty="0"/>
              <a:t>C </a:t>
            </a:r>
            <a:r>
              <a:rPr lang="zh-CN" altLang="en-US" dirty="0"/>
              <a:t>的预处理器宏 </a:t>
            </a:r>
            <a:r>
              <a:rPr lang="en-US" altLang="zh-CN" dirty="0"/>
              <a:t>(#define) </a:t>
            </a:r>
            <a:r>
              <a:rPr lang="zh-CN" altLang="en-US" dirty="0"/>
              <a:t>中，可以显著降低复杂性</a:t>
            </a:r>
            <a:endParaRPr lang="en-US" altLang="zh-CN" dirty="0"/>
          </a:p>
          <a:p>
            <a:r>
              <a:rPr lang="en-US" altLang="zh-CN" dirty="0" err="1"/>
              <a:t>realloc</a:t>
            </a:r>
            <a:r>
              <a:rPr lang="en-US" altLang="zh-CN" dirty="0"/>
              <a:t> </a:t>
            </a:r>
            <a:r>
              <a:rPr lang="zh-CN" altLang="en-US" dirty="0"/>
              <a:t>可以基于 </a:t>
            </a:r>
            <a:r>
              <a:rPr lang="en-US" altLang="zh-CN" dirty="0" err="1"/>
              <a:t>malloc</a:t>
            </a:r>
            <a:r>
              <a:rPr lang="en-US" altLang="zh-CN" dirty="0"/>
              <a:t> </a:t>
            </a:r>
            <a:r>
              <a:rPr lang="zh-CN" altLang="en-US" dirty="0"/>
              <a:t>和 </a:t>
            </a:r>
            <a:r>
              <a:rPr lang="en-US" altLang="zh-CN" dirty="0"/>
              <a:t>free </a:t>
            </a:r>
            <a:r>
              <a:rPr lang="zh-CN" altLang="en-US" dirty="0"/>
              <a:t>实现，但要获得非常好的性能， 需要单独进行设计 </a:t>
            </a:r>
          </a:p>
          <a:p>
            <a:endParaRPr lang="en-US" altLang="zh-CN" dirty="0"/>
          </a:p>
          <a:p>
            <a:endParaRPr lang="zh-CN" altLang="en-US" dirty="0"/>
          </a:p>
        </p:txBody>
      </p:sp>
      <p:sp>
        <p:nvSpPr>
          <p:cNvPr id="3" name="标题 2"/>
          <p:cNvSpPr>
            <a:spLocks noGrp="1"/>
          </p:cNvSpPr>
          <p:nvPr>
            <p:ph type="title"/>
          </p:nvPr>
        </p:nvSpPr>
        <p:spPr/>
        <p:txBody>
          <a:bodyPr/>
          <a:lstStyle/>
          <a:p>
            <a:r>
              <a:rPr lang="zh-CN" altLang="en-US" dirty="0"/>
              <a:t>实现建议</a:t>
            </a:r>
          </a:p>
        </p:txBody>
      </p:sp>
    </p:spTree>
    <p:extLst>
      <p:ext uri="{BB962C8B-B14F-4D97-AF65-F5344CB8AC3E}">
        <p14:creationId xmlns:p14="http://schemas.microsoft.com/office/powerpoint/2010/main" val="381698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大致可以分为隐式空闲链表</a:t>
            </a:r>
            <a:r>
              <a:rPr lang="zh-CN" altLang="en-US" dirty="0"/>
              <a:t>、</a:t>
            </a:r>
            <a:r>
              <a:rPr lang="zh-CN" altLang="zh-CN" dirty="0"/>
              <a:t>显式空闲链表</a:t>
            </a:r>
            <a:r>
              <a:rPr lang="zh-CN" altLang="en-US" dirty="0"/>
              <a:t>以及</a:t>
            </a:r>
            <a:r>
              <a:rPr lang="en-US" altLang="zh-CN" dirty="0"/>
              <a:t>Segregated</a:t>
            </a:r>
            <a:r>
              <a:rPr lang="zh-CN" altLang="zh-CN" dirty="0"/>
              <a:t>支持，即分为多个链表，每个链表所支持的数据块的大小不同（比如第</a:t>
            </a:r>
            <a:r>
              <a:rPr lang="en-US" altLang="zh-CN" dirty="0"/>
              <a:t>n</a:t>
            </a:r>
            <a:r>
              <a:rPr lang="zh-CN" altLang="zh-CN" dirty="0"/>
              <a:t>个链表支持的数据块大小在</a:t>
            </a:r>
            <a:r>
              <a:rPr lang="en-US" altLang="zh-CN" dirty="0"/>
              <a:t>[2</a:t>
            </a:r>
            <a:r>
              <a:rPr lang="en-US" altLang="zh-CN" baseline="30000" dirty="0"/>
              <a:t>n</a:t>
            </a:r>
            <a:r>
              <a:rPr lang="zh-CN" altLang="zh-CN" dirty="0"/>
              <a:t>，</a:t>
            </a:r>
            <a:r>
              <a:rPr lang="en-US" altLang="zh-CN" dirty="0"/>
              <a:t>2</a:t>
            </a:r>
            <a:r>
              <a:rPr lang="en-US" altLang="zh-CN" baseline="30000" dirty="0"/>
              <a:t>n+1</a:t>
            </a:r>
            <a:r>
              <a:rPr lang="zh-CN" altLang="zh-CN" dirty="0"/>
              <a:t>）间）。上述链表建议均为双向链表</a:t>
            </a:r>
          </a:p>
          <a:p>
            <a:r>
              <a:rPr lang="zh-CN" altLang="zh-CN" dirty="0"/>
              <a:t>按照隐式、显式、</a:t>
            </a:r>
            <a:r>
              <a:rPr lang="en-US" altLang="zh-CN" dirty="0"/>
              <a:t>Segregated</a:t>
            </a:r>
            <a:r>
              <a:rPr lang="zh-CN" altLang="zh-CN" dirty="0"/>
              <a:t>显式</a:t>
            </a:r>
            <a:r>
              <a:rPr lang="zh-CN" altLang="en-US" dirty="0"/>
              <a:t>的</a:t>
            </a:r>
            <a:r>
              <a:rPr lang="zh-CN" altLang="zh-CN" dirty="0"/>
              <a:t>顺序，查询的复杂度逐步降低，吞吐率也会越高，这已经为往年的实验评分所证实；一个可能的优化是每个链表中均以大小非降序维护所有空闲块</a:t>
            </a:r>
          </a:p>
          <a:p>
            <a:r>
              <a:rPr lang="zh-CN" altLang="zh-CN" dirty="0"/>
              <a:t>往年有的高分同学是按照隐式、显式、</a:t>
            </a:r>
            <a:r>
              <a:rPr lang="en-US" altLang="zh-CN" dirty="0"/>
              <a:t>Segregated</a:t>
            </a:r>
            <a:r>
              <a:rPr lang="zh-CN" altLang="zh-CN" dirty="0"/>
              <a:t>显式这一顺序递进实现，也有的一步或者二步到位。不管如何，着手时要尽快确定适合自己的方案</a:t>
            </a:r>
          </a:p>
        </p:txBody>
      </p:sp>
      <p:sp>
        <p:nvSpPr>
          <p:cNvPr id="3" name="标题 2"/>
          <p:cNvSpPr>
            <a:spLocks noGrp="1"/>
          </p:cNvSpPr>
          <p:nvPr>
            <p:ph type="title"/>
          </p:nvPr>
        </p:nvSpPr>
        <p:spPr/>
        <p:txBody>
          <a:bodyPr/>
          <a:lstStyle/>
          <a:p>
            <a:r>
              <a:rPr lang="zh-CN" altLang="en-US" dirty="0"/>
              <a:t>数据结构选择</a:t>
            </a:r>
          </a:p>
        </p:txBody>
      </p:sp>
    </p:spTree>
    <p:extLst>
      <p:ext uri="{BB962C8B-B14F-4D97-AF65-F5344CB8AC3E}">
        <p14:creationId xmlns:p14="http://schemas.microsoft.com/office/powerpoint/2010/main" val="4253545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20000"/>
          </a:bodyPr>
          <a:lstStyle/>
          <a:p>
            <a:r>
              <a:rPr lang="zh-CN" altLang="zh-CN" dirty="0"/>
              <a:t>一些可能有用的辅助函数（宏）：</a:t>
            </a:r>
          </a:p>
          <a:p>
            <a:pPr lvl="1"/>
            <a:r>
              <a:rPr lang="en-US" altLang="zh-CN" dirty="0" err="1"/>
              <a:t>find_fit</a:t>
            </a:r>
            <a:r>
              <a:rPr lang="en-US" altLang="zh-CN" dirty="0"/>
              <a:t>(</a:t>
            </a:r>
            <a:r>
              <a:rPr lang="en-US" altLang="zh-CN" dirty="0" err="1"/>
              <a:t>size_t</a:t>
            </a:r>
            <a:r>
              <a:rPr lang="en-US" altLang="zh-CN" dirty="0"/>
              <a:t> size)</a:t>
            </a:r>
            <a:r>
              <a:rPr lang="zh-CN" altLang="zh-CN" dirty="0"/>
              <a:t>： 在空闲链表中按</a:t>
            </a:r>
            <a:r>
              <a:rPr lang="en-US" altLang="zh-CN" dirty="0"/>
              <a:t>size</a:t>
            </a:r>
            <a:r>
              <a:rPr lang="zh-CN" altLang="zh-CN" dirty="0"/>
              <a:t>查找不小于</a:t>
            </a:r>
            <a:r>
              <a:rPr lang="en-US" altLang="zh-CN" dirty="0"/>
              <a:t>size</a:t>
            </a:r>
            <a:r>
              <a:rPr lang="zh-CN" altLang="zh-CN" dirty="0"/>
              <a:t>的空闲块</a:t>
            </a:r>
          </a:p>
          <a:p>
            <a:pPr lvl="1"/>
            <a:r>
              <a:rPr lang="en-US" altLang="zh-CN" dirty="0" err="1"/>
              <a:t>freelist_insert</a:t>
            </a:r>
            <a:r>
              <a:rPr lang="en-US" altLang="zh-CN" dirty="0"/>
              <a:t>(void* p)</a:t>
            </a:r>
            <a:r>
              <a:rPr lang="zh-CN" altLang="zh-CN" dirty="0"/>
              <a:t>：将一个空闲块插入空闲链表</a:t>
            </a:r>
          </a:p>
          <a:p>
            <a:pPr lvl="1"/>
            <a:r>
              <a:rPr lang="en-US" altLang="zh-CN" dirty="0" err="1"/>
              <a:t>freelist_remove</a:t>
            </a:r>
            <a:r>
              <a:rPr lang="en-US" altLang="zh-CN" dirty="0"/>
              <a:t>(void* p)</a:t>
            </a:r>
            <a:r>
              <a:rPr lang="zh-CN" altLang="zh-CN" dirty="0"/>
              <a:t>：将一个空闲块移除出空闲链表</a:t>
            </a:r>
          </a:p>
          <a:p>
            <a:pPr lvl="1"/>
            <a:r>
              <a:rPr lang="en-US" altLang="zh-CN" dirty="0"/>
              <a:t>coalesce(void* p)</a:t>
            </a:r>
            <a:r>
              <a:rPr lang="zh-CN" altLang="zh-CN" dirty="0"/>
              <a:t>：合并该与某空闲块地址上相邻的空闲块，合并后转为一个空闲块</a:t>
            </a:r>
          </a:p>
          <a:p>
            <a:pPr lvl="1"/>
            <a:r>
              <a:rPr lang="en-US" altLang="zh-CN" dirty="0"/>
              <a:t>place(void* p</a:t>
            </a:r>
            <a:r>
              <a:rPr lang="zh-CN" altLang="zh-CN" dirty="0"/>
              <a:t>，</a:t>
            </a:r>
            <a:r>
              <a:rPr lang="en-US" altLang="zh-CN" dirty="0"/>
              <a:t> </a:t>
            </a:r>
            <a:r>
              <a:rPr lang="en-US" altLang="zh-CN" dirty="0" err="1"/>
              <a:t>size_t</a:t>
            </a:r>
            <a:r>
              <a:rPr lang="en-US" altLang="zh-CN" dirty="0"/>
              <a:t> size)</a:t>
            </a:r>
            <a:r>
              <a:rPr lang="zh-CN" altLang="zh-CN" dirty="0"/>
              <a:t>：把空闲块分配给需求</a:t>
            </a:r>
            <a:r>
              <a:rPr lang="en-US" altLang="zh-CN" dirty="0"/>
              <a:t> size</a:t>
            </a:r>
            <a:r>
              <a:rPr lang="zh-CN" altLang="zh-CN" dirty="0"/>
              <a:t>，如果空闲块较大（注意对齐）可以分割出新的空闲块避免内部碎片</a:t>
            </a:r>
          </a:p>
          <a:p>
            <a:pPr lvl="1"/>
            <a:r>
              <a:rPr lang="en-US" altLang="zh-CN" dirty="0" err="1"/>
              <a:t>extend_heap</a:t>
            </a:r>
            <a:r>
              <a:rPr lang="en-US" altLang="zh-CN" dirty="0"/>
              <a:t>(</a:t>
            </a:r>
            <a:r>
              <a:rPr lang="en-US" altLang="zh-CN" dirty="0" err="1"/>
              <a:t>size_t</a:t>
            </a:r>
            <a:r>
              <a:rPr lang="en-US" altLang="zh-CN" dirty="0"/>
              <a:t> size)</a:t>
            </a:r>
            <a:r>
              <a:rPr lang="zh-CN" altLang="zh-CN" dirty="0"/>
              <a:t>： 扩展堆</a:t>
            </a:r>
          </a:p>
          <a:p>
            <a:pPr lvl="1"/>
            <a:r>
              <a:rPr lang="en-US" altLang="zh-CN" dirty="0"/>
              <a:t>{get</a:t>
            </a:r>
            <a:r>
              <a:rPr lang="zh-CN" altLang="zh-CN" dirty="0"/>
              <a:t>，</a:t>
            </a:r>
            <a:r>
              <a:rPr lang="en-US" altLang="zh-CN" dirty="0"/>
              <a:t> put}_</a:t>
            </a:r>
            <a:r>
              <a:rPr lang="en-US" altLang="zh-CN" dirty="0" err="1"/>
              <a:t>ptr</a:t>
            </a:r>
            <a:r>
              <a:rPr lang="zh-CN" altLang="zh-CN" dirty="0"/>
              <a:t>：读</a:t>
            </a:r>
            <a:r>
              <a:rPr lang="en-US" altLang="zh-CN" dirty="0"/>
              <a:t>/</a:t>
            </a:r>
            <a:r>
              <a:rPr lang="zh-CN" altLang="zh-CN" dirty="0"/>
              <a:t>写</a:t>
            </a:r>
            <a:r>
              <a:rPr lang="en-US" altLang="zh-CN" dirty="0"/>
              <a:t>64</a:t>
            </a:r>
            <a:r>
              <a:rPr lang="zh-CN" altLang="zh-CN" dirty="0"/>
              <a:t>位的指针</a:t>
            </a:r>
          </a:p>
          <a:p>
            <a:r>
              <a:rPr lang="zh-CN" altLang="zh-CN" dirty="0"/>
              <a:t>其它还有一些更为基础的对于链表的基本操作，比如转至当前块</a:t>
            </a:r>
            <a:r>
              <a:rPr lang="en-US" altLang="zh-CN" dirty="0"/>
              <a:t>p</a:t>
            </a:r>
            <a:r>
              <a:rPr lang="zh-CN" altLang="zh-CN" dirty="0"/>
              <a:t>的</a:t>
            </a:r>
            <a:r>
              <a:rPr lang="en-US" altLang="zh-CN" dirty="0"/>
              <a:t>header</a:t>
            </a:r>
            <a:r>
              <a:rPr lang="zh-CN" altLang="zh-CN" dirty="0"/>
              <a:t>、块的大小、至上一个块（物理意义）、至下一个块（物理意义）等等</a:t>
            </a:r>
            <a:endParaRPr lang="zh-CN" altLang="en-US" dirty="0"/>
          </a:p>
        </p:txBody>
      </p:sp>
      <p:sp>
        <p:nvSpPr>
          <p:cNvPr id="3" name="标题 2"/>
          <p:cNvSpPr>
            <a:spLocks noGrp="1"/>
          </p:cNvSpPr>
          <p:nvPr>
            <p:ph type="title"/>
          </p:nvPr>
        </p:nvSpPr>
        <p:spPr/>
        <p:txBody>
          <a:bodyPr/>
          <a:lstStyle/>
          <a:p>
            <a:r>
              <a:rPr lang="zh-CN" altLang="zh-CN" dirty="0"/>
              <a:t>辅助函数（宏）</a:t>
            </a:r>
            <a:endParaRPr lang="zh-CN" altLang="en-US" dirty="0"/>
          </a:p>
        </p:txBody>
      </p:sp>
    </p:spTree>
    <p:extLst>
      <p:ext uri="{BB962C8B-B14F-4D97-AF65-F5344CB8AC3E}">
        <p14:creationId xmlns:p14="http://schemas.microsoft.com/office/powerpoint/2010/main" val="414338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pPr lvl="0"/>
            <a:r>
              <a:rPr lang="en-US" altLang="zh-CN" dirty="0"/>
              <a:t>Segregated</a:t>
            </a:r>
            <a:r>
              <a:rPr lang="zh-CN" altLang="zh-CN" dirty="0"/>
              <a:t>显式空闲链表</a:t>
            </a:r>
            <a:r>
              <a:rPr lang="zh-CN" altLang="en-US" dirty="0"/>
              <a:t>可以</a:t>
            </a:r>
            <a:r>
              <a:rPr lang="zh-CN" altLang="zh-CN" dirty="0"/>
              <a:t>使得查找适合大小的自由块更加高效，提高分配和释放操作的速度</a:t>
            </a:r>
          </a:p>
          <a:p>
            <a:pPr lvl="0"/>
            <a:r>
              <a:rPr lang="zh-CN" altLang="zh-CN" dirty="0"/>
              <a:t>在释放内存时及时进行相邻自由块的合并，这有助于减小外部碎片，提高内存利用效率，对于长时间运行的程序和频繁进行内存分配和释放的情况具有良好的性能</a:t>
            </a:r>
          </a:p>
          <a:p>
            <a:pPr lvl="0"/>
            <a:r>
              <a:rPr lang="zh-CN" altLang="zh-CN" dirty="0"/>
              <a:t>完善</a:t>
            </a:r>
            <a:r>
              <a:rPr lang="en-US" altLang="zh-CN" dirty="0"/>
              <a:t> </a:t>
            </a:r>
            <a:r>
              <a:rPr lang="en-US" altLang="zh-CN" dirty="0" err="1"/>
              <a:t>mm_realloc</a:t>
            </a:r>
            <a:r>
              <a:rPr lang="en-US" altLang="zh-CN" dirty="0"/>
              <a:t> </a:t>
            </a:r>
            <a:r>
              <a:rPr lang="zh-CN" altLang="zh-CN" dirty="0"/>
              <a:t>的逻辑，而不是简单的释放再分配</a:t>
            </a:r>
            <a:endParaRPr lang="en-US" altLang="zh-CN" dirty="0"/>
          </a:p>
          <a:p>
            <a:pPr lvl="1"/>
            <a:r>
              <a:rPr lang="zh-CN" altLang="zh-CN" dirty="0"/>
              <a:t>可以尝试将旧块通过与相邻的空闲块合并的方式就地分配新的空间，同时复制原有内容。该方法避免了不必要的重新寻找空闲块甚至开辟新的堆空间，即提高了空间利用率，又提高了运行效率</a:t>
            </a:r>
          </a:p>
          <a:p>
            <a:pPr lvl="0"/>
            <a:r>
              <a:rPr lang="zh-CN" altLang="zh-CN" dirty="0"/>
              <a:t>针对具体测试</a:t>
            </a:r>
            <a:r>
              <a:rPr lang="en-US" altLang="zh-CN" dirty="0"/>
              <a:t>trace</a:t>
            </a:r>
            <a:r>
              <a:rPr lang="zh-CN" altLang="zh-CN" dirty="0"/>
              <a:t>的优化</a:t>
            </a:r>
            <a:endParaRPr lang="en-US" altLang="zh-CN" dirty="0"/>
          </a:p>
          <a:p>
            <a:pPr lvl="1"/>
            <a:r>
              <a:rPr lang="zh-CN" altLang="zh-CN" dirty="0"/>
              <a:t>先观察</a:t>
            </a:r>
            <a:r>
              <a:rPr lang="en-US" altLang="zh-CN" dirty="0"/>
              <a:t>binary-</a:t>
            </a:r>
            <a:r>
              <a:rPr lang="en-US" altLang="zh-CN" dirty="0" err="1"/>
              <a:t>bal</a:t>
            </a:r>
            <a:r>
              <a:rPr lang="zh-CN" altLang="zh-CN" dirty="0"/>
              <a:t>、</a:t>
            </a:r>
            <a:r>
              <a:rPr lang="en-US" altLang="zh-CN" dirty="0"/>
              <a:t>realloc2-bal</a:t>
            </a:r>
            <a:r>
              <a:rPr lang="zh-CN" altLang="zh-CN" dirty="0"/>
              <a:t>等的操作规律，再采取措施，虽然有些</a:t>
            </a:r>
            <a:r>
              <a:rPr lang="en-US" altLang="zh-CN" dirty="0"/>
              <a:t>tricky</a:t>
            </a:r>
            <a:r>
              <a:rPr lang="zh-CN" altLang="zh-CN" dirty="0"/>
              <a:t>，但是是允许的</a:t>
            </a:r>
          </a:p>
          <a:p>
            <a:r>
              <a:rPr lang="zh-CN" altLang="zh-CN" dirty="0"/>
              <a:t>采用二叉搜索树等更高级的空闲链表设计形式，能够进一步提高内存的利用率，同时将适配搜索的时间复杂度降低，获得更好的性能表现</a:t>
            </a:r>
          </a:p>
          <a:p>
            <a:endParaRPr lang="zh-CN" altLang="en-US" dirty="0"/>
          </a:p>
        </p:txBody>
      </p:sp>
      <p:sp>
        <p:nvSpPr>
          <p:cNvPr id="3" name="标题 2"/>
          <p:cNvSpPr>
            <a:spLocks noGrp="1"/>
          </p:cNvSpPr>
          <p:nvPr>
            <p:ph type="title"/>
          </p:nvPr>
        </p:nvSpPr>
        <p:spPr/>
        <p:txBody>
          <a:bodyPr/>
          <a:lstStyle/>
          <a:p>
            <a:r>
              <a:rPr lang="zh-CN" altLang="en-US" dirty="0"/>
              <a:t>性能优化建议</a:t>
            </a:r>
          </a:p>
        </p:txBody>
      </p:sp>
    </p:spTree>
    <p:extLst>
      <p:ext uri="{BB962C8B-B14F-4D97-AF65-F5344CB8AC3E}">
        <p14:creationId xmlns:p14="http://schemas.microsoft.com/office/powerpoint/2010/main" val="3489262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建议大家尽早开始实验</a:t>
            </a:r>
          </a:p>
          <a:p>
            <a:pPr lvl="1"/>
            <a:r>
              <a:rPr lang="en-US" altLang="zh-CN" dirty="0"/>
              <a:t>2</a:t>
            </a:r>
            <a:r>
              <a:rPr lang="zh-CN" altLang="zh-CN" dirty="0"/>
              <a:t>周时间熟悉实验框架，了解实验要求，完成初版符合正确性要求的代码</a:t>
            </a:r>
          </a:p>
          <a:p>
            <a:pPr lvl="1"/>
            <a:r>
              <a:rPr lang="en-US" altLang="zh-CN" dirty="0"/>
              <a:t>2</a:t>
            </a:r>
            <a:r>
              <a:rPr lang="zh-CN" altLang="zh-CN" dirty="0"/>
              <a:t>周的时间尝试，选择和确定最终实现的</a:t>
            </a:r>
            <a:r>
              <a:rPr lang="zh-CN" altLang="en-US" dirty="0"/>
              <a:t>数据结构与</a:t>
            </a:r>
            <a:r>
              <a:rPr lang="zh-CN" altLang="zh-CN" dirty="0"/>
              <a:t>算法</a:t>
            </a:r>
          </a:p>
          <a:p>
            <a:pPr lvl="1"/>
            <a:r>
              <a:rPr lang="en-US" altLang="zh-CN" dirty="0"/>
              <a:t>2</a:t>
            </a:r>
            <a:r>
              <a:rPr lang="zh-CN" altLang="zh-CN" dirty="0"/>
              <a:t>周的时间针对性地进行性能调优，包括常数上的优化以及针对测例或者算法上的优化</a:t>
            </a:r>
          </a:p>
          <a:p>
            <a:endParaRPr lang="zh-CN" altLang="en-US" dirty="0"/>
          </a:p>
        </p:txBody>
      </p:sp>
      <p:sp>
        <p:nvSpPr>
          <p:cNvPr id="3" name="标题 2"/>
          <p:cNvSpPr>
            <a:spLocks noGrp="1"/>
          </p:cNvSpPr>
          <p:nvPr>
            <p:ph type="title"/>
          </p:nvPr>
        </p:nvSpPr>
        <p:spPr/>
        <p:txBody>
          <a:bodyPr/>
          <a:lstStyle/>
          <a:p>
            <a:r>
              <a:rPr lang="zh-CN" altLang="en-US" dirty="0"/>
              <a:t>时间分配</a:t>
            </a:r>
          </a:p>
        </p:txBody>
      </p:sp>
    </p:spTree>
    <p:extLst>
      <p:ext uri="{BB962C8B-B14F-4D97-AF65-F5344CB8AC3E}">
        <p14:creationId xmlns:p14="http://schemas.microsoft.com/office/powerpoint/2010/main" val="3281964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A6FF1-38C6-BF40-AA54-FC2C1268CA34}"/>
              </a:ext>
            </a:extLst>
          </p:cNvPr>
          <p:cNvSpPr>
            <a:spLocks noGrp="1"/>
          </p:cNvSpPr>
          <p:nvPr>
            <p:ph type="ctrTitle"/>
          </p:nvPr>
        </p:nvSpPr>
        <p:spPr/>
        <p:txBody>
          <a:bodyPr/>
          <a:lstStyle/>
          <a:p>
            <a:r>
              <a:rPr kumimoji="1" lang="en-US" altLang="zh-CN" dirty="0"/>
              <a:t>Q&amp;A</a:t>
            </a:r>
            <a:endParaRPr kumimoji="1" lang="zh-CN" altLang="en-US" dirty="0"/>
          </a:p>
        </p:txBody>
      </p:sp>
      <p:sp>
        <p:nvSpPr>
          <p:cNvPr id="3" name="副标题 2">
            <a:extLst>
              <a:ext uri="{FF2B5EF4-FFF2-40B4-BE49-F238E27FC236}">
                <a16:creationId xmlns:a16="http://schemas.microsoft.com/office/drawing/2014/main" id="{0486DF19-DC1B-514A-8C02-64E0ECCD2C31}"/>
              </a:ext>
            </a:extLst>
          </p:cNvPr>
          <p:cNvSpPr>
            <a:spLocks noGrp="1"/>
          </p:cNvSpPr>
          <p:nvPr>
            <p:ph type="subTitle" idx="1"/>
          </p:nvPr>
        </p:nvSpPr>
        <p:spPr/>
        <p:txBody>
          <a:bodyPr/>
          <a:lstStyle/>
          <a:p>
            <a:endParaRPr kumimoji="1" lang="zh-CN" altLang="en-US" dirty="0"/>
          </a:p>
        </p:txBody>
      </p:sp>
    </p:spTree>
    <p:extLst>
      <p:ext uri="{BB962C8B-B14F-4D97-AF65-F5344CB8AC3E}">
        <p14:creationId xmlns:p14="http://schemas.microsoft.com/office/powerpoint/2010/main" val="2274332550"/>
      </p:ext>
    </p:extLst>
  </p:cSld>
  <p:clrMapOvr>
    <a:masterClrMapping/>
  </p:clrMapOvr>
</p:sld>
</file>

<file path=ppt/theme/theme1.xml><?xml version="1.0" encoding="utf-8"?>
<a:theme xmlns:a="http://schemas.openxmlformats.org/drawingml/2006/main" name="清华简约主题-顶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docProps/app.xml><?xml version="1.0" encoding="utf-8"?>
<Properties xmlns="http://schemas.openxmlformats.org/officeDocument/2006/extended-properties" xmlns:vt="http://schemas.openxmlformats.org/officeDocument/2006/docPropsVTypes">
  <Template/>
  <TotalTime>4597</TotalTime>
  <Words>1801</Words>
  <Application>Microsoft Office PowerPoint</Application>
  <PresentationFormat>宽屏</PresentationFormat>
  <Paragraphs>113</Paragraphs>
  <Slides>20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20</vt:i4>
      </vt:variant>
    </vt:vector>
  </HeadingPairs>
  <TitlesOfParts>
    <vt:vector size="24" baseType="lpstr">
      <vt:lpstr>Consolas</vt:lpstr>
      <vt:lpstr>Gill Sans MT</vt:lpstr>
      <vt:lpstr>Wingdings 2</vt:lpstr>
      <vt:lpstr>清华简约主题-顶边-16:9</vt:lpstr>
      <vt:lpstr>计算机系统概论-实验3 内存分配</vt:lpstr>
      <vt:lpstr>实验说明</vt:lpstr>
      <vt:lpstr>实验流程</vt:lpstr>
      <vt:lpstr>实验要求</vt:lpstr>
      <vt:lpstr>mm_init</vt:lpstr>
      <vt:lpstr>mm_malloc</vt:lpstr>
      <vt:lpstr>mm_free</vt:lpstr>
      <vt:lpstr>mm_realloc</vt:lpstr>
      <vt:lpstr>支撑函数</vt:lpstr>
      <vt:lpstr>driver</vt:lpstr>
      <vt:lpstr>编程规则</vt:lpstr>
      <vt:lpstr>评分标准</vt:lpstr>
      <vt:lpstr>一些建议</vt:lpstr>
      <vt:lpstr>调试建议</vt:lpstr>
      <vt:lpstr>实现建议</vt:lpstr>
      <vt:lpstr>数据结构选择</vt:lpstr>
      <vt:lpstr>辅助函数（宏）</vt:lpstr>
      <vt:lpstr>性能优化建议</vt:lpstr>
      <vt:lpstr>时间分配</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Zhiyuan Zhang</cp:lastModifiedBy>
  <cp:revision>1222</cp:revision>
  <cp:lastPrinted>2020-04-04T02:50:47Z</cp:lastPrinted>
  <dcterms:created xsi:type="dcterms:W3CDTF">2020-01-04T07:43:38Z</dcterms:created>
  <dcterms:modified xsi:type="dcterms:W3CDTF">2025-12-10T14:00:29Z</dcterms:modified>
</cp:coreProperties>
</file>